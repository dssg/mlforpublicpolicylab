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471" r:id="rId3"/>
    <p:sldId id="318" r:id="rId4"/>
    <p:sldId id="323" r:id="rId5"/>
    <p:sldId id="286" r:id="rId6"/>
    <p:sldId id="497" r:id="rId7"/>
    <p:sldId id="287" r:id="rId8"/>
    <p:sldId id="478" r:id="rId9"/>
    <p:sldId id="468" r:id="rId10"/>
    <p:sldId id="498" r:id="rId11"/>
    <p:sldId id="492" r:id="rId12"/>
    <p:sldId id="475" r:id="rId13"/>
    <p:sldId id="453" r:id="rId14"/>
    <p:sldId id="352" r:id="rId15"/>
    <p:sldId id="458" r:id="rId16"/>
    <p:sldId id="484" r:id="rId17"/>
    <p:sldId id="457" r:id="rId18"/>
    <p:sldId id="428" r:id="rId19"/>
    <p:sldId id="455" r:id="rId20"/>
    <p:sldId id="429" r:id="rId21"/>
    <p:sldId id="430" r:id="rId22"/>
    <p:sldId id="460" r:id="rId23"/>
    <p:sldId id="486" r:id="rId24"/>
    <p:sldId id="500" r:id="rId25"/>
    <p:sldId id="483" r:id="rId26"/>
    <p:sldId id="499" r:id="rId27"/>
  </p:sldIdLst>
  <p:sldSz cx="12192000" cy="6858000"/>
  <p:notesSz cx="6858000" cy="9144000"/>
  <p:custDataLst>
    <p:tags r:id="rId2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82"/>
    <p:restoredTop sz="93108"/>
  </p:normalViewPr>
  <p:slideViewPr>
    <p:cSldViewPr snapToGrid="0" snapToObjects="1">
      <p:cViewPr varScale="1">
        <p:scale>
          <a:sx n="86" d="100"/>
          <a:sy n="86" d="100"/>
        </p:scale>
        <p:origin x="23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6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#6" qsCatId="simple" csTypeId="urn:microsoft.com/office/officeart/2005/8/colors/colorful1#6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3600F3-5447-ADE7-964B-5A65DE0AA44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8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2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5.xml"/><Relationship Id="rId11" Type="http://schemas.openxmlformats.org/officeDocument/2006/relationships/image" Target="../media/image4.svg"/><Relationship Id="rId5" Type="http://schemas.openxmlformats.org/officeDocument/2006/relationships/tags" Target="../tags/tag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5.xml"/><Relationship Id="rId9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9.xml"/><Relationship Id="rId7" Type="http://schemas.openxmlformats.org/officeDocument/2006/relationships/image" Target="../media/image5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5.xml"/><Relationship Id="rId11" Type="http://schemas.openxmlformats.org/officeDocument/2006/relationships/image" Target="../media/image4.svg"/><Relationship Id="rId5" Type="http://schemas.openxmlformats.org/officeDocument/2006/relationships/tags" Target="../tags/tag11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10.xml"/><Relationship Id="rId9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648464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Model Selection (and Validation)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Part I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</a:rPr>
              <a:t>Rayid Ghani</a:t>
            </a: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4963021"/>
          </a:xfrm>
        </p:spPr>
        <p:txBody>
          <a:bodyPr/>
          <a:lstStyle/>
          <a:p>
            <a:pPr marL="76200" indent="0">
              <a:buNone/>
            </a:pPr>
            <a:r>
              <a:rPr lang="en-US" b="1" dirty="0"/>
              <a:t>This week:</a:t>
            </a:r>
            <a:endParaRPr lang="en-US" dirty="0"/>
          </a:p>
          <a:p>
            <a:r>
              <a:rPr lang="en-US" dirty="0"/>
              <a:t>Friday: Triage Tech Session</a:t>
            </a:r>
          </a:p>
          <a:p>
            <a:endParaRPr lang="en-US" dirty="0"/>
          </a:p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r>
              <a:rPr lang="en-US" dirty="0"/>
              <a:t>Reading for Tuesday (“cross-validation” strategies)</a:t>
            </a:r>
          </a:p>
          <a:p>
            <a:r>
              <a:rPr lang="en-US" dirty="0"/>
              <a:t>Project check-in </a:t>
            </a:r>
          </a:p>
          <a:p>
            <a:r>
              <a:rPr lang="en-US" dirty="0"/>
              <a:t>First Project Assignment due Monday – posted on Canvas</a:t>
            </a:r>
          </a:p>
        </p:txBody>
      </p:sp>
    </p:spTree>
    <p:extLst>
      <p:ext uri="{BB962C8B-B14F-4D97-AF65-F5344CB8AC3E}">
        <p14:creationId xmlns:p14="http://schemas.microsoft.com/office/powerpoint/2010/main" val="186046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B702-ED77-884E-88F7-92D73313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the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BAD4-F7FB-1D48-9D37-2273592A7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you should be discussing this week within your team</a:t>
            </a:r>
          </a:p>
          <a:p>
            <a:pPr lvl="1"/>
            <a:r>
              <a:rPr lang="en-US" dirty="0"/>
              <a:t>Your analytical formulation and baselines to compare against</a:t>
            </a:r>
          </a:p>
          <a:p>
            <a:pPr lvl="1"/>
            <a:r>
              <a:rPr lang="en-US" dirty="0"/>
              <a:t>Evaluation Metrics</a:t>
            </a:r>
          </a:p>
          <a:p>
            <a:pPr lvl="1"/>
            <a:endParaRPr lang="en-US" dirty="0"/>
          </a:p>
          <a:p>
            <a:r>
              <a:rPr lang="en-US" dirty="0"/>
              <a:t>What you should be building this week</a:t>
            </a:r>
          </a:p>
          <a:p>
            <a:pPr lvl="1"/>
            <a:r>
              <a:rPr lang="en-US" dirty="0"/>
              <a:t>How to operationalize the formulation</a:t>
            </a:r>
          </a:p>
          <a:p>
            <a:pPr lvl="2"/>
            <a:r>
              <a:rPr lang="en-US" dirty="0"/>
              <a:t>Cohort and label logic</a:t>
            </a:r>
          </a:p>
          <a:p>
            <a:pPr lvl="1"/>
            <a:r>
              <a:rPr lang="en-US" dirty="0" err="1"/>
              <a:t>Baserates</a:t>
            </a:r>
            <a:r>
              <a:rPr lang="en-US" dirty="0"/>
              <a:t> and baselines calculations</a:t>
            </a:r>
          </a:p>
          <a:p>
            <a:pPr lvl="1"/>
            <a:r>
              <a:rPr lang="en-US" dirty="0"/>
              <a:t>Learning triage configuration and parameters</a:t>
            </a:r>
          </a:p>
        </p:txBody>
      </p:sp>
    </p:spTree>
    <p:extLst>
      <p:ext uri="{BB962C8B-B14F-4D97-AF65-F5344CB8AC3E}">
        <p14:creationId xmlns:p14="http://schemas.microsoft.com/office/powerpoint/2010/main" val="517800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9553197" y="2534144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4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solve a prediction problem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and Create Rows (unit of prediction)</a:t>
            </a:r>
          </a:p>
          <a:p>
            <a:r>
              <a:rPr lang="en-US" dirty="0"/>
              <a:t>Define and Create Label (outcome/target variable – what event and when?)</a:t>
            </a:r>
          </a:p>
          <a:p>
            <a:r>
              <a:rPr lang="en-US" dirty="0"/>
              <a:t>Define and Create Features (features/predictors)</a:t>
            </a:r>
          </a:p>
          <a:p>
            <a:r>
              <a:rPr lang="en-US" dirty="0"/>
              <a:t>Create Training and Validation/Test Sets</a:t>
            </a:r>
          </a:p>
          <a:p>
            <a:r>
              <a:rPr lang="en-US" dirty="0"/>
              <a:t>Train model(s) on Training Set(s)</a:t>
            </a:r>
          </a:p>
          <a:p>
            <a:r>
              <a:rPr lang="en-US" dirty="0"/>
              <a:t>Validate model(s) on Validation/Test Set(s)</a:t>
            </a:r>
          </a:p>
          <a:p>
            <a:r>
              <a:rPr lang="en-US" dirty="0"/>
              <a:t>Select “best” model</a:t>
            </a:r>
          </a:p>
        </p:txBody>
      </p:sp>
    </p:spTree>
    <p:extLst>
      <p:ext uri="{BB962C8B-B14F-4D97-AF65-F5344CB8AC3E}">
        <p14:creationId xmlns:p14="http://schemas.microsoft.com/office/powerpoint/2010/main" val="1362212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244920-81BC-BC71-07AF-471855A6192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A7C6C-C94D-59FB-6EB5-6DE56B66743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FFFFFF"/>
                </a:solidFill>
              </a:rPr>
              <a:t>what does the best model supposed to be good at?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4EE88-32C3-7B71-F82B-7125190343D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E6282CB-230D-8661-65C1-0768EDD5F74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463F93B7-9478-2532-76B4-8830BAD2009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0A331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42A65F"/>
                </a:solidFill>
              </a:rPr>
              <a:t>Do not edit
</a:t>
            </a:r>
            <a:r>
              <a:rPr lang="en-US" sz="2200">
                <a:solidFill>
                  <a:srgbClr val="42A65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42A65F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533833D-656A-9164-3E9A-60E5492B5C2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606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goal of model selection?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You’ve run a large number of different types of models varying …</a:t>
            </a:r>
          </a:p>
          <a:p>
            <a:endParaRPr lang="en-US" sz="2800" dirty="0"/>
          </a:p>
          <a:p>
            <a:r>
              <a:rPr lang="en-US" sz="2800" dirty="0"/>
              <a:t>You need to understand what types of models are effective under what circumstances, </a:t>
            </a:r>
            <a:r>
              <a:rPr lang="en-US" sz="2800" b="1" dirty="0"/>
              <a:t>and</a:t>
            </a:r>
          </a:p>
          <a:p>
            <a:endParaRPr lang="en-US" sz="2800" b="1" dirty="0"/>
          </a:p>
          <a:p>
            <a:r>
              <a:rPr lang="en-US" sz="2800" dirty="0"/>
              <a:t>You need to decide which one(s) to use in the </a:t>
            </a:r>
            <a:r>
              <a:rPr lang="en-US" sz="2800" b="1" dirty="0"/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42389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C2C959-72F2-EF4D-80DA-F48A29D0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need our selected model to do?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3BAFF-48B6-9046-94F3-CBF50B2F2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C2C959-72F2-EF4D-80DA-F48A29D0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need our selected model to do?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A75FF1-9EFE-0F41-92F5-3E749CFB2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 well</a:t>
            </a:r>
          </a:p>
          <a:p>
            <a:pPr lvl="1"/>
            <a:r>
              <a:rPr lang="en-US" dirty="0"/>
              <a:t>What metric?</a:t>
            </a:r>
          </a:p>
          <a:p>
            <a:pPr lvl="1"/>
            <a:r>
              <a:rPr lang="en-US" dirty="0"/>
              <a:t>Compared to what?</a:t>
            </a:r>
          </a:p>
          <a:p>
            <a:endParaRPr lang="en-US" dirty="0"/>
          </a:p>
          <a:p>
            <a:r>
              <a:rPr lang="en-US" dirty="0"/>
              <a:t>Generalize</a:t>
            </a:r>
          </a:p>
          <a:p>
            <a:pPr lvl="1"/>
            <a:r>
              <a:rPr lang="en-US" dirty="0"/>
              <a:t>To what?</a:t>
            </a:r>
          </a:p>
        </p:txBody>
      </p:sp>
    </p:spTree>
    <p:extLst>
      <p:ext uri="{BB962C8B-B14F-4D97-AF65-F5344CB8AC3E}">
        <p14:creationId xmlns:p14="http://schemas.microsoft.com/office/powerpoint/2010/main" val="411164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98A550-0C11-E9E7-7840-275C48E4C8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F14E4-5F06-193D-FBAA-60B94575562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FFFFFF"/>
                </a:solidFill>
              </a:rPr>
              <a:t>You're working for a non-profit and a vendor is trying to sell you a donation propensity model that is validated to have 98% accuracy. Is this model good enough for your organization to purchase?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03E55-CD25-6789-7759-AD5167174C3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8BE1855-47E3-28DE-C37C-6978C1C7627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0401E05-446C-6510-C850-EB97AB3DFDB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0A331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42A65F"/>
                </a:solidFill>
              </a:rPr>
              <a:t>Do not edit
</a:t>
            </a:r>
            <a:r>
              <a:rPr lang="en-US" sz="2200">
                <a:solidFill>
                  <a:srgbClr val="42A65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42A65F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3FB206-39C7-A9CC-1589-1183FBACDD5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28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30134"/>
            <a:ext cx="11360700" cy="4555200"/>
          </a:xfrm>
        </p:spPr>
        <p:txBody>
          <a:bodyPr/>
          <a:lstStyle/>
          <a:p>
            <a:pPr marL="76200" indent="0">
              <a:buNone/>
            </a:pPr>
            <a:r>
              <a:rPr lang="en-US" sz="2800" b="0" i="0" dirty="0">
                <a:effectLst/>
                <a:latin typeface="Roboto" panose="02000000000000000000" pitchFamily="2" charset="0"/>
              </a:rPr>
              <a:t>You're working for a non-profit and a vendor is trying to sell you a donation propensity model that is validated to have 98% accuracy. Is this model good enough for your organization to purchase?</a:t>
            </a:r>
            <a:endParaRPr lang="en-US" sz="4400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CF60459-98F0-E844-AFCC-DC0705B0478D}"/>
              </a:ext>
            </a:extLst>
          </p:cNvPr>
          <p:cNvSpPr txBox="1">
            <a:spLocks/>
          </p:cNvSpPr>
          <p:nvPr/>
        </p:nvSpPr>
        <p:spPr>
          <a:xfrm>
            <a:off x="3652512" y="3407734"/>
            <a:ext cx="4886875" cy="279457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en-US" sz="4800" dirty="0" err="1"/>
              <a:t>sli.do</a:t>
            </a:r>
            <a:r>
              <a:rPr lang="en-US" sz="4800" dirty="0"/>
              <a:t>      #94889</a:t>
            </a:r>
          </a:p>
          <a:p>
            <a:pPr algn="ctr"/>
            <a:endParaRPr lang="en-US" sz="4800" dirty="0"/>
          </a:p>
          <a:p>
            <a:pPr marL="114300" indent="0" algn="ctr">
              <a:buFont typeface="Arial"/>
              <a:buNone/>
            </a:pPr>
            <a:r>
              <a:rPr lang="en-US" sz="4800" dirty="0" err="1"/>
              <a:t>sli.do</a:t>
            </a:r>
            <a:r>
              <a:rPr lang="en-US" sz="4800" dirty="0"/>
              <a:t>/94889</a:t>
            </a:r>
          </a:p>
        </p:txBody>
      </p:sp>
    </p:spTree>
    <p:extLst>
      <p:ext uri="{BB962C8B-B14F-4D97-AF65-F5344CB8AC3E}">
        <p14:creationId xmlns:p14="http://schemas.microsoft.com/office/powerpoint/2010/main" val="1361958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BBF3-D5BD-464F-B692-6F108049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8555B-304F-C34C-BEDB-C76D96DC6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63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 Distribution on the Test Set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8AB674-EC5F-D94F-B11B-EAD3C207F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333291-06BD-364A-B17D-F91BD4D1B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271" y="1683852"/>
            <a:ext cx="6176805" cy="40846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C1CA36-BA93-4F4F-9808-ABF79474346A}"/>
              </a:ext>
            </a:extLst>
          </p:cNvPr>
          <p:cNvSpPr txBox="1"/>
          <p:nvPr/>
        </p:nvSpPr>
        <p:spPr>
          <a:xfrm>
            <a:off x="5395296" y="5768514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buClrTx/>
            </a:pPr>
            <a:r>
              <a:rPr lang="en-US" sz="18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04E31-34A2-F14A-983F-24BD8F50A74A}"/>
              </a:ext>
            </a:extLst>
          </p:cNvPr>
          <p:cNvSpPr txBox="1"/>
          <p:nvPr/>
        </p:nvSpPr>
        <p:spPr>
          <a:xfrm rot="16200000">
            <a:off x="1959670" y="3217470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buClrTx/>
            </a:pPr>
            <a:r>
              <a:rPr lang="en-US" sz="18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# of people</a:t>
            </a:r>
          </a:p>
        </p:txBody>
      </p:sp>
    </p:spTree>
    <p:extLst>
      <p:ext uri="{BB962C8B-B14F-4D97-AF65-F5344CB8AC3E}">
        <p14:creationId xmlns:p14="http://schemas.microsoft.com/office/powerpoint/2010/main" val="1387665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- Metrics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Predictions are often scores between 0 and 1</a:t>
            </a:r>
          </a:p>
          <a:p>
            <a:r>
              <a:rPr lang="en-US" dirty="0"/>
              <a:t>We need to first turn them into 0 or 1 by selecting a threshold</a:t>
            </a:r>
          </a:p>
          <a:p>
            <a:endParaRPr lang="en-US" dirty="0"/>
          </a:p>
        </p:txBody>
      </p:sp>
      <p:graphicFrame>
        <p:nvGraphicFramePr>
          <p:cNvPr id="5" name="Group 77"/>
          <p:cNvGraphicFramePr>
            <a:graphicFrameLocks noGrp="1"/>
          </p:cNvGraphicFramePr>
          <p:nvPr/>
        </p:nvGraphicFramePr>
        <p:xfrm>
          <a:off x="3014206" y="3687005"/>
          <a:ext cx="5630124" cy="2554470"/>
        </p:xfrm>
        <a:graphic>
          <a:graphicData uri="http://schemas.openxmlformats.org/drawingml/2006/table">
            <a:tbl>
              <a:tblPr/>
              <a:tblGrid>
                <a:gridCol w="794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0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5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Yes</a:t>
                      </a:r>
                      <a:endParaRPr kumimoji="0" lang="en-US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No</a:t>
                      </a:r>
                      <a:endParaRPr kumimoji="0" lang="en-US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Yes</a:t>
                      </a:r>
                      <a:endParaRPr kumimoji="0" lang="en-US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Positives 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Negatives 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No</a:t>
                      </a:r>
                      <a:endParaRPr kumimoji="0" lang="en-US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Positives 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Negatives 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60947" y="3102231"/>
            <a:ext cx="2722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buClrTx/>
            </a:pPr>
            <a:r>
              <a:rPr lang="en-US" sz="3200" kern="120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Predicted </a:t>
            </a:r>
            <a:r>
              <a:rPr lang="en-US" sz="3200" kern="120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Class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1536988" y="4818022"/>
            <a:ext cx="2165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buClrTx/>
            </a:pPr>
            <a:r>
              <a:rPr lang="en-US" sz="3200" kern="120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Actual Class</a:t>
            </a:r>
            <a:endParaRPr lang="en-US" sz="3200" kern="1200" dirty="0">
              <a:solidFill>
                <a:srgbClr val="FF0000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3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</a:t>
            </a:r>
            <a:r>
              <a:rPr lang="mr-IN" dirty="0"/>
              <a:t>–</a:t>
            </a:r>
            <a:r>
              <a:rPr lang="en-US" dirty="0"/>
              <a:t> Metrics (at a threshold k)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Accuracy = </a:t>
            </a:r>
            <a:r>
              <a:rPr lang="en-US" altLang="x-none" b="1" dirty="0">
                <a:latin typeface="Calibri" charset="0"/>
              </a:rPr>
              <a:t>(TP + TN) / (TP + TN + FP + FN)</a:t>
            </a:r>
          </a:p>
          <a:p>
            <a:endParaRPr lang="en-US" altLang="x-none" b="1" dirty="0">
              <a:latin typeface="Calibri" charset="0"/>
            </a:endParaRPr>
          </a:p>
          <a:p>
            <a:r>
              <a:rPr lang="en-US" altLang="x-none" dirty="0">
                <a:latin typeface="Calibri" charset="0"/>
              </a:rPr>
              <a:t>Precision (or PPV) = </a:t>
            </a:r>
            <a:r>
              <a:rPr lang="en-US" altLang="x-none" b="1" dirty="0">
                <a:latin typeface="Calibri" charset="0"/>
              </a:rPr>
              <a:t>TP / (TP + FP)</a:t>
            </a:r>
            <a:br>
              <a:rPr lang="en-US" altLang="x-none" b="1" dirty="0">
                <a:latin typeface="Calibri" charset="0"/>
              </a:rPr>
            </a:br>
            <a:endParaRPr lang="en-US" altLang="x-none" dirty="0">
              <a:latin typeface="Calibri" charset="0"/>
            </a:endParaRPr>
          </a:p>
          <a:p>
            <a:r>
              <a:rPr lang="en-US" altLang="x-none" dirty="0">
                <a:latin typeface="Calibri" charset="0"/>
              </a:rPr>
              <a:t>Recall (or Sensitivity) = </a:t>
            </a:r>
            <a:r>
              <a:rPr lang="en-US" altLang="x-none" b="1" dirty="0">
                <a:latin typeface="Calibri" charset="0"/>
              </a:rPr>
              <a:t>TP /</a:t>
            </a:r>
            <a:r>
              <a:rPr lang="en-US" altLang="x-none" dirty="0">
                <a:latin typeface="Calibri" charset="0"/>
              </a:rPr>
              <a:t> </a:t>
            </a:r>
            <a:r>
              <a:rPr lang="en-US" altLang="x-none" b="1" dirty="0">
                <a:latin typeface="Calibri" charset="0"/>
              </a:rPr>
              <a:t>(TP + FN)</a:t>
            </a:r>
            <a:br>
              <a:rPr lang="en-US" altLang="x-none" b="1" dirty="0">
                <a:latin typeface="Calibri" charset="0"/>
              </a:rPr>
            </a:br>
            <a:endParaRPr lang="en-US" altLang="x-none" dirty="0">
              <a:latin typeface="Calibri" charset="0"/>
            </a:endParaRPr>
          </a:p>
          <a:p>
            <a:r>
              <a:rPr lang="en-US" altLang="x-none" dirty="0">
                <a:latin typeface="Calibri" charset="0"/>
              </a:rPr>
              <a:t>Specificity = TNR</a:t>
            </a:r>
          </a:p>
          <a:p>
            <a:endParaRPr lang="en-US" altLang="x-none" dirty="0">
              <a:latin typeface="Calibri" charset="0"/>
            </a:endParaRPr>
          </a:p>
        </p:txBody>
      </p:sp>
      <p:graphicFrame>
        <p:nvGraphicFramePr>
          <p:cNvPr id="4" name="Group 77"/>
          <p:cNvGraphicFramePr>
            <a:graphicFrameLocks noGrp="1"/>
          </p:cNvGraphicFramePr>
          <p:nvPr/>
        </p:nvGraphicFramePr>
        <p:xfrm>
          <a:off x="6155961" y="4549124"/>
          <a:ext cx="4461011" cy="1860633"/>
        </p:xfrm>
        <a:graphic>
          <a:graphicData uri="http://schemas.openxmlformats.org/drawingml/2006/table">
            <a:tbl>
              <a:tblPr/>
              <a:tblGrid>
                <a:gridCol w="629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8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78005" marR="78005" marT="39002" marB="39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Yes</a:t>
                      </a:r>
                      <a:endParaRPr kumimoji="0" 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78005" marR="78005" marT="39002" marB="39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No</a:t>
                      </a:r>
                      <a:endParaRPr kumimoji="0" 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78005" marR="78005" marT="39002" marB="39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Yes</a:t>
                      </a:r>
                      <a:endParaRPr kumimoji="0" 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78005" marR="78005" marT="39002" marB="39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Positives (TP)</a:t>
                      </a:r>
                    </a:p>
                  </a:txBody>
                  <a:tcPr marL="78005" marR="78005" marT="39002" marB="39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Negatives (FN)</a:t>
                      </a:r>
                    </a:p>
                  </a:txBody>
                  <a:tcPr marL="78005" marR="78005" marT="39002" marB="39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No</a:t>
                      </a:r>
                      <a:endParaRPr kumimoji="0" lang="en-US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78005" marR="78005" marT="39002" marB="390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Positives (FP)</a:t>
                      </a:r>
                    </a:p>
                  </a:txBody>
                  <a:tcPr marL="78005" marR="78005" marT="39002" marB="39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Negatives (TN)</a:t>
                      </a:r>
                    </a:p>
                  </a:txBody>
                  <a:tcPr marL="78005" marR="78005" marT="39002" marB="390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23154" y="4109552"/>
            <a:ext cx="2322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buClrTx/>
            </a:pPr>
            <a:r>
              <a:rPr lang="en-US" sz="2400" kern="120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Predicted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5001263" y="5011324"/>
            <a:ext cx="1847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buClrTx/>
            </a:pPr>
            <a:r>
              <a:rPr lang="en-US" sz="2400" kern="120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Actual</a:t>
            </a:r>
          </a:p>
        </p:txBody>
      </p:sp>
    </p:spTree>
    <p:extLst>
      <p:ext uri="{BB962C8B-B14F-4D97-AF65-F5344CB8AC3E}">
        <p14:creationId xmlns:p14="http://schemas.microsoft.com/office/powerpoint/2010/main" val="397883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7ED4-D849-F645-A58F-A8960D24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6563"/>
            <a:ext cx="12080838" cy="763500"/>
          </a:xfrm>
        </p:spPr>
        <p:txBody>
          <a:bodyPr/>
          <a:lstStyle/>
          <a:p>
            <a:r>
              <a:rPr lang="en-US" dirty="0"/>
              <a:t>How to communicate these metrics to policy audiences?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4BC36-E089-C14E-8CE2-B77334884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825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9108D7-BEDF-A34B-BBC8-D207DF21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</a:t>
            </a:r>
            <a:r>
              <a:rPr lang="en-US" dirty="0" err="1"/>
              <a:t>Cheatsheet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921F0C-84EE-FB45-ACA7-8B4DE64C4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68DEDC-9E2B-114F-9639-7F4B8A698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64" y="2100301"/>
            <a:ext cx="11970972" cy="32210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EC6F56-6820-E043-809F-3EA84140E509}"/>
              </a:ext>
            </a:extLst>
          </p:cNvPr>
          <p:cNvSpPr txBox="1"/>
          <p:nvPr/>
        </p:nvSpPr>
        <p:spPr>
          <a:xfrm>
            <a:off x="3784789" y="5631119"/>
            <a:ext cx="37160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buClrTx/>
            </a:pPr>
            <a:r>
              <a:rPr lang="en-US" sz="105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Source: https://</a:t>
            </a:r>
            <a:r>
              <a:rPr lang="en-US" sz="1050" kern="12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en.wikipedia.org</a:t>
            </a:r>
            <a:r>
              <a:rPr lang="en-US" sz="105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/wiki/</a:t>
            </a:r>
            <a:r>
              <a:rPr lang="en-US" sz="1050" kern="12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Sensitivity_and_specificity</a:t>
            </a:r>
            <a:endParaRPr lang="en-US" sz="105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003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Varying the Threshold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FF3558-EC81-284B-8DAE-5B20E8B11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435740" y="1562635"/>
            <a:ext cx="7320520" cy="4944871"/>
            <a:chOff x="616981" y="1325057"/>
            <a:chExt cx="7320520" cy="494487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981" y="1325057"/>
              <a:ext cx="7320520" cy="4944871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>
            <a:xfrm>
              <a:off x="4064000" y="1409700"/>
              <a:ext cx="342900" cy="279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>
                <a:buClrTx/>
              </a:pPr>
              <a:endParaRPr lang="en-US" sz="1800" kern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0148AF-CA57-0541-9177-560EC8D36156}"/>
              </a:ext>
            </a:extLst>
          </p:cNvPr>
          <p:cNvGrpSpPr/>
          <p:nvPr/>
        </p:nvGrpSpPr>
        <p:grpSpPr>
          <a:xfrm>
            <a:off x="3018798" y="1150982"/>
            <a:ext cx="6607802" cy="882961"/>
            <a:chOff x="1494798" y="1150981"/>
            <a:chExt cx="6607802" cy="882961"/>
          </a:xfrm>
        </p:grpSpPr>
        <p:sp>
          <p:nvSpPr>
            <p:cNvPr id="6" name="TextBox 5"/>
            <p:cNvSpPr txBox="1"/>
            <p:nvPr/>
          </p:nvSpPr>
          <p:spPr>
            <a:xfrm>
              <a:off x="1494798" y="1387611"/>
              <a:ext cx="66078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1         .9     .8                .7        .6            .5    .4  .3.                  .2     .1 </a:t>
              </a:r>
            </a:p>
            <a:p>
              <a:pPr defTabSz="457200">
                <a:buClrTx/>
              </a:pPr>
              <a:r>
                <a:rPr lang="en-US" sz="105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 |                  |             |                               |                  |                        |           |        |                                    |            |</a:t>
              </a:r>
              <a:r>
                <a:rPr lang="en-US" sz="180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   </a:t>
              </a:r>
              <a:r>
                <a:rPr lang="en-US" sz="1800" kern="1200" dirty="0">
                  <a:solidFill>
                    <a:srgbClr val="EEECE1">
                      <a:lumMod val="25000"/>
                    </a:srgbClr>
                  </a:solidFill>
                  <a:latin typeface="Calibri"/>
                  <a:ea typeface="+mn-ea"/>
                  <a:cs typeface="+mn-cs"/>
                </a:rPr>
                <a:t>     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A4ED1E-FBFF-4545-BB64-FFD28CAC8A4B}"/>
                </a:ext>
              </a:extLst>
            </p:cNvPr>
            <p:cNvSpPr txBox="1"/>
            <p:nvPr/>
          </p:nvSpPr>
          <p:spPr>
            <a:xfrm>
              <a:off x="4097994" y="1150981"/>
              <a:ext cx="7007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Score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9BF13E-AE77-6A46-B2C2-E1985346BF6A}"/>
              </a:ext>
            </a:extLst>
          </p:cNvPr>
          <p:cNvGrpSpPr/>
          <p:nvPr/>
        </p:nvGrpSpPr>
        <p:grpSpPr>
          <a:xfrm>
            <a:off x="1836283" y="5550212"/>
            <a:ext cx="7221578" cy="369332"/>
            <a:chOff x="312283" y="5550212"/>
            <a:chExt cx="7221578" cy="36933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561906-EEC1-6046-905E-0E55B1D4B60D}"/>
                </a:ext>
              </a:extLst>
            </p:cNvPr>
            <p:cNvCxnSpPr/>
            <p:nvPr/>
          </p:nvCxnSpPr>
          <p:spPr>
            <a:xfrm flipH="1">
              <a:off x="1649896" y="5734878"/>
              <a:ext cx="5883965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F59512-F15A-1445-8C8B-BFD99D51B252}"/>
                </a:ext>
              </a:extLst>
            </p:cNvPr>
            <p:cNvSpPr txBox="1"/>
            <p:nvPr/>
          </p:nvSpPr>
          <p:spPr>
            <a:xfrm>
              <a:off x="312283" y="5550212"/>
              <a:ext cx="9861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Baseline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9A4A58B-B356-1E41-A6F4-EEF6E44A9AD1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1298450" y="5734878"/>
              <a:ext cx="281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73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9DA0F8-2485-BE4C-9111-A0958BA7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F250CB-9CD3-AD47-AE7F-271FE605F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7A9B93-EA7C-1349-8F1C-7AC1DDD12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688" y="1353806"/>
            <a:ext cx="5302624" cy="489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37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99BB49-088A-9F48-AD87-A4B67902D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339" y="2050634"/>
            <a:ext cx="6429323" cy="43895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1338" y="1316136"/>
            <a:ext cx="6638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buClrTx/>
            </a:pPr>
            <a:r>
              <a:rPr lang="en-US" sz="32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Receiver Operator Characteristic Curve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652603" y="2263516"/>
            <a:ext cx="5441430" cy="361262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70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AUC (Area Under Curve)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measure of performance</a:t>
            </a:r>
          </a:p>
          <a:p>
            <a:pPr lvl="1"/>
            <a:r>
              <a:rPr lang="en-US" dirty="0"/>
              <a:t>1 if all 1s are ranked above all 0s</a:t>
            </a:r>
          </a:p>
          <a:p>
            <a:pPr lvl="1"/>
            <a:r>
              <a:rPr lang="en-US" dirty="0"/>
              <a:t>0 if all 0s are above all 1s</a:t>
            </a:r>
          </a:p>
        </p:txBody>
      </p:sp>
    </p:spTree>
    <p:extLst>
      <p:ext uri="{BB962C8B-B14F-4D97-AF65-F5344CB8AC3E}">
        <p14:creationId xmlns:p14="http://schemas.microsoft.com/office/powerpoint/2010/main" val="2676850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AUC </a:t>
            </a:r>
            <a:r>
              <a:rPr lang="mr-IN" dirty="0"/>
              <a:t>–</a:t>
            </a:r>
            <a:r>
              <a:rPr lang="en-US" dirty="0"/>
              <a:t> Area Under Curve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care about the entire space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339" y="2420472"/>
            <a:ext cx="5887627" cy="40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35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– triage configuration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F4BCD-53D2-7748-A243-56AA09E97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426" y="1161535"/>
            <a:ext cx="7217147" cy="560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03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4351-957A-E92A-2B2F-7938108E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Derivation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2B9A7-154D-A2F7-9D54-3C71D83BE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Question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 algn="ctr">
              <a:buNone/>
            </a:pPr>
            <a:r>
              <a:rPr lang="en-US" sz="3600" dirty="0"/>
              <a:t>What would be some potential strategies for integrating considerations around fairness in the process of model evaluation and selection?</a:t>
            </a:r>
          </a:p>
        </p:txBody>
      </p:sp>
    </p:spTree>
    <p:extLst>
      <p:ext uri="{BB962C8B-B14F-4D97-AF65-F5344CB8AC3E}">
        <p14:creationId xmlns:p14="http://schemas.microsoft.com/office/powerpoint/2010/main" val="1535530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EBBB8-AC33-4D45-F26B-BAD910BE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5A83E3-24E9-89F2-6127-B1972287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78835E-F3BC-0861-F41B-64B445942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4963021"/>
          </a:xfrm>
        </p:spPr>
        <p:txBody>
          <a:bodyPr/>
          <a:lstStyle/>
          <a:p>
            <a:pPr marL="76200" indent="0">
              <a:buNone/>
            </a:pPr>
            <a:r>
              <a:rPr lang="en-US" b="1" dirty="0"/>
              <a:t>This week:</a:t>
            </a:r>
            <a:endParaRPr lang="en-US" dirty="0"/>
          </a:p>
          <a:p>
            <a:r>
              <a:rPr lang="en-US" dirty="0"/>
              <a:t>Friday: Triage Tech Session</a:t>
            </a:r>
          </a:p>
          <a:p>
            <a:endParaRPr lang="en-US" dirty="0"/>
          </a:p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r>
              <a:rPr lang="en-US" dirty="0"/>
              <a:t>Reading for Tuesday (“cross-validation” strategies)</a:t>
            </a:r>
          </a:p>
          <a:p>
            <a:r>
              <a:rPr lang="en-US" dirty="0"/>
              <a:t>Project check-in </a:t>
            </a:r>
          </a:p>
          <a:p>
            <a:r>
              <a:rPr lang="en-US" dirty="0"/>
              <a:t>First Project Assignment due Monday – posted on Canvas</a:t>
            </a:r>
          </a:p>
        </p:txBody>
      </p:sp>
    </p:spTree>
    <p:extLst>
      <p:ext uri="{BB962C8B-B14F-4D97-AF65-F5344CB8AC3E}">
        <p14:creationId xmlns:p14="http://schemas.microsoft.com/office/powerpoint/2010/main" val="17893115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98cad32e-33fb-4e66-a4b6-33389b2cff9d"/>
  <p:tag name="SLIDO_EVENT_UUID" val="4ee70ca1-e1e6-4271-9fce-4efcf7d701cb"/>
  <p:tag name="SLIDO_EVENT_SECTION_UUID" val="4e6b9f65-e842-4d53-9e0b-c4f65d7211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2977c29-9d6c-411a-ad5e-874ad6541b25"/>
  <p:tag name="SLIDO_TIMELINE" val="W3sicG9sbFF1ZXN0aW9uVXVpZCI6IjY0ZTJlYTEwLTU3MDctNGY1MS1hOGY0LWQ0YzExM2I1NDUxMyIsInNob3dSZXN1bHRzIjpmYWxzZX0seyJwb2xsUXVlc3Rpb25VdWlkIjoiNjRlMmVhMTAtNTcwNy00ZjUxLWE4ZjQtZDRjMTEzYjU0NTEzIiwic2hvd1Jlc3VsdHMiOnRydWV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3081d40-273b-4197-9408-a1cfc7b40f7e"/>
  <p:tag name="SLIDO_TIMELINE" val="W3sicG9sbFF1ZXN0aW9uVXVpZCI6IjEyYjk4YmQ5LTI4MjAtNGQyZS04YmM5LWVkODhhZWVhZmFlNSIsInNob3dSZXN1bHRzIjpmYWxzZX0seyJwb2xsUXVlc3Rpb25VdWlkIjoiMTJiOThiZDktMjgyMC00ZDJlLThiYzktZWQ4OGFlZWFmYWU1Iiwic2hvd1Jlc3VsdHMiOnRydWV9XQ=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4665</TotalTime>
  <Words>749</Words>
  <Application>Microsoft Macintosh PowerPoint</Application>
  <PresentationFormat>Widescreen</PresentationFormat>
  <Paragraphs>140</Paragraphs>
  <Slides>26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Roboto</vt:lpstr>
      <vt:lpstr>Wingdings</vt:lpstr>
      <vt:lpstr>Simple Light</vt:lpstr>
      <vt:lpstr>PowerPoint Presentation</vt:lpstr>
      <vt:lpstr>Reminders</vt:lpstr>
      <vt:lpstr>Plan for the week</vt:lpstr>
      <vt:lpstr>PowerPoint Presentation</vt:lpstr>
      <vt:lpstr>How to solve a prediction problem</vt:lpstr>
      <vt:lpstr>PowerPoint Presentation</vt:lpstr>
      <vt:lpstr>What is the goal of model selection?</vt:lpstr>
      <vt:lpstr>What do we need our selected model to do?</vt:lpstr>
      <vt:lpstr>What do we need our selected model to do?</vt:lpstr>
      <vt:lpstr>PowerPoint Presentation</vt:lpstr>
      <vt:lpstr>PowerPoint Presentation</vt:lpstr>
      <vt:lpstr>Performance Metrics</vt:lpstr>
      <vt:lpstr>Score Distribution on the Test Set</vt:lpstr>
      <vt:lpstr>Evaluation - Metrics</vt:lpstr>
      <vt:lpstr>Evaluation – Metrics (at a threshold k)</vt:lpstr>
      <vt:lpstr>How to communicate these metrics to policy audiences?</vt:lpstr>
      <vt:lpstr>Metric Cheatsheet</vt:lpstr>
      <vt:lpstr>Varying the Threshold</vt:lpstr>
      <vt:lpstr>PowerPoint Presentation</vt:lpstr>
      <vt:lpstr>ROC Curve</vt:lpstr>
      <vt:lpstr>AUC (Area Under Curve)</vt:lpstr>
      <vt:lpstr>AUC – Area Under Curve</vt:lpstr>
      <vt:lpstr>Evaluation – triage configuration</vt:lpstr>
      <vt:lpstr>Metric Derivation</vt:lpstr>
      <vt:lpstr>Discussion Question</vt:lpstr>
      <vt:lpstr>Reminders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Ghani Rayid</cp:lastModifiedBy>
  <cp:revision>71</cp:revision>
  <dcterms:created xsi:type="dcterms:W3CDTF">2020-01-14T19:43:43Z</dcterms:created>
  <dcterms:modified xsi:type="dcterms:W3CDTF">2026-09-23T19:32:55Z</dcterms:modified>
</cp:coreProperties>
</file>