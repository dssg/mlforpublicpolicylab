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81" r:id="rId3"/>
    <p:sldId id="295" r:id="rId4"/>
    <p:sldId id="309" r:id="rId5"/>
    <p:sldId id="292" r:id="rId6"/>
    <p:sldId id="311" r:id="rId7"/>
    <p:sldId id="282" r:id="rId8"/>
    <p:sldId id="306" r:id="rId9"/>
    <p:sldId id="305" r:id="rId10"/>
    <p:sldId id="307" r:id="rId11"/>
    <p:sldId id="308" r:id="rId12"/>
    <p:sldId id="285" r:id="rId13"/>
    <p:sldId id="323" r:id="rId14"/>
    <p:sldId id="304" r:id="rId15"/>
    <p:sldId id="283" r:id="rId16"/>
    <p:sldId id="324" r:id="rId17"/>
    <p:sldId id="303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1"/>
    <p:restoredTop sz="93151"/>
  </p:normalViewPr>
  <p:slideViewPr>
    <p:cSldViewPr snapToGrid="0" snapToObjects="1">
      <p:cViewPr varScale="1">
        <p:scale>
          <a:sx n="113" d="100"/>
          <a:sy n="113" d="100"/>
        </p:scale>
        <p:origin x="2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3" qsCatId="simple" csTypeId="urn:microsoft.com/office/officeart/2005/8/colors/colorful1#3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2cbaf05b3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g32cbaf05b3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g32cbaf05b3f_0_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2f73e32ac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2" name="Google Shape;522;g32f73e32ac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3" name="Google Shape;523;g32f73e32acf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2d3355825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g32d3355825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Data is never perfect –  is it useful enough to improve over status quo?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Can you augment with external data? Public data? Partner with other organizations that have supplementary data?</a:t>
            </a:r>
            <a:endParaRPr/>
          </a:p>
        </p:txBody>
      </p:sp>
      <p:sp>
        <p:nvSpPr>
          <p:cNvPr id="533" name="Google Shape;533;g32d3355825c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Police data</a:t>
            </a:r>
          </a:p>
          <a:p>
            <a:r>
              <a:rPr lang="en-US" dirty="0"/>
              <a:t>School data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3439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data collection for causa </a:t>
            </a:r>
            <a:r>
              <a:rPr lang="en-US" dirty="0" err="1"/>
              <a:t>leffects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5120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2d3355825c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3" name="Google Shape;583;g32d3355825c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84" name="Google Shape;584;g32d3355825c_1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2"/>
          <p:cNvSpPr txBox="1">
            <a:spLocks noGrp="1"/>
          </p:cNvSpPr>
          <p:nvPr>
            <p:ph type="ctrTitle"/>
          </p:nvPr>
        </p:nvSpPr>
        <p:spPr>
          <a:xfrm>
            <a:off x="914400" y="1851287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2337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ciencepublicpolicy.org/our-work/tools-guides/datamaturity/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Acquisition </a:t>
            </a:r>
            <a:r>
              <a:rPr lang="en-US" sz="4400">
                <a:solidFill>
                  <a:schemeClr val="dk1"/>
                </a:solidFill>
              </a:rPr>
              <a:t>and Storage</a:t>
            </a:r>
            <a:endParaRPr lang="en-US" sz="4400" dirty="0">
              <a:solidFill>
                <a:schemeClr val="dk1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data today</a:t>
            </a:r>
          </a:p>
          <a:p>
            <a:pPr lvl="1"/>
            <a:r>
              <a:rPr lang="en-US" dirty="0"/>
              <a:t>quick assignment to check database connection (should take 1 minute)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What’s coming next week: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weekly feedback form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Data Exploration + Teamwork</a:t>
            </a:r>
          </a:p>
          <a:p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 </a:t>
            </a:r>
            <a:r>
              <a:rPr lang="en-US" dirty="0"/>
              <a:t>preparation guidelines (on canvas)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3226525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2cbaf05b3f_0_70"/>
          <p:cNvSpPr/>
          <p:nvPr/>
        </p:nvSpPr>
        <p:spPr>
          <a:xfrm>
            <a:off x="458367" y="1125900"/>
            <a:ext cx="3192400" cy="3911200"/>
          </a:xfrm>
          <a:prstGeom prst="rect">
            <a:avLst/>
          </a:prstGeom>
          <a:solidFill>
            <a:srgbClr val="FBF2C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have access to?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2cbaf05b3f_0_70"/>
          <p:cNvSpPr/>
          <p:nvPr/>
        </p:nvSpPr>
        <p:spPr>
          <a:xfrm>
            <a:off x="8381367" y="1125900"/>
            <a:ext cx="3192400" cy="3911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need?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2cbaf05b3f_0_70"/>
          <p:cNvSpPr/>
          <p:nvPr/>
        </p:nvSpPr>
        <p:spPr>
          <a:xfrm>
            <a:off x="4470667" y="1125900"/>
            <a:ext cx="3192400" cy="39112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How do we identify and fill any gaps?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2f73e32acf_0_0"/>
          <p:cNvSpPr txBox="1"/>
          <p:nvPr/>
        </p:nvSpPr>
        <p:spPr>
          <a:xfrm>
            <a:off x="1553617" y="1958000"/>
            <a:ext cx="4490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and measure progress on Goals</a:t>
            </a:r>
            <a:endParaRPr sz="2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Sufficient reliable historical data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Captures relevant outcomes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the cohort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2f73e32acf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What data do you need?</a:t>
            </a:r>
            <a:endParaRPr/>
          </a:p>
        </p:txBody>
      </p:sp>
      <p:pic>
        <p:nvPicPr>
          <p:cNvPr id="527" name="Google Shape;527;g32f73e32acf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718" y="2087601"/>
            <a:ext cx="1080833" cy="1080833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g32f73e32acf_0_0"/>
          <p:cNvSpPr txBox="1"/>
          <p:nvPr/>
        </p:nvSpPr>
        <p:spPr>
          <a:xfrm>
            <a:off x="7609884" y="1958000"/>
            <a:ext cx="4212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Actions</a:t>
            </a:r>
            <a:endParaRPr sz="2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Refreshed at least as frequently as the action is taken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Covers the same granularity as the proposed action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9" name="Google Shape;529;g32f73e32ac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50" y="2087567"/>
            <a:ext cx="1080833" cy="1080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2d3355825c_1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Identifying Data Gaps and Readiness</a:t>
            </a:r>
            <a:endParaRPr/>
          </a:p>
        </p:txBody>
      </p:sp>
      <p:sp>
        <p:nvSpPr>
          <p:cNvPr id="536" name="Google Shape;536;g32d3355825c_1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Do we have enough to move forward, or do we need to focus on getting additional data? </a:t>
            </a:r>
            <a:endParaRPr dirty="0"/>
          </a:p>
          <a:p>
            <a:pPr marL="0" indent="0">
              <a:lnSpc>
                <a:spcPct val="150000"/>
              </a:lnSpc>
              <a:buNone/>
            </a:pP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enough historical data?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reliable going back?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at the right level of granularity to inform the actions?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Are different pieces of data linkable? unique identifiers for people, places, etc.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the right data to measure outcomes (based on the goals)?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384417"/>
            <a:ext cx="11360700" cy="763500"/>
          </a:xfrm>
        </p:spPr>
        <p:txBody>
          <a:bodyPr/>
          <a:lstStyle/>
          <a:p>
            <a:r>
              <a:rPr lang="en-US" sz="3200" dirty="0"/>
              <a:t>Challenges with getting (access), storing, and linking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</a:t>
            </a:r>
          </a:p>
          <a:p>
            <a:r>
              <a:rPr lang="en-US" dirty="0"/>
              <a:t>Internal Awareness</a:t>
            </a:r>
          </a:p>
          <a:p>
            <a:r>
              <a:rPr lang="en-US" dirty="0"/>
              <a:t>Legal and/or Contractual</a:t>
            </a:r>
          </a:p>
          <a:p>
            <a:r>
              <a:rPr lang="en-US" dirty="0"/>
              <a:t>Ethical</a:t>
            </a:r>
          </a:p>
          <a:p>
            <a:r>
              <a:rPr lang="en-US" dirty="0"/>
              <a:t>Technical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6E641-F79B-6F49-B8EF-A4D6E70FF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530BD-D523-581E-F9C9-8075A2275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to an organization</a:t>
            </a:r>
          </a:p>
          <a:p>
            <a:r>
              <a:rPr lang="en-US" dirty="0"/>
              <a:t>Partnering with external organization – researcher, consultant, etc.</a:t>
            </a:r>
          </a:p>
        </p:txBody>
      </p:sp>
    </p:spTree>
    <p:extLst>
      <p:ext uri="{BB962C8B-B14F-4D97-AF65-F5344CB8AC3E}">
        <p14:creationId xmlns:p14="http://schemas.microsoft.com/office/powerpoint/2010/main" val="3974381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FBA3-9597-C18F-DC54-EA1CD2F2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Political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BF3655-4FBB-7724-83F4-8175A4967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Understanding the stakeholders and value for them</a:t>
            </a:r>
          </a:p>
          <a:p>
            <a:r>
              <a:rPr lang="en-US" dirty="0"/>
              <a:t>May lead to getting subsets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9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598E1-2970-A57B-2054-6EA7A1C0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Awareness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72AD7-6DC2-FD80-5F57-21B4BAF58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organizations don’t know what data they have internally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599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3CC1-DE63-065D-AF01-A8EB3538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91D1-FA47-7731-53F8-3CB7C6B19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Legal and Contractual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8EA6-7587-5A19-15B8-477D5DF5D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of the issues will be legitimate, but some will be excuses and lack of awareness</a:t>
            </a:r>
          </a:p>
          <a:p>
            <a:endParaRPr lang="en-US" dirty="0"/>
          </a:p>
          <a:p>
            <a:r>
              <a:rPr lang="en-US" dirty="0"/>
              <a:t>Be aware of all the legal acronyms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A2C67A-1D1F-FE5A-12D8-3E984D91493F}"/>
              </a:ext>
            </a:extLst>
          </p:cNvPr>
          <p:cNvSpPr/>
          <p:nvPr/>
        </p:nvSpPr>
        <p:spPr>
          <a:xfrm>
            <a:off x="1778135" y="4182677"/>
            <a:ext cx="23391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HIPAA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1B295D-4ACD-7F5B-DEFD-6B9C9D4BC848}"/>
              </a:ext>
            </a:extLst>
          </p:cNvPr>
          <p:cNvSpPr/>
          <p:nvPr/>
        </p:nvSpPr>
        <p:spPr>
          <a:xfrm>
            <a:off x="4329457" y="3721012"/>
            <a:ext cx="23006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CA2DB1-B349-3813-E147-086F8925BAB6}"/>
              </a:ext>
            </a:extLst>
          </p:cNvPr>
          <p:cNvSpPr/>
          <p:nvPr/>
        </p:nvSpPr>
        <p:spPr>
          <a:xfrm>
            <a:off x="4327155" y="5106007"/>
            <a:ext cx="280076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66BEEB-8386-44D1-BAD4-2266011E26D4}"/>
              </a:ext>
            </a:extLst>
          </p:cNvPr>
          <p:cNvSpPr/>
          <p:nvPr/>
        </p:nvSpPr>
        <p:spPr>
          <a:xfrm>
            <a:off x="7784250" y="3658516"/>
            <a:ext cx="25314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FERPA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A67A49-90C1-89B0-7DBD-C4670C308A8A}"/>
              </a:ext>
            </a:extLst>
          </p:cNvPr>
          <p:cNvSpPr/>
          <p:nvPr/>
        </p:nvSpPr>
        <p:spPr>
          <a:xfrm>
            <a:off x="1149024" y="5348269"/>
            <a:ext cx="218521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>
                <a:ln/>
                <a:solidFill>
                  <a:schemeClr val="accent3"/>
                </a:solidFill>
                <a:effectLst/>
              </a:rPr>
              <a:t>GDPR</a:t>
            </a:r>
          </a:p>
        </p:txBody>
      </p:sp>
    </p:spTree>
    <p:extLst>
      <p:ext uri="{BB962C8B-B14F-4D97-AF65-F5344CB8AC3E}">
        <p14:creationId xmlns:p14="http://schemas.microsoft.com/office/powerpoint/2010/main" val="3956826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(in data acquisition/access)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should you get data?</a:t>
            </a:r>
          </a:p>
          <a:p>
            <a:pPr lvl="1">
              <a:spcBef>
                <a:spcPts val="0"/>
              </a:spcBef>
            </a:pPr>
            <a:r>
              <a:rPr lang="en-US" dirty="0"/>
              <a:t>API access</a:t>
            </a:r>
          </a:p>
          <a:p>
            <a:pPr lvl="1">
              <a:spcBef>
                <a:spcPts val="0"/>
              </a:spcBef>
            </a:pPr>
            <a:r>
              <a:rPr lang="en-US" dirty="0"/>
              <a:t>Flat files</a:t>
            </a:r>
          </a:p>
          <a:p>
            <a:pPr lvl="1">
              <a:spcBef>
                <a:spcPts val="0"/>
              </a:spcBef>
            </a:pPr>
            <a:r>
              <a:rPr lang="en-US" dirty="0"/>
              <a:t>Database dumps</a:t>
            </a:r>
          </a:p>
          <a:p>
            <a:pPr lvl="1">
              <a:spcBef>
                <a:spcPts val="0"/>
              </a:spcBef>
            </a:pPr>
            <a:endParaRPr lang="en-US" dirty="0"/>
          </a:p>
          <a:p>
            <a:r>
              <a:rPr lang="en-US" dirty="0"/>
              <a:t>How much should it be processed before you get it to use in downstream ML tasks?</a:t>
            </a:r>
          </a:p>
          <a:p>
            <a:endParaRPr lang="en-US" dirty="0"/>
          </a:p>
          <a:p>
            <a:r>
              <a:rPr lang="en-US" dirty="0"/>
              <a:t>How do you build a repeatable data acquisition pipeline? Where do you start?</a:t>
            </a:r>
          </a:p>
          <a:p>
            <a:endParaRPr lang="en-US" dirty="0"/>
          </a:p>
          <a:p>
            <a:r>
              <a:rPr lang="en-US" dirty="0"/>
              <a:t>When do you collect new data?</a:t>
            </a:r>
          </a:p>
          <a:p>
            <a:pPr marL="565150" lvl="1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2d3355825c_1_4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Ethical issues to consider</a:t>
            </a:r>
            <a:endParaRPr/>
          </a:p>
        </p:txBody>
      </p:sp>
      <p:sp>
        <p:nvSpPr>
          <p:cNvPr id="587" name="Google Shape;587;g32d3355825c_1_46"/>
          <p:cNvSpPr txBox="1">
            <a:spLocks noGrp="1"/>
          </p:cNvSpPr>
          <p:nvPr>
            <p:ph type="body" idx="1"/>
          </p:nvPr>
        </p:nvSpPr>
        <p:spPr>
          <a:xfrm>
            <a:off x="962300" y="1638233"/>
            <a:ext cx="10756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Privacy:</a:t>
            </a:r>
            <a:r>
              <a:rPr lang="en-US" dirty="0"/>
              <a:t> What legal and security requirements govern how this data is used? What additional ethical considerations apply? 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ownership and transparency: </a:t>
            </a:r>
            <a:r>
              <a:rPr lang="en-US" dirty="0"/>
              <a:t>Are the people whose data it is (and is about) aware that their data is being used and how it affects them? What does consent look like?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Bias, equity, and fairness: </a:t>
            </a:r>
            <a:r>
              <a:rPr lang="en-US" dirty="0"/>
              <a:t>Are there biases in the data sources? Is the data equally accurate and available about everyone? </a:t>
            </a:r>
            <a:endParaRPr dirty="0"/>
          </a:p>
        </p:txBody>
      </p:sp>
      <p:pic>
        <p:nvPicPr>
          <p:cNvPr id="588" name="Google Shape;588;g32d3355825c_1_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700" y="1694967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2d3355825c_1_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700" y="3905600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g32d3355825c_1_4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8700" y="2800276"/>
            <a:ext cx="763600" cy="76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51200-11ED-A162-EC48-70434E8AF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Maturity 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CD924-C85A-4FC2-55CF-F8F9ED770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>
                <a:hlinkClick r:id="rId2"/>
              </a:rPr>
              <a:t>Link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330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140B-CCBA-6544-AE2A-A3E88E04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FB7A9-1DE4-3B44-ACD9-B7066AE5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Databases whenever possible</a:t>
            </a:r>
          </a:p>
          <a:p>
            <a:pPr lvl="1"/>
            <a:r>
              <a:rPr lang="en-US" dirty="0"/>
              <a:t>Types of databases</a:t>
            </a:r>
          </a:p>
          <a:p>
            <a:pPr lvl="1"/>
            <a:endParaRPr lang="en-US" dirty="0"/>
          </a:p>
          <a:p>
            <a:r>
              <a:rPr lang="en-US" dirty="0"/>
              <a:t>Deidentification when dealing with confidential/sensitive identifiable data</a:t>
            </a:r>
          </a:p>
          <a:p>
            <a:pPr lvl="1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C7EB6-E3A6-F21F-0D18-5853E434A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your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A9A7-FDC5-5263-7786-D807574B5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have enough data?</a:t>
            </a:r>
          </a:p>
          <a:p>
            <a:endParaRPr lang="en-US" dirty="0"/>
          </a:p>
          <a:p>
            <a:r>
              <a:rPr lang="en-US" dirty="0"/>
              <a:t>Do you need to get additional data?</a:t>
            </a:r>
          </a:p>
          <a:p>
            <a:endParaRPr lang="en-US" dirty="0"/>
          </a:p>
          <a:p>
            <a:r>
              <a:rPr lang="en-US" dirty="0"/>
              <a:t>Which parts of the data should you prioritize looking at and understanding?</a:t>
            </a:r>
          </a:p>
          <a:p>
            <a:endParaRPr lang="en-US" dirty="0"/>
          </a:p>
          <a:p>
            <a:r>
              <a:rPr lang="en-US" dirty="0"/>
              <a:t>What do you need to do now that will be harder to do later?</a:t>
            </a:r>
          </a:p>
        </p:txBody>
      </p:sp>
    </p:spTree>
    <p:extLst>
      <p:ext uri="{BB962C8B-B14F-4D97-AF65-F5344CB8AC3E}">
        <p14:creationId xmlns:p14="http://schemas.microsoft.com/office/powerpoint/2010/main" val="1857705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data today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What’s coming next week: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weekly feedback form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Data Exploration + Teamwork</a:t>
            </a:r>
          </a:p>
          <a:p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 </a:t>
            </a:r>
            <a:r>
              <a:rPr lang="en-US" dirty="0"/>
              <a:t>preparation guidelines</a:t>
            </a:r>
          </a:p>
        </p:txBody>
      </p:sp>
    </p:spTree>
    <p:extLst>
      <p:ext uri="{BB962C8B-B14F-4D97-AF65-F5344CB8AC3E}">
        <p14:creationId xmlns:p14="http://schemas.microsoft.com/office/powerpoint/2010/main" val="295322441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2940</TotalTime>
  <Words>659</Words>
  <Application>Microsoft Macintosh PowerPoint</Application>
  <PresentationFormat>Widescreen</PresentationFormat>
  <Paragraphs>127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Simple Light</vt:lpstr>
      <vt:lpstr>PowerPoint Presentation</vt:lpstr>
      <vt:lpstr>Things to remember</vt:lpstr>
      <vt:lpstr>PowerPoint Presentation</vt:lpstr>
      <vt:lpstr>PowerPoint Presentation</vt:lpstr>
      <vt:lpstr>What data do you need?</vt:lpstr>
      <vt:lpstr>Identifying Data Gaps and Readiness</vt:lpstr>
      <vt:lpstr>Challenges with getting (access), storing, and linking data</vt:lpstr>
      <vt:lpstr>Scenarios</vt:lpstr>
      <vt:lpstr>Political Challenges</vt:lpstr>
      <vt:lpstr>Internal Awareness Challenges</vt:lpstr>
      <vt:lpstr>Legal and Contractual Challenges</vt:lpstr>
      <vt:lpstr>Technical challenges (in data acquisition/access)</vt:lpstr>
      <vt:lpstr>Ethical issues to consider</vt:lpstr>
      <vt:lpstr>Data Maturity Assessment</vt:lpstr>
      <vt:lpstr>Data Storage</vt:lpstr>
      <vt:lpstr>Implications for your project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36</cp:revision>
  <dcterms:created xsi:type="dcterms:W3CDTF">2020-01-14T19:43:43Z</dcterms:created>
  <dcterms:modified xsi:type="dcterms:W3CDTF">2026-09-03T01:37:30Z</dcterms:modified>
</cp:coreProperties>
</file>