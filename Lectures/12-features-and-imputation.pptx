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506" r:id="rId3"/>
    <p:sldId id="471" r:id="rId4"/>
    <p:sldId id="318" r:id="rId5"/>
    <p:sldId id="499" r:id="rId6"/>
    <p:sldId id="497" r:id="rId7"/>
    <p:sldId id="543" r:id="rId8"/>
    <p:sldId id="544" r:id="rId9"/>
    <p:sldId id="282" r:id="rId10"/>
    <p:sldId id="268" r:id="rId11"/>
    <p:sldId id="266" r:id="rId12"/>
    <p:sldId id="269" r:id="rId13"/>
    <p:sldId id="301" r:id="rId14"/>
    <p:sldId id="320" r:id="rId15"/>
    <p:sldId id="503" r:id="rId16"/>
    <p:sldId id="502" r:id="rId17"/>
    <p:sldId id="522" r:id="rId18"/>
    <p:sldId id="524" r:id="rId19"/>
    <p:sldId id="525" r:id="rId20"/>
    <p:sldId id="526" r:id="rId21"/>
    <p:sldId id="514" r:id="rId22"/>
    <p:sldId id="541" r:id="rId23"/>
    <p:sldId id="542" r:id="rId24"/>
    <p:sldId id="546" r:id="rId25"/>
    <p:sldId id="513" r:id="rId26"/>
    <p:sldId id="515" r:id="rId27"/>
    <p:sldId id="300" r:id="rId28"/>
    <p:sldId id="545" r:id="rId29"/>
    <p:sldId id="302" r:id="rId30"/>
    <p:sldId id="304" r:id="rId31"/>
    <p:sldId id="277" r:id="rId32"/>
    <p:sldId id="278" r:id="rId33"/>
    <p:sldId id="280" r:id="rId34"/>
    <p:sldId id="279" r:id="rId35"/>
    <p:sldId id="306" r:id="rId36"/>
    <p:sldId id="547" r:id="rId37"/>
    <p:sldId id="310" r:id="rId38"/>
    <p:sldId id="312" r:id="rId39"/>
    <p:sldId id="313" r:id="rId40"/>
    <p:sldId id="317" r:id="rId41"/>
    <p:sldId id="314" r:id="rId42"/>
    <p:sldId id="316" r:id="rId43"/>
    <p:sldId id="315" r:id="rId44"/>
    <p:sldId id="322" r:id="rId45"/>
    <p:sldId id="292" r:id="rId46"/>
    <p:sldId id="293" r:id="rId47"/>
  </p:sldIdLst>
  <p:sldSz cx="12192000" cy="6858000"/>
  <p:notesSz cx="6858000" cy="9144000"/>
  <p:custDataLst>
    <p:tags r:id="rId4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0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80"/>
    <p:restoredTop sz="93361"/>
  </p:normalViewPr>
  <p:slideViewPr>
    <p:cSldViewPr snapToGrid="0" snapToObjects="1">
      <p:cViewPr varScale="1">
        <p:scale>
          <a:sx n="76" d="100"/>
          <a:sy n="76" d="100"/>
        </p:scale>
        <p:origin x="224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4939A5-61AE-9B4E-A79C-FD07DB0B9193}" type="doc">
      <dgm:prSet loTypeId="urn:microsoft.com/office/officeart/2005/8/layout/cycle2" loCatId="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A8F43522-B62A-3D44-9C1F-1B384D416A21}">
      <dgm:prSet phldrT="[Text]" custT="1"/>
      <dgm:spPr/>
      <dgm:t>
        <a:bodyPr/>
        <a:lstStyle/>
        <a:p>
          <a:r>
            <a:rPr lang="en-US" sz="1600" dirty="0"/>
            <a:t>Come up with Feature Ideas</a:t>
          </a:r>
        </a:p>
      </dgm:t>
    </dgm:pt>
    <dgm:pt modelId="{4A6A2D2E-D070-0542-9834-C49066B1C4BE}" type="parTrans" cxnId="{757EEBEB-396F-F844-97F8-640FF6093CD9}">
      <dgm:prSet/>
      <dgm:spPr/>
      <dgm:t>
        <a:bodyPr/>
        <a:lstStyle/>
        <a:p>
          <a:endParaRPr lang="en-US"/>
        </a:p>
      </dgm:t>
    </dgm:pt>
    <dgm:pt modelId="{54E87F9D-FD2B-B341-9EB0-B864E8CC1934}" type="sibTrans" cxnId="{757EEBEB-396F-F844-97F8-640FF6093CD9}">
      <dgm:prSet/>
      <dgm:spPr/>
      <dgm:t>
        <a:bodyPr/>
        <a:lstStyle/>
        <a:p>
          <a:endParaRPr lang="en-US"/>
        </a:p>
      </dgm:t>
    </dgm:pt>
    <dgm:pt modelId="{B732170C-6367-8F43-81E8-6027E310AEC2}">
      <dgm:prSet phldrT="[Text]" custT="1"/>
      <dgm:spPr/>
      <dgm:t>
        <a:bodyPr/>
        <a:lstStyle/>
        <a:p>
          <a:r>
            <a:rPr lang="en-US" sz="1600" dirty="0"/>
            <a:t>Implement Features</a:t>
          </a:r>
        </a:p>
      </dgm:t>
    </dgm:pt>
    <dgm:pt modelId="{D0625F34-EB09-B342-BBE1-FF212B25C008}" type="parTrans" cxnId="{A2498F5E-391E-0248-A1BB-525FCB3B196E}">
      <dgm:prSet/>
      <dgm:spPr/>
      <dgm:t>
        <a:bodyPr/>
        <a:lstStyle/>
        <a:p>
          <a:endParaRPr lang="en-US"/>
        </a:p>
      </dgm:t>
    </dgm:pt>
    <dgm:pt modelId="{B3AE3CB1-36E1-E441-9DB8-A6A6EB55C7AF}" type="sibTrans" cxnId="{A2498F5E-391E-0248-A1BB-525FCB3B196E}">
      <dgm:prSet/>
      <dgm:spPr/>
      <dgm:t>
        <a:bodyPr/>
        <a:lstStyle/>
        <a:p>
          <a:endParaRPr lang="en-US"/>
        </a:p>
      </dgm:t>
    </dgm:pt>
    <dgm:pt modelId="{56F1EA0B-02BD-B04B-B23B-1DC5FEF08F55}">
      <dgm:prSet phldrT="[Text]" custT="1"/>
      <dgm:spPr/>
      <dgm:t>
        <a:bodyPr lIns="0" rIns="0"/>
        <a:lstStyle/>
        <a:p>
          <a:r>
            <a:rPr lang="en-US" sz="1800" dirty="0"/>
            <a:t>Test Results in ML Pipeline</a:t>
          </a:r>
        </a:p>
      </dgm:t>
    </dgm:pt>
    <dgm:pt modelId="{B6413D34-C7F9-B84F-8AFC-37E43B8FBAA8}" type="parTrans" cxnId="{E1CD659C-AA78-B44F-8D03-A0EB2EA43CA9}">
      <dgm:prSet/>
      <dgm:spPr/>
      <dgm:t>
        <a:bodyPr/>
        <a:lstStyle/>
        <a:p>
          <a:endParaRPr lang="en-US"/>
        </a:p>
      </dgm:t>
    </dgm:pt>
    <dgm:pt modelId="{D63C60B8-C747-A140-952D-0791E1A4BB70}" type="sibTrans" cxnId="{E1CD659C-AA78-B44F-8D03-A0EB2EA43CA9}">
      <dgm:prSet/>
      <dgm:spPr/>
      <dgm:t>
        <a:bodyPr/>
        <a:lstStyle/>
        <a:p>
          <a:endParaRPr lang="en-US"/>
        </a:p>
      </dgm:t>
    </dgm:pt>
    <dgm:pt modelId="{C8AD37E1-663C-B347-B150-404C38F2C8C5}">
      <dgm:prSet phldrT="[Text]" custT="1"/>
      <dgm:spPr/>
      <dgm:t>
        <a:bodyPr lIns="0" rIns="0"/>
        <a:lstStyle/>
        <a:p>
          <a:r>
            <a:rPr lang="en-US" sz="2000" dirty="0"/>
            <a:t>Discard or Keep</a:t>
          </a:r>
        </a:p>
      </dgm:t>
    </dgm:pt>
    <dgm:pt modelId="{835EA2C5-49F6-FF4F-B747-3C6A29083870}" type="parTrans" cxnId="{D3D70B0C-1E0A-1745-9FCA-DCBBF144F974}">
      <dgm:prSet/>
      <dgm:spPr/>
      <dgm:t>
        <a:bodyPr/>
        <a:lstStyle/>
        <a:p>
          <a:endParaRPr lang="en-US"/>
        </a:p>
      </dgm:t>
    </dgm:pt>
    <dgm:pt modelId="{A3302372-969E-DB43-91DC-057F48D48A3D}" type="sibTrans" cxnId="{D3D70B0C-1E0A-1745-9FCA-DCBBF144F974}">
      <dgm:prSet/>
      <dgm:spPr/>
      <dgm:t>
        <a:bodyPr/>
        <a:lstStyle/>
        <a:p>
          <a:endParaRPr lang="en-US"/>
        </a:p>
      </dgm:t>
    </dgm:pt>
    <dgm:pt modelId="{20A9EDF9-2D5D-0446-99E7-FA68FE58A565}" type="pres">
      <dgm:prSet presAssocID="{8B4939A5-61AE-9B4E-A79C-FD07DB0B9193}" presName="cycle" presStyleCnt="0">
        <dgm:presLayoutVars>
          <dgm:dir/>
          <dgm:resizeHandles val="exact"/>
        </dgm:presLayoutVars>
      </dgm:prSet>
      <dgm:spPr/>
    </dgm:pt>
    <dgm:pt modelId="{945B8879-CD04-764C-8AA3-A5E2A795A175}" type="pres">
      <dgm:prSet presAssocID="{A8F43522-B62A-3D44-9C1F-1B384D416A21}" presName="node" presStyleLbl="node1" presStyleIdx="0" presStyleCnt="4" custScaleX="98313" custScaleY="93861">
        <dgm:presLayoutVars>
          <dgm:bulletEnabled val="1"/>
        </dgm:presLayoutVars>
      </dgm:prSet>
      <dgm:spPr/>
    </dgm:pt>
    <dgm:pt modelId="{BADC132D-438F-254E-B43D-E9D312B11D27}" type="pres">
      <dgm:prSet presAssocID="{54E87F9D-FD2B-B341-9EB0-B864E8CC1934}" presName="sibTrans" presStyleLbl="sibTrans2D1" presStyleIdx="0" presStyleCnt="4"/>
      <dgm:spPr/>
    </dgm:pt>
    <dgm:pt modelId="{0A3841EC-3823-264D-93A3-275563A6D934}" type="pres">
      <dgm:prSet presAssocID="{54E87F9D-FD2B-B341-9EB0-B864E8CC1934}" presName="connectorText" presStyleLbl="sibTrans2D1" presStyleIdx="0" presStyleCnt="4"/>
      <dgm:spPr/>
    </dgm:pt>
    <dgm:pt modelId="{C416D91B-292C-E542-87D5-DEA62EC9B70E}" type="pres">
      <dgm:prSet presAssocID="{B732170C-6367-8F43-81E8-6027E310AEC2}" presName="node" presStyleLbl="node1" presStyleIdx="1" presStyleCnt="4" custScaleX="116101" custScaleY="109769">
        <dgm:presLayoutVars>
          <dgm:bulletEnabled val="1"/>
        </dgm:presLayoutVars>
      </dgm:prSet>
      <dgm:spPr/>
    </dgm:pt>
    <dgm:pt modelId="{08BF4C04-F962-A84F-8846-0230D12E3AB8}" type="pres">
      <dgm:prSet presAssocID="{B3AE3CB1-36E1-E441-9DB8-A6A6EB55C7AF}" presName="sibTrans" presStyleLbl="sibTrans2D1" presStyleIdx="1" presStyleCnt="4"/>
      <dgm:spPr/>
    </dgm:pt>
    <dgm:pt modelId="{9BD27105-BE67-6847-99A5-01E96659D6F0}" type="pres">
      <dgm:prSet presAssocID="{B3AE3CB1-36E1-E441-9DB8-A6A6EB55C7AF}" presName="connectorText" presStyleLbl="sibTrans2D1" presStyleIdx="1" presStyleCnt="4"/>
      <dgm:spPr/>
    </dgm:pt>
    <dgm:pt modelId="{7FB53688-E9C7-EB46-8450-86DB276964BF}" type="pres">
      <dgm:prSet presAssocID="{56F1EA0B-02BD-B04B-B23B-1DC5FEF08F55}" presName="node" presStyleLbl="node1" presStyleIdx="2" presStyleCnt="4" custScaleX="115327" custScaleY="105044">
        <dgm:presLayoutVars>
          <dgm:bulletEnabled val="1"/>
        </dgm:presLayoutVars>
      </dgm:prSet>
      <dgm:spPr/>
    </dgm:pt>
    <dgm:pt modelId="{6C03D29D-6D1B-D144-9F79-CE7E97FAEAFF}" type="pres">
      <dgm:prSet presAssocID="{D63C60B8-C747-A140-952D-0791E1A4BB70}" presName="sibTrans" presStyleLbl="sibTrans2D1" presStyleIdx="2" presStyleCnt="4"/>
      <dgm:spPr/>
    </dgm:pt>
    <dgm:pt modelId="{328F1ECC-8133-6943-98E8-B071A82B2F4E}" type="pres">
      <dgm:prSet presAssocID="{D63C60B8-C747-A140-952D-0791E1A4BB70}" presName="connectorText" presStyleLbl="sibTrans2D1" presStyleIdx="2" presStyleCnt="4"/>
      <dgm:spPr/>
    </dgm:pt>
    <dgm:pt modelId="{D7EBC052-ED42-F14B-9C38-1DE104A3278B}" type="pres">
      <dgm:prSet presAssocID="{C8AD37E1-663C-B347-B150-404C38F2C8C5}" presName="node" presStyleLbl="node1" presStyleIdx="3" presStyleCnt="4" custScaleX="116894" custScaleY="113532">
        <dgm:presLayoutVars>
          <dgm:bulletEnabled val="1"/>
        </dgm:presLayoutVars>
      </dgm:prSet>
      <dgm:spPr/>
    </dgm:pt>
    <dgm:pt modelId="{07AB3ADD-E4C5-A04D-B5B1-BE3942CAC30E}" type="pres">
      <dgm:prSet presAssocID="{A3302372-969E-DB43-91DC-057F48D48A3D}" presName="sibTrans" presStyleLbl="sibTrans2D1" presStyleIdx="3" presStyleCnt="4"/>
      <dgm:spPr/>
    </dgm:pt>
    <dgm:pt modelId="{F8B21741-C690-CF4B-A9E1-C9BC40213FFB}" type="pres">
      <dgm:prSet presAssocID="{A3302372-969E-DB43-91DC-057F48D48A3D}" presName="connectorText" presStyleLbl="sibTrans2D1" presStyleIdx="3" presStyleCnt="4"/>
      <dgm:spPr/>
    </dgm:pt>
  </dgm:ptLst>
  <dgm:cxnLst>
    <dgm:cxn modelId="{7EF80305-E719-B248-A2D5-3C10AFB83586}" type="presOf" srcId="{54E87F9D-FD2B-B341-9EB0-B864E8CC1934}" destId="{BADC132D-438F-254E-B43D-E9D312B11D27}" srcOrd="0" destOrd="0" presId="urn:microsoft.com/office/officeart/2005/8/layout/cycle2"/>
    <dgm:cxn modelId="{D3D70B0C-1E0A-1745-9FCA-DCBBF144F974}" srcId="{8B4939A5-61AE-9B4E-A79C-FD07DB0B9193}" destId="{C8AD37E1-663C-B347-B150-404C38F2C8C5}" srcOrd="3" destOrd="0" parTransId="{835EA2C5-49F6-FF4F-B747-3C6A29083870}" sibTransId="{A3302372-969E-DB43-91DC-057F48D48A3D}"/>
    <dgm:cxn modelId="{5D2E3D14-D27B-B644-8363-BF100DD2CF3C}" type="presOf" srcId="{C8AD37E1-663C-B347-B150-404C38F2C8C5}" destId="{D7EBC052-ED42-F14B-9C38-1DE104A3278B}" srcOrd="0" destOrd="0" presId="urn:microsoft.com/office/officeart/2005/8/layout/cycle2"/>
    <dgm:cxn modelId="{8699211A-1EC9-4942-A86A-7E456611DC34}" type="presOf" srcId="{B3AE3CB1-36E1-E441-9DB8-A6A6EB55C7AF}" destId="{9BD27105-BE67-6847-99A5-01E96659D6F0}" srcOrd="1" destOrd="0" presId="urn:microsoft.com/office/officeart/2005/8/layout/cycle2"/>
    <dgm:cxn modelId="{3920B034-6FD4-DC48-8174-7CAC5C65C57E}" type="presOf" srcId="{D63C60B8-C747-A140-952D-0791E1A4BB70}" destId="{6C03D29D-6D1B-D144-9F79-CE7E97FAEAFF}" srcOrd="0" destOrd="0" presId="urn:microsoft.com/office/officeart/2005/8/layout/cycle2"/>
    <dgm:cxn modelId="{5FD1BB4D-43A6-CE43-BEBB-C468FA82B8B5}" type="presOf" srcId="{A8F43522-B62A-3D44-9C1F-1B384D416A21}" destId="{945B8879-CD04-764C-8AA3-A5E2A795A175}" srcOrd="0" destOrd="0" presId="urn:microsoft.com/office/officeart/2005/8/layout/cycle2"/>
    <dgm:cxn modelId="{A2498F5E-391E-0248-A1BB-525FCB3B196E}" srcId="{8B4939A5-61AE-9B4E-A79C-FD07DB0B9193}" destId="{B732170C-6367-8F43-81E8-6027E310AEC2}" srcOrd="1" destOrd="0" parTransId="{D0625F34-EB09-B342-BBE1-FF212B25C008}" sibTransId="{B3AE3CB1-36E1-E441-9DB8-A6A6EB55C7AF}"/>
    <dgm:cxn modelId="{D4818165-FD4E-3040-A814-5F04BA31FB3D}" type="presOf" srcId="{A3302372-969E-DB43-91DC-057F48D48A3D}" destId="{07AB3ADD-E4C5-A04D-B5B1-BE3942CAC30E}" srcOrd="0" destOrd="0" presId="urn:microsoft.com/office/officeart/2005/8/layout/cycle2"/>
    <dgm:cxn modelId="{824DBE81-EB37-3041-8427-7342C8358EDF}" type="presOf" srcId="{8B4939A5-61AE-9B4E-A79C-FD07DB0B9193}" destId="{20A9EDF9-2D5D-0446-99E7-FA68FE58A565}" srcOrd="0" destOrd="0" presId="urn:microsoft.com/office/officeart/2005/8/layout/cycle2"/>
    <dgm:cxn modelId="{26ED5487-5F55-F14D-B2D9-7A173AB741E0}" type="presOf" srcId="{A3302372-969E-DB43-91DC-057F48D48A3D}" destId="{F8B21741-C690-CF4B-A9E1-C9BC40213FFB}" srcOrd="1" destOrd="0" presId="urn:microsoft.com/office/officeart/2005/8/layout/cycle2"/>
    <dgm:cxn modelId="{2B6DF78C-3516-3A46-A0E3-1B6F5C11A849}" type="presOf" srcId="{54E87F9D-FD2B-B341-9EB0-B864E8CC1934}" destId="{0A3841EC-3823-264D-93A3-275563A6D934}" srcOrd="1" destOrd="0" presId="urn:microsoft.com/office/officeart/2005/8/layout/cycle2"/>
    <dgm:cxn modelId="{E1CD659C-AA78-B44F-8D03-A0EB2EA43CA9}" srcId="{8B4939A5-61AE-9B4E-A79C-FD07DB0B9193}" destId="{56F1EA0B-02BD-B04B-B23B-1DC5FEF08F55}" srcOrd="2" destOrd="0" parTransId="{B6413D34-C7F9-B84F-8AFC-37E43B8FBAA8}" sibTransId="{D63C60B8-C747-A140-952D-0791E1A4BB70}"/>
    <dgm:cxn modelId="{BA34C6A5-FBC6-794E-85B8-3D1CCFC88913}" type="presOf" srcId="{56F1EA0B-02BD-B04B-B23B-1DC5FEF08F55}" destId="{7FB53688-E9C7-EB46-8450-86DB276964BF}" srcOrd="0" destOrd="0" presId="urn:microsoft.com/office/officeart/2005/8/layout/cycle2"/>
    <dgm:cxn modelId="{1E74BAAE-5043-DB4A-80C4-A3E014788034}" type="presOf" srcId="{D63C60B8-C747-A140-952D-0791E1A4BB70}" destId="{328F1ECC-8133-6943-98E8-B071A82B2F4E}" srcOrd="1" destOrd="0" presId="urn:microsoft.com/office/officeart/2005/8/layout/cycle2"/>
    <dgm:cxn modelId="{757EEBEB-396F-F844-97F8-640FF6093CD9}" srcId="{8B4939A5-61AE-9B4E-A79C-FD07DB0B9193}" destId="{A8F43522-B62A-3D44-9C1F-1B384D416A21}" srcOrd="0" destOrd="0" parTransId="{4A6A2D2E-D070-0542-9834-C49066B1C4BE}" sibTransId="{54E87F9D-FD2B-B341-9EB0-B864E8CC1934}"/>
    <dgm:cxn modelId="{0CFBB6F1-A6A1-4048-9021-D525B50D7EF3}" type="presOf" srcId="{B732170C-6367-8F43-81E8-6027E310AEC2}" destId="{C416D91B-292C-E542-87D5-DEA62EC9B70E}" srcOrd="0" destOrd="0" presId="urn:microsoft.com/office/officeart/2005/8/layout/cycle2"/>
    <dgm:cxn modelId="{A7B19BF8-68A9-0E4F-BEFF-F7E403FE636B}" type="presOf" srcId="{B3AE3CB1-36E1-E441-9DB8-A6A6EB55C7AF}" destId="{08BF4C04-F962-A84F-8846-0230D12E3AB8}" srcOrd="0" destOrd="0" presId="urn:microsoft.com/office/officeart/2005/8/layout/cycle2"/>
    <dgm:cxn modelId="{AF47558D-6D10-324F-AC28-B644D660FBBC}" type="presParOf" srcId="{20A9EDF9-2D5D-0446-99E7-FA68FE58A565}" destId="{945B8879-CD04-764C-8AA3-A5E2A795A175}" srcOrd="0" destOrd="0" presId="urn:microsoft.com/office/officeart/2005/8/layout/cycle2"/>
    <dgm:cxn modelId="{BC23214D-3FD5-1A49-ACC3-6774845E229D}" type="presParOf" srcId="{20A9EDF9-2D5D-0446-99E7-FA68FE58A565}" destId="{BADC132D-438F-254E-B43D-E9D312B11D27}" srcOrd="1" destOrd="0" presId="urn:microsoft.com/office/officeart/2005/8/layout/cycle2"/>
    <dgm:cxn modelId="{6C5BCC82-F38B-5349-BFE7-A4E596093D04}" type="presParOf" srcId="{BADC132D-438F-254E-B43D-E9D312B11D27}" destId="{0A3841EC-3823-264D-93A3-275563A6D934}" srcOrd="0" destOrd="0" presId="urn:microsoft.com/office/officeart/2005/8/layout/cycle2"/>
    <dgm:cxn modelId="{831A8F5A-5814-7D47-BA86-7F2C4FBC84E6}" type="presParOf" srcId="{20A9EDF9-2D5D-0446-99E7-FA68FE58A565}" destId="{C416D91B-292C-E542-87D5-DEA62EC9B70E}" srcOrd="2" destOrd="0" presId="urn:microsoft.com/office/officeart/2005/8/layout/cycle2"/>
    <dgm:cxn modelId="{185932C2-290B-0F45-8AE2-9C54C862F42F}" type="presParOf" srcId="{20A9EDF9-2D5D-0446-99E7-FA68FE58A565}" destId="{08BF4C04-F962-A84F-8846-0230D12E3AB8}" srcOrd="3" destOrd="0" presId="urn:microsoft.com/office/officeart/2005/8/layout/cycle2"/>
    <dgm:cxn modelId="{B2D62A5C-B58C-1D47-9D1E-6EA7D0034979}" type="presParOf" srcId="{08BF4C04-F962-A84F-8846-0230D12E3AB8}" destId="{9BD27105-BE67-6847-99A5-01E96659D6F0}" srcOrd="0" destOrd="0" presId="urn:microsoft.com/office/officeart/2005/8/layout/cycle2"/>
    <dgm:cxn modelId="{2496C305-B3C1-D441-810A-12CDF81EB2B7}" type="presParOf" srcId="{20A9EDF9-2D5D-0446-99E7-FA68FE58A565}" destId="{7FB53688-E9C7-EB46-8450-86DB276964BF}" srcOrd="4" destOrd="0" presId="urn:microsoft.com/office/officeart/2005/8/layout/cycle2"/>
    <dgm:cxn modelId="{CA407018-839E-C94D-8BA5-8118AAB21318}" type="presParOf" srcId="{20A9EDF9-2D5D-0446-99E7-FA68FE58A565}" destId="{6C03D29D-6D1B-D144-9F79-CE7E97FAEAFF}" srcOrd="5" destOrd="0" presId="urn:microsoft.com/office/officeart/2005/8/layout/cycle2"/>
    <dgm:cxn modelId="{5E9191D2-B489-114F-B890-D80F1D45930C}" type="presParOf" srcId="{6C03D29D-6D1B-D144-9F79-CE7E97FAEAFF}" destId="{328F1ECC-8133-6943-98E8-B071A82B2F4E}" srcOrd="0" destOrd="0" presId="urn:microsoft.com/office/officeart/2005/8/layout/cycle2"/>
    <dgm:cxn modelId="{2FE64227-0902-174E-A3C6-9BA88834A9A7}" type="presParOf" srcId="{20A9EDF9-2D5D-0446-99E7-FA68FE58A565}" destId="{D7EBC052-ED42-F14B-9C38-1DE104A3278B}" srcOrd="6" destOrd="0" presId="urn:microsoft.com/office/officeart/2005/8/layout/cycle2"/>
    <dgm:cxn modelId="{E8F49D42-2D3F-0F49-90CD-4921910A95F9}" type="presParOf" srcId="{20A9EDF9-2D5D-0446-99E7-FA68FE58A565}" destId="{07AB3ADD-E4C5-A04D-B5B1-BE3942CAC30E}" srcOrd="7" destOrd="0" presId="urn:microsoft.com/office/officeart/2005/8/layout/cycle2"/>
    <dgm:cxn modelId="{26ADC31B-865A-A44F-B11D-4A7F25A125FA}" type="presParOf" srcId="{07AB3ADD-E4C5-A04D-B5B1-BE3942CAC30E}" destId="{F8B21741-C690-CF4B-A9E1-C9BC40213FF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B8879-CD04-764C-8AA3-A5E2A795A175}">
      <dsp:nvSpPr>
        <dsp:cNvPr id="0" name=""/>
        <dsp:cNvSpPr/>
      </dsp:nvSpPr>
      <dsp:spPr>
        <a:xfrm>
          <a:off x="2857894" y="24372"/>
          <a:ext cx="1302942" cy="124394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Come up with Feature Ideas</a:t>
          </a:r>
        </a:p>
      </dsp:txBody>
      <dsp:txXfrm>
        <a:off x="3048705" y="206543"/>
        <a:ext cx="921320" cy="879598"/>
      </dsp:txXfrm>
    </dsp:sp>
    <dsp:sp modelId="{BADC132D-438F-254E-B43D-E9D312B11D27}">
      <dsp:nvSpPr>
        <dsp:cNvPr id="0" name=""/>
        <dsp:cNvSpPr/>
      </dsp:nvSpPr>
      <dsp:spPr>
        <a:xfrm rot="2700000">
          <a:off x="4006612" y="1081025"/>
          <a:ext cx="322160" cy="4472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020766" y="1136313"/>
        <a:ext cx="225512" cy="268372"/>
      </dsp:txXfrm>
    </dsp:sp>
    <dsp:sp modelId="{C416D91B-292C-E542-87D5-DEA62EC9B70E}">
      <dsp:nvSpPr>
        <dsp:cNvPr id="0" name=""/>
        <dsp:cNvSpPr/>
      </dsp:nvSpPr>
      <dsp:spPr>
        <a:xfrm>
          <a:off x="4148253" y="1327189"/>
          <a:ext cx="1538687" cy="145476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Implement Features</a:t>
          </a:r>
        </a:p>
      </dsp:txBody>
      <dsp:txXfrm>
        <a:off x="4373588" y="1540235"/>
        <a:ext cx="1088017" cy="1028676"/>
      </dsp:txXfrm>
    </dsp:sp>
    <dsp:sp modelId="{08BF4C04-F962-A84F-8846-0230D12E3AB8}">
      <dsp:nvSpPr>
        <dsp:cNvPr id="0" name=""/>
        <dsp:cNvSpPr/>
      </dsp:nvSpPr>
      <dsp:spPr>
        <a:xfrm rot="8100000">
          <a:off x="4075167" y="2536540"/>
          <a:ext cx="273636" cy="4472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4145236" y="2596974"/>
        <a:ext cx="191545" cy="268372"/>
      </dsp:txXfrm>
    </dsp:sp>
    <dsp:sp modelId="{7FB53688-E9C7-EB46-8450-86DB276964BF}">
      <dsp:nvSpPr>
        <dsp:cNvPr id="0" name=""/>
        <dsp:cNvSpPr/>
      </dsp:nvSpPr>
      <dsp:spPr>
        <a:xfrm>
          <a:off x="2745150" y="2766731"/>
          <a:ext cx="1528429" cy="139214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22860" rIns="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Test Results in ML Pipeline</a:t>
          </a:r>
        </a:p>
      </dsp:txBody>
      <dsp:txXfrm>
        <a:off x="2968983" y="2970606"/>
        <a:ext cx="1080763" cy="984398"/>
      </dsp:txXfrm>
    </dsp:sp>
    <dsp:sp modelId="{6C03D29D-6D1B-D144-9F79-CE7E97FAEAFF}">
      <dsp:nvSpPr>
        <dsp:cNvPr id="0" name=""/>
        <dsp:cNvSpPr/>
      </dsp:nvSpPr>
      <dsp:spPr>
        <a:xfrm rot="13500000">
          <a:off x="2690444" y="2552888"/>
          <a:ext cx="265297" cy="4472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2758377" y="2670485"/>
        <a:ext cx="185708" cy="268372"/>
      </dsp:txXfrm>
    </dsp:sp>
    <dsp:sp modelId="{D7EBC052-ED42-F14B-9C38-1DE104A3278B}">
      <dsp:nvSpPr>
        <dsp:cNvPr id="0" name=""/>
        <dsp:cNvSpPr/>
      </dsp:nvSpPr>
      <dsp:spPr>
        <a:xfrm>
          <a:off x="1326535" y="1302253"/>
          <a:ext cx="1549196" cy="150464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25400" rIns="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Discard or Keep</a:t>
          </a:r>
        </a:p>
      </dsp:txBody>
      <dsp:txXfrm>
        <a:off x="1553410" y="1522602"/>
        <a:ext cx="1095446" cy="1063942"/>
      </dsp:txXfrm>
    </dsp:sp>
    <dsp:sp modelId="{07AB3ADD-E4C5-A04D-B5B1-BE3942CAC30E}">
      <dsp:nvSpPr>
        <dsp:cNvPr id="0" name=""/>
        <dsp:cNvSpPr/>
      </dsp:nvSpPr>
      <dsp:spPr>
        <a:xfrm rot="18900000">
          <a:off x="2686962" y="1088190"/>
          <a:ext cx="313821" cy="4472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700749" y="1210934"/>
        <a:ext cx="219675" cy="2683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8834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bf111a05e_3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3fbf111a05e_3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g3fbf111a05e_3_1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5b8da6dea114c3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h5b8da6dea114c3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bf111a05e_3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3fbf111a05e_3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0" name="Google Shape;280;g3fbf111a05e_3_1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reviewed briefly in class – should pick back up here + </a:t>
            </a:r>
            <a:r>
              <a:rPr lang="en-US" dirty="0" err="1"/>
              <a:t>slido</a:t>
            </a:r>
            <a:r>
              <a:rPr lang="en-US" dirty="0"/>
              <a:t> + collate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4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bf111a05e_3_3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g3fbf111a05e_3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bf111a05e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fbf111a05e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dad9273e7_0_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g6dad9273e7_0_11"/>
          <p:cNvSpPr/>
          <p:nvPr/>
        </p:nvSpPr>
        <p:spPr>
          <a:xfrm>
            <a:off x="-14200" y="-36767"/>
            <a:ext cx="12220500" cy="14475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6dad9273e7_0_25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6" name="Google Shape;36;g6dad9273e7_0_25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g6dad9273e7_0_2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g6dad9273e7_0_25"/>
          <p:cNvSpPr/>
          <p:nvPr/>
        </p:nvSpPr>
        <p:spPr>
          <a:xfrm>
            <a:off x="-28367" y="-36767"/>
            <a:ext cx="12220500" cy="14475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6dad9273e7_0_3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41" name="Google Shape;41;g6dad9273e7_0_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6dad9273e7_0_3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g6dad9273e7_0_3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5" name="Google Shape;45;g6dad9273e7_0_33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" name="Google Shape;46;g6dad9273e7_0_33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6dad9273e7_0_3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6dad9273e7_0_39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0" name="Google Shape;50;g6dad9273e7_0_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6dad9273e7_0_4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3" name="Google Shape;53;g6dad9273e7_0_4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g6dad9273e7_0_4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dad9273e7_0_48"/>
          <p:cNvSpPr/>
          <p:nvPr/>
        </p:nvSpPr>
        <p:spPr>
          <a:xfrm>
            <a:off x="0" y="6434139"/>
            <a:ext cx="12192000" cy="4239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Rayid Ghani							University of Chicago                                                                      @rayidghani				</a:t>
            </a:r>
            <a:endParaRPr/>
          </a:p>
        </p:txBody>
      </p:sp>
      <p:sp>
        <p:nvSpPr>
          <p:cNvPr id="59" name="Google Shape;59;g6dad9273e7_0_48"/>
          <p:cNvSpPr/>
          <p:nvPr/>
        </p:nvSpPr>
        <p:spPr>
          <a:xfrm>
            <a:off x="0" y="2"/>
            <a:ext cx="12192000" cy="1206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6dad9273e7_0_48"/>
          <p:cNvSpPr txBox="1">
            <a:spLocks noGrp="1"/>
          </p:cNvSpPr>
          <p:nvPr>
            <p:ph type="body" idx="1"/>
          </p:nvPr>
        </p:nvSpPr>
        <p:spPr>
          <a:xfrm>
            <a:off x="297706" y="1353807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g6dad9273e7_0_48"/>
          <p:cNvSpPr txBox="1">
            <a:spLocks noGrp="1"/>
          </p:cNvSpPr>
          <p:nvPr>
            <p:ph type="title"/>
          </p:nvPr>
        </p:nvSpPr>
        <p:spPr>
          <a:xfrm>
            <a:off x="0" y="23412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rgbClr val="F2F2F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dad9273e7_0_53"/>
          <p:cNvSpPr txBox="1">
            <a:spLocks noGrp="1"/>
          </p:cNvSpPr>
          <p:nvPr>
            <p:ph type="body" idx="1"/>
          </p:nvPr>
        </p:nvSpPr>
        <p:spPr>
          <a:xfrm>
            <a:off x="297706" y="1353807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g6dad9273e7_0_53"/>
          <p:cNvSpPr txBox="1"/>
          <p:nvPr/>
        </p:nvSpPr>
        <p:spPr>
          <a:xfrm>
            <a:off x="0" y="1"/>
            <a:ext cx="12192000" cy="10698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dad9273e7_0_4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420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  <p:sldLayoutId id="2147483661" r:id="rId11"/>
    <p:sldLayoutId id="214748366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5.svg"/><Relationship Id="rId12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7.svg"/><Relationship Id="rId5" Type="http://schemas.openxmlformats.org/officeDocument/2006/relationships/tags" Target="../tags/tag6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5.xml"/><Relationship Id="rId9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ssg/san_jose_housing/blob/master/config/features/mh_events.yaml#L2" TargetMode="Externa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ssg/masld_prediction" TargetMode="External"/><Relationship Id="rId2" Type="http://schemas.openxmlformats.org/officeDocument/2006/relationships/hyperlink" Target="https://dssg.github.io/triage_cookbook/configure/features.html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dssg/acdhs_housing_public/tree/main/pipeline/configs" TargetMode="External"/><Relationship Id="rId4" Type="http://schemas.openxmlformats.org/officeDocument/2006/relationships/hyperlink" Target="https://github.com/dssg/hmh_ckd/tree/main/triage_configs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tif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</a:rPr>
              <a:t>Feature Engineering and Imputation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595959"/>
                </a:solidFill>
              </a:rPr>
              <a:t>Rayid Ghani</a:t>
            </a:r>
            <a:endParaRPr sz="2800" dirty="0">
              <a:solidFill>
                <a:srgbClr val="595959"/>
              </a:solidFill>
            </a:endParaRPr>
          </a:p>
        </p:txBody>
      </p:sp>
      <p:pic>
        <p:nvPicPr>
          <p:cNvPr id="71" name="Google Shape;7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/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9477338" y="246376"/>
            <a:ext cx="2534195" cy="1778367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28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week: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Tomorrow: Group Check-Ins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Thursday: Triage Q&amp;A + time for group work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6200" indent="0">
              <a:buNone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620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Coming up after fall break: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Monday: Project Update 3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Tuesday: Weekly Feedback Form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Tuesday: Building Features in Triage</a:t>
            </a:r>
          </a:p>
        </p:txBody>
      </p:sp>
    </p:spTree>
    <p:extLst>
      <p:ext uri="{BB962C8B-B14F-4D97-AF65-F5344CB8AC3E}">
        <p14:creationId xmlns:p14="http://schemas.microsoft.com/office/powerpoint/2010/main" val="186046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B702-ED77-884E-88F7-92D73313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the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1BAD4-F7FB-1D48-9D37-2273592A7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you should be discussing this week within your team</a:t>
            </a:r>
          </a:p>
          <a:p>
            <a:pPr lvl="1"/>
            <a:r>
              <a:rPr lang="en-US" dirty="0"/>
              <a:t>Validation strategy &amp; temporal parameters</a:t>
            </a:r>
          </a:p>
          <a:p>
            <a:pPr lvl="1"/>
            <a:r>
              <a:rPr lang="en-US" dirty="0"/>
              <a:t>Brainstorming on features you’d like to build</a:t>
            </a:r>
          </a:p>
          <a:p>
            <a:pPr lvl="1"/>
            <a:endParaRPr lang="en-US" dirty="0"/>
          </a:p>
          <a:p>
            <a:r>
              <a:rPr lang="en-US" dirty="0"/>
              <a:t>What you should be building this week</a:t>
            </a:r>
          </a:p>
          <a:p>
            <a:pPr lvl="1"/>
            <a:r>
              <a:rPr lang="en-US" dirty="0"/>
              <a:t>Getting comfortable with running triage</a:t>
            </a:r>
          </a:p>
          <a:p>
            <a:pPr lvl="1"/>
            <a:r>
              <a:rPr lang="en-US" dirty="0"/>
              <a:t>Temporal Validation Parameters</a:t>
            </a:r>
          </a:p>
          <a:p>
            <a:pPr lvl="1"/>
            <a:r>
              <a:rPr lang="en-US" dirty="0"/>
              <a:t>Updated Cohort &amp; Label Queries</a:t>
            </a:r>
          </a:p>
        </p:txBody>
      </p:sp>
    </p:spTree>
    <p:extLst>
      <p:ext uri="{BB962C8B-B14F-4D97-AF65-F5344CB8AC3E}">
        <p14:creationId xmlns:p14="http://schemas.microsoft.com/office/powerpoint/2010/main" val="517800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8E8A16-2F7F-9443-93CD-17932D868828}"/>
              </a:ext>
            </a:extLst>
          </p:cNvPr>
          <p:cNvSpPr txBox="1"/>
          <p:nvPr/>
        </p:nvSpPr>
        <p:spPr>
          <a:xfrm>
            <a:off x="4572001" y="5979885"/>
            <a:ext cx="773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2014                          2015                              2016                           2017                          2018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A66AF8-5911-C4C0-8FEE-37A63809E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5516"/>
            <a:ext cx="4995772" cy="58624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E8F66F-F4C4-8A4B-BD28-D3552AF8B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682109"/>
            <a:ext cx="7772400" cy="349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27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AA672-F56C-2F41-B566-750991980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2F8AE-4F06-1B49-B482-20CE10B4D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validation set(s) to match deployment scenarios (and constraints)</a:t>
            </a:r>
          </a:p>
          <a:p>
            <a:endParaRPr lang="en-US" dirty="0"/>
          </a:p>
          <a:p>
            <a:r>
              <a:rPr lang="en-US" dirty="0"/>
              <a:t>Set up training set(s) any way we want but match data (both features and labels) available at training time</a:t>
            </a:r>
          </a:p>
          <a:p>
            <a:pPr lvl="1"/>
            <a:r>
              <a:rPr lang="en-US" dirty="0"/>
              <a:t>Making sure labels are not censored based on label period</a:t>
            </a:r>
          </a:p>
          <a:p>
            <a:pPr lvl="1"/>
            <a:r>
              <a:rPr lang="en-US" dirty="0"/>
              <a:t> Sampling (if helpful)</a:t>
            </a:r>
          </a:p>
          <a:p>
            <a:pPr lvl="1"/>
            <a:r>
              <a:rPr lang="en-US" dirty="0"/>
              <a:t>Data collection and update lag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591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0C6A8-0A3F-D65E-A0FE-D7E8A349A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61215"/>
            <a:ext cx="11360700" cy="763500"/>
          </a:xfrm>
        </p:spPr>
        <p:txBody>
          <a:bodyPr/>
          <a:lstStyle/>
          <a:p>
            <a:r>
              <a:rPr lang="en-US" dirty="0"/>
              <a:t>Which of these is a </a:t>
            </a:r>
            <a:r>
              <a:rPr lang="en-US" u="sng" dirty="0"/>
              <a:t>possible</a:t>
            </a:r>
            <a:r>
              <a:rPr lang="en-US" dirty="0"/>
              <a:t> PR-k curve on the same dataset as the one outlined? 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D43867-3053-5501-82F6-E3C3C29D3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5278"/>
            <a:ext cx="11776300" cy="535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8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2297B6-E7D2-A6DD-A8DA-F3F18F0835A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BDBEFF-44FC-DD79-3A7E-10B385976B4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FFFFFF"/>
                </a:solidFill>
              </a:rPr>
              <a:t>Given that the PR-k curve outlined is from a model applied to some validation data, which of the other curves shown could be from other models applied to the same validation data (check all that apply)?
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69DFCD-1558-930C-12A6-57FF1F982D6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F663EE5-E49B-2BE2-A98B-E90B000B0E3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A970E15A-18C5-C4E0-DF06-A2886BFB3FB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0A331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42A65F"/>
                </a:solidFill>
              </a:rPr>
              <a:t>Do not edit
</a:t>
            </a:r>
            <a:r>
              <a:rPr lang="en-US" sz="2200">
                <a:solidFill>
                  <a:srgbClr val="42A65F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42A65F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9933A29-AEB8-C04D-440E-3A511C2BF4E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1FB6CB-4E06-4853-9467-61A6B4E8C10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26024" y="1460875"/>
            <a:ext cx="8661946" cy="39362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908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59BA9-BA2B-D148-89DA-A99081B1F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We’ll Cover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3E0F-5F3D-5B4D-8232-BF72B84A1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Creation/Engineering</a:t>
            </a:r>
            <a:br>
              <a:rPr lang="en-US" dirty="0"/>
            </a:br>
            <a:endParaRPr lang="en-US" dirty="0"/>
          </a:p>
          <a:p>
            <a:r>
              <a:rPr lang="en-US" dirty="0"/>
              <a:t>Dealing with Missing Data</a:t>
            </a:r>
          </a:p>
          <a:p>
            <a:endParaRPr lang="en-US" dirty="0"/>
          </a:p>
          <a:p>
            <a:r>
              <a:rPr lang="en-US" dirty="0"/>
              <a:t>How to do features and imputation in Triage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185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4"/>
          <p:cNvSpPr txBox="1">
            <a:spLocks noGrp="1"/>
          </p:cNvSpPr>
          <p:nvPr>
            <p:ph type="title"/>
          </p:nvPr>
        </p:nvSpPr>
        <p:spPr>
          <a:xfrm>
            <a:off x="415601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"/>
              <a:t>Feature Engineering: Why do we care?</a:t>
            </a:r>
            <a:endParaRPr/>
          </a:p>
        </p:txBody>
      </p:sp>
      <p:sp>
        <p:nvSpPr>
          <p:cNvPr id="276" name="Google Shape;276;p54"/>
          <p:cNvSpPr txBox="1">
            <a:spLocks noGrp="1"/>
          </p:cNvSpPr>
          <p:nvPr>
            <p:ph type="body" idx="1"/>
          </p:nvPr>
        </p:nvSpPr>
        <p:spPr>
          <a:xfrm>
            <a:off x="415601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457189" indent="-372524">
              <a:buSzPts val="1800"/>
            </a:pPr>
            <a:r>
              <a:rPr lang="en"/>
              <a:t>Features are hypothesis/hints/rules of thumb you give your model</a:t>
            </a:r>
            <a:endParaRPr/>
          </a:p>
          <a:p>
            <a:pPr marL="914377" lvl="1" indent="-338658">
              <a:spcBef>
                <a:spcPts val="2133"/>
              </a:spcBef>
              <a:buSzPts val="1400"/>
            </a:pPr>
            <a:r>
              <a:rPr lang="en" sz="2000"/>
              <a:t>Encoding domain knowledge and context for the model to use</a:t>
            </a:r>
            <a:endParaRPr/>
          </a:p>
          <a:p>
            <a:pPr marL="457189" indent="-220128">
              <a:buSzPts val="1800"/>
              <a:buNone/>
            </a:pPr>
            <a:endParaRPr/>
          </a:p>
          <a:p>
            <a:pPr marL="457189" indent="-372524">
              <a:buSzPts val="1800"/>
            </a:pPr>
            <a:r>
              <a:rPr lang="en"/>
              <a:t>Feature generation is still a critical part of the machine learning modeling process </a:t>
            </a:r>
            <a:r>
              <a:rPr lang="en" b="1"/>
              <a:t>with tabular/relational data.</a:t>
            </a:r>
            <a:endParaRPr b="1"/>
          </a:p>
          <a:p>
            <a:pPr marL="0" indent="0">
              <a:buSzPts val="1800"/>
              <a:buNone/>
            </a:pPr>
            <a:endParaRPr/>
          </a:p>
          <a:p>
            <a:pPr marL="457189" indent="-220128"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2"/>
          <p:cNvSpPr txBox="1">
            <a:spLocks noGrp="1"/>
          </p:cNvSpPr>
          <p:nvPr>
            <p:ph type="title"/>
          </p:nvPr>
        </p:nvSpPr>
        <p:spPr>
          <a:xfrm>
            <a:off x="415600" y="27162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Feature Engineering: Why we need to do it</a:t>
            </a:r>
            <a:endParaRPr dirty="0"/>
          </a:p>
        </p:txBody>
      </p:sp>
      <p:sp>
        <p:nvSpPr>
          <p:cNvPr id="263" name="Google Shape;263;p5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chemeClr val="dk1"/>
                </a:solidFill>
              </a:rPr>
              <a:t>A pretrained language model helps on </a:t>
            </a:r>
            <a:r>
              <a:rPr lang="en" i="1" dirty="0">
                <a:solidFill>
                  <a:schemeClr val="dk1"/>
                </a:solidFill>
              </a:rPr>
              <a:t>your</a:t>
            </a:r>
            <a:r>
              <a:rPr lang="en" dirty="0">
                <a:solidFill>
                  <a:schemeClr val="dk1"/>
                </a:solidFill>
              </a:rPr>
              <a:t> text because grammar and world knowledge transfer.</a:t>
            </a:r>
            <a:br>
              <a:rPr lang="en" dirty="0">
                <a:solidFill>
                  <a:schemeClr val="dk1"/>
                </a:solidFill>
              </a:rPr>
            </a:b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A column named: x or x1 or dsl_event_1y may not mean anything in anyone else's dataset.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" dirty="0">
                <a:solidFill>
                  <a:schemeClr val="dk1"/>
                </a:solidFill>
              </a:rPr>
              <a:t>When there's no shared structure to learn from, the structure has to come from the ML Developers. That's what a feature is.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5"/>
          <p:cNvSpPr txBox="1">
            <a:spLocks noGrp="1"/>
          </p:cNvSpPr>
          <p:nvPr>
            <p:ph type="title"/>
          </p:nvPr>
        </p:nvSpPr>
        <p:spPr>
          <a:xfrm>
            <a:off x="415601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"/>
              <a:t>Key Points</a:t>
            </a:r>
            <a:endParaRPr/>
          </a:p>
        </p:txBody>
      </p:sp>
      <p:sp>
        <p:nvSpPr>
          <p:cNvPr id="283" name="Google Shape;283;p55"/>
          <p:cNvSpPr txBox="1">
            <a:spLocks noGrp="1"/>
          </p:cNvSpPr>
          <p:nvPr>
            <p:ph type="body" idx="1"/>
          </p:nvPr>
        </p:nvSpPr>
        <p:spPr>
          <a:xfrm>
            <a:off x="415600" y="1737884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2500" lnSpcReduction="10000"/>
          </a:bodyPr>
          <a:lstStyle/>
          <a:p>
            <a:pPr marL="457189" indent="-372524">
              <a:buSzPts val="1800"/>
            </a:pPr>
            <a:r>
              <a:rPr lang="en"/>
              <a:t>Data does not come with features - you need to turn it into features</a:t>
            </a:r>
            <a:endParaRPr/>
          </a:p>
          <a:p>
            <a:pPr marL="457189" indent="0">
              <a:buNone/>
            </a:pPr>
            <a:endParaRPr/>
          </a:p>
          <a:p>
            <a:pPr marL="457189" indent="-372524">
              <a:buSzPts val="1800"/>
            </a:pPr>
            <a:r>
              <a:rPr lang="en"/>
              <a:t>Big Constraint: When generating a feature, you need to know what did you know and </a:t>
            </a:r>
            <a:r>
              <a:rPr lang="en" b="1" u="sng"/>
              <a:t>when</a:t>
            </a:r>
            <a:r>
              <a:rPr lang="en"/>
              <a:t> did you know it?</a:t>
            </a:r>
            <a:endParaRPr/>
          </a:p>
          <a:p>
            <a:pPr marL="914377" indent="0">
              <a:spcBef>
                <a:spcPts val="2133"/>
              </a:spcBef>
              <a:buNone/>
            </a:pPr>
            <a:r>
              <a:rPr lang="en"/>
              <a:t>You can only create features from information available </a:t>
            </a:r>
            <a:r>
              <a:rPr lang="en" sz="3200" b="1">
                <a:solidFill>
                  <a:srgbClr val="FF0000"/>
                </a:solidFill>
              </a:rPr>
              <a:t>before</a:t>
            </a:r>
            <a:r>
              <a:rPr lang="en"/>
              <a:t> the “training” date for a given row</a:t>
            </a:r>
            <a:br>
              <a:rPr lang="en"/>
            </a:br>
            <a:endParaRPr/>
          </a:p>
          <a:p>
            <a:pPr marL="457189" indent="-372524">
              <a:buSzPts val="1800"/>
            </a:pPr>
            <a:r>
              <a:rPr lang="en"/>
              <a:t>Do it systematically instead of an arbitrary list of features</a:t>
            </a:r>
            <a:endParaRPr/>
          </a:p>
          <a:p>
            <a:pPr marL="457189" indent="0">
              <a:buNone/>
            </a:pPr>
            <a:endParaRPr/>
          </a:p>
          <a:p>
            <a:pPr marL="457189" indent="-372524">
              <a:buSzPts val="1800"/>
            </a:pPr>
            <a:r>
              <a:rPr lang="en"/>
              <a:t>Spend time understanding domain/expert knowledge and prior research in the application area you’re woking in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15600" y="86585"/>
            <a:ext cx="11360700" cy="763500"/>
          </a:xfrm>
        </p:spPr>
        <p:txBody>
          <a:bodyPr/>
          <a:lstStyle/>
          <a:p>
            <a:r>
              <a:rPr lang="en-US" dirty="0"/>
              <a:t>Feature development is an </a:t>
            </a:r>
            <a:r>
              <a:rPr lang="en-US" b="1" dirty="0"/>
              <a:t>iterative</a:t>
            </a:r>
            <a:r>
              <a:rPr lang="en-US" dirty="0"/>
              <a:t> process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865556934"/>
              </p:ext>
            </p:extLst>
          </p:nvPr>
        </p:nvGraphicFramePr>
        <p:xfrm>
          <a:off x="1990675" y="2420472"/>
          <a:ext cx="7013476" cy="41425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2AA2596-889F-CA4A-81F2-861C7AF734E0}"/>
              </a:ext>
            </a:extLst>
          </p:cNvPr>
          <p:cNvSpPr/>
          <p:nvPr/>
        </p:nvSpPr>
        <p:spPr>
          <a:xfrm>
            <a:off x="347830" y="1530907"/>
            <a:ext cx="113606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000" dirty="0"/>
              <a:t>Start simple: build a couple features (from each data source) you think are most important and expand from there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71801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in Feature Development: Examples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Inferring age/gender from name</a:t>
            </a:r>
            <a:br>
              <a:rPr lang="en-US" dirty="0"/>
            </a:br>
            <a:endParaRPr lang="en-US" dirty="0"/>
          </a:p>
          <a:p>
            <a:r>
              <a:rPr lang="en-US" dirty="0"/>
              <a:t>Creating "other" categories, e.g., multi-racial or non-binary gender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 are race and ethnicity collected? Self-reported? Recorded by third party? Inferred from other data?</a:t>
            </a:r>
            <a:br>
              <a:rPr lang="en-US" dirty="0"/>
            </a:br>
            <a:endParaRPr lang="en-US" dirty="0"/>
          </a:p>
          <a:p>
            <a:r>
              <a:rPr lang="en-US" dirty="0"/>
              <a:t>Geocoding for distance or geographic features –– how are homeless and more mobile populations handled?</a:t>
            </a:r>
          </a:p>
        </p:txBody>
      </p:sp>
    </p:spTree>
    <p:extLst>
      <p:ext uri="{BB962C8B-B14F-4D97-AF65-F5344CB8AC3E}">
        <p14:creationId xmlns:p14="http://schemas.microsoft.com/office/powerpoint/2010/main" val="456302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Generation: Practical Pointers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>
          <a:xfrm>
            <a:off x="415600" y="1536632"/>
            <a:ext cx="11360700" cy="5195471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800"/>
              </a:spcAft>
            </a:pPr>
            <a:r>
              <a:rPr lang="en-US" sz="2800" dirty="0"/>
              <a:t>Historical aggregations (especially of outcomes) are often the most predictive features (and give the model plenty of variations)</a:t>
            </a:r>
          </a:p>
          <a:p>
            <a:pPr>
              <a:spcAft>
                <a:spcPts val="1800"/>
              </a:spcAft>
            </a:pPr>
            <a:r>
              <a:rPr lang="en-US" sz="2800" dirty="0"/>
              <a:t>Aggregate outcomes for similar entities (for various definitions of “similar” are often very useful as well)</a:t>
            </a:r>
          </a:p>
          <a:p>
            <a:pPr>
              <a:spcAft>
                <a:spcPts val="1800"/>
              </a:spcAft>
            </a:pPr>
            <a:r>
              <a:rPr lang="en-US" sz="2800" dirty="0"/>
              <a:t>So are features that tell you how the current entity compares to the population</a:t>
            </a:r>
          </a:p>
          <a:p>
            <a:pPr>
              <a:spcAft>
                <a:spcPts val="1800"/>
              </a:spcAft>
            </a:pPr>
            <a:r>
              <a:rPr lang="en-US" sz="2800" dirty="0"/>
              <a:t>Make sure you handle missing data, and do so thoughtfully (DON’T throw away the records)</a:t>
            </a:r>
          </a:p>
          <a:p>
            <a:pPr>
              <a:spcAft>
                <a:spcPts val="1800"/>
              </a:spcAft>
            </a:pPr>
            <a:r>
              <a:rPr lang="en-US" sz="2800" dirty="0"/>
              <a:t>Remember to scale your features when necessary</a:t>
            </a:r>
          </a:p>
        </p:txBody>
      </p:sp>
    </p:spTree>
    <p:extLst>
      <p:ext uri="{BB962C8B-B14F-4D97-AF65-F5344CB8AC3E}">
        <p14:creationId xmlns:p14="http://schemas.microsoft.com/office/powerpoint/2010/main" val="172507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features are temporal aggregates, reflecting the nature of the data we typically get. Even gender, race, etc. can be a function of time (but may not be captured as such sometimes)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Need to specify what data you’re using and when that information was known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Need to specify how you’ll handle missingness explicitly</a:t>
            </a:r>
            <a:br>
              <a:rPr lang="en-US" dirty="0"/>
            </a:br>
            <a:endParaRPr lang="en-US" dirty="0"/>
          </a:p>
          <a:p>
            <a:r>
              <a:rPr lang="en-US" dirty="0"/>
              <a:t>YAML structure can take a little getting used to, but powerful for specifying many aggregations over many time frames in compact format</a:t>
            </a:r>
          </a:p>
        </p:txBody>
      </p:sp>
    </p:spTree>
    <p:extLst>
      <p:ext uri="{BB962C8B-B14F-4D97-AF65-F5344CB8AC3E}">
        <p14:creationId xmlns:p14="http://schemas.microsoft.com/office/powerpoint/2010/main" val="460448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 get defined in blocks (</a:t>
            </a:r>
            <a:r>
              <a:rPr lang="en-US" dirty="0">
                <a:solidFill>
                  <a:srgbClr val="FF0000"/>
                </a:solidFill>
              </a:rPr>
              <a:t>feature groups</a:t>
            </a:r>
            <a:r>
              <a:rPr lang="en-US" dirty="0"/>
              <a:t>) – each feature group comes from a data source (called </a:t>
            </a:r>
            <a:r>
              <a:rPr lang="en-US" dirty="0" err="1">
                <a:solidFill>
                  <a:srgbClr val="FF0000"/>
                </a:solidFill>
              </a:rPr>
              <a:t>from_obj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ym typeface="Wingdings" pitchFamily="2" charset="2"/>
              </a:rPr>
              <a:t>and all features in that feature group share a 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prefix</a:t>
            </a:r>
            <a:endParaRPr lang="en-US" dirty="0"/>
          </a:p>
          <a:p>
            <a:endParaRPr lang="en-US" dirty="0"/>
          </a:p>
          <a:p>
            <a:r>
              <a:rPr lang="en-US" dirty="0" err="1">
                <a:solidFill>
                  <a:srgbClr val="FF0000"/>
                </a:solidFill>
              </a:rPr>
              <a:t>from_obj</a:t>
            </a:r>
            <a:r>
              <a:rPr lang="en-US" dirty="0">
                <a:solidFill>
                  <a:srgbClr val="FF0000"/>
                </a:solidFill>
              </a:rPr>
              <a:t> : </a:t>
            </a:r>
            <a:r>
              <a:rPr lang="en-US" dirty="0">
                <a:sym typeface="Wingdings" pitchFamily="2" charset="2"/>
              </a:rPr>
              <a:t>can be a table or </a:t>
            </a:r>
            <a:r>
              <a:rPr lang="en-US" dirty="0" err="1">
                <a:sym typeface="Wingdings" pitchFamily="2" charset="2"/>
              </a:rPr>
              <a:t>sql</a:t>
            </a:r>
            <a:r>
              <a:rPr lang="en-US" dirty="0">
                <a:sym typeface="Wingdings" pitchFamily="2" charset="2"/>
              </a:rPr>
              <a:t> query </a:t>
            </a:r>
            <a:r>
              <a:rPr lang="en-US" dirty="0"/>
              <a:t>and needs a field for </a:t>
            </a:r>
            <a:r>
              <a:rPr lang="en-US" dirty="0" err="1">
                <a:solidFill>
                  <a:srgbClr val="FF0000"/>
                </a:solidFill>
              </a:rPr>
              <a:t>entity_id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a </a:t>
            </a:r>
            <a:r>
              <a:rPr lang="en-US" dirty="0" err="1">
                <a:solidFill>
                  <a:srgbClr val="FF0000"/>
                </a:solidFill>
              </a:rPr>
              <a:t>knowledge_date_column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field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that specifies when that event happened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233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 – aggregate features</a:t>
            </a:r>
          </a:p>
        </p:txBody>
      </p:sp>
      <p:pic>
        <p:nvPicPr>
          <p:cNvPr id="6" name="Google Shape;360;p31">
            <a:extLst>
              <a:ext uri="{FF2B5EF4-FFF2-40B4-BE49-F238E27FC236}">
                <a16:creationId xmlns:a16="http://schemas.microsoft.com/office/drawing/2014/main" id="{F639CF4D-F46A-4A46-9F18-B2A0130E6F2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1517"/>
          <a:stretch/>
        </p:blipFill>
        <p:spPr>
          <a:xfrm>
            <a:off x="268552" y="1475202"/>
            <a:ext cx="5464983" cy="448718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62;p31">
            <a:extLst>
              <a:ext uri="{FF2B5EF4-FFF2-40B4-BE49-F238E27FC236}">
                <a16:creationId xmlns:a16="http://schemas.microsoft.com/office/drawing/2014/main" id="{5FA8DA65-E5A6-8F45-BE0B-68902ECB02D6}"/>
              </a:ext>
            </a:extLst>
          </p:cNvPr>
          <p:cNvSpPr txBox="1"/>
          <p:nvPr/>
        </p:nvSpPr>
        <p:spPr>
          <a:xfrm>
            <a:off x="5870066" y="2615359"/>
            <a:ext cx="4877265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000" b="1" dirty="0" err="1">
                <a:latin typeface="Calibri"/>
                <a:ea typeface="Calibri"/>
                <a:cs typeface="Calibri"/>
                <a:sym typeface="Calibri"/>
              </a:rPr>
              <a:t>mputation</a:t>
            </a: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 method for missing data  - default for this group (each feature can override this)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363;p31">
            <a:extLst>
              <a:ext uri="{FF2B5EF4-FFF2-40B4-BE49-F238E27FC236}">
                <a16:creationId xmlns:a16="http://schemas.microsoft.com/office/drawing/2014/main" id="{6529FA95-7C73-5B4C-B71F-2B0A41A3A50C}"/>
              </a:ext>
            </a:extLst>
          </p:cNvPr>
          <p:cNvCxnSpPr>
            <a:cxnSpLocks/>
          </p:cNvCxnSpPr>
          <p:nvPr/>
        </p:nvCxnSpPr>
        <p:spPr>
          <a:xfrm flipH="1">
            <a:off x="3064476" y="2879506"/>
            <a:ext cx="2843166" cy="677678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364;p31">
            <a:extLst>
              <a:ext uri="{FF2B5EF4-FFF2-40B4-BE49-F238E27FC236}">
                <a16:creationId xmlns:a16="http://schemas.microsoft.com/office/drawing/2014/main" id="{FBC73B23-CE31-404F-B3DF-3C7B115315E5}"/>
              </a:ext>
            </a:extLst>
          </p:cNvPr>
          <p:cNvCxnSpPr>
            <a:cxnSpLocks/>
          </p:cNvCxnSpPr>
          <p:nvPr/>
        </p:nvCxnSpPr>
        <p:spPr>
          <a:xfrm flipH="1">
            <a:off x="3361038" y="1863678"/>
            <a:ext cx="2524896" cy="589159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365;p31">
            <a:extLst>
              <a:ext uri="{FF2B5EF4-FFF2-40B4-BE49-F238E27FC236}">
                <a16:creationId xmlns:a16="http://schemas.microsoft.com/office/drawing/2014/main" id="{FDD009F4-010D-BD4C-9032-29B0D2C08419}"/>
              </a:ext>
            </a:extLst>
          </p:cNvPr>
          <p:cNvSpPr txBox="1"/>
          <p:nvPr/>
        </p:nvSpPr>
        <p:spPr>
          <a:xfrm>
            <a:off x="5907642" y="1690334"/>
            <a:ext cx="5914629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Table or SQL snippet (used to generate the feature)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366;p31">
            <a:extLst>
              <a:ext uri="{FF2B5EF4-FFF2-40B4-BE49-F238E27FC236}">
                <a16:creationId xmlns:a16="http://schemas.microsoft.com/office/drawing/2014/main" id="{2F6DA084-2F60-7645-9E31-EE51047BDCE6}"/>
              </a:ext>
            </a:extLst>
          </p:cNvPr>
          <p:cNvCxnSpPr>
            <a:cxnSpLocks/>
          </p:cNvCxnSpPr>
          <p:nvPr/>
        </p:nvCxnSpPr>
        <p:spPr>
          <a:xfrm flipH="1">
            <a:off x="2483708" y="3897959"/>
            <a:ext cx="3423934" cy="726051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367;p31">
            <a:extLst>
              <a:ext uri="{FF2B5EF4-FFF2-40B4-BE49-F238E27FC236}">
                <a16:creationId xmlns:a16="http://schemas.microsoft.com/office/drawing/2014/main" id="{F2AC1F08-9383-D24B-9D21-A11FD31E42F8}"/>
              </a:ext>
            </a:extLst>
          </p:cNvPr>
          <p:cNvSpPr txBox="1"/>
          <p:nvPr/>
        </p:nvSpPr>
        <p:spPr>
          <a:xfrm>
            <a:off x="5893167" y="3756488"/>
            <a:ext cx="5952205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Column or SQL snippet and aggregation function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Google Shape;368;p31">
            <a:extLst>
              <a:ext uri="{FF2B5EF4-FFF2-40B4-BE49-F238E27FC236}">
                <a16:creationId xmlns:a16="http://schemas.microsoft.com/office/drawing/2014/main" id="{A2EBC366-7C25-3B4D-9EC9-58C6705C2B40}"/>
              </a:ext>
            </a:extLst>
          </p:cNvPr>
          <p:cNvCxnSpPr/>
          <p:nvPr/>
        </p:nvCxnSpPr>
        <p:spPr>
          <a:xfrm flipH="1">
            <a:off x="5588667" y="5542102"/>
            <a:ext cx="609000" cy="11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Google Shape;369;p31">
            <a:extLst>
              <a:ext uri="{FF2B5EF4-FFF2-40B4-BE49-F238E27FC236}">
                <a16:creationId xmlns:a16="http://schemas.microsoft.com/office/drawing/2014/main" id="{DFCDACD2-5AB9-FB42-9E3E-61E65181D072}"/>
              </a:ext>
            </a:extLst>
          </p:cNvPr>
          <p:cNvSpPr txBox="1"/>
          <p:nvPr/>
        </p:nvSpPr>
        <p:spPr>
          <a:xfrm>
            <a:off x="6121467" y="5219605"/>
            <a:ext cx="4625864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Historical time periods for aggregation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Google Shape;364;p31">
            <a:extLst>
              <a:ext uri="{FF2B5EF4-FFF2-40B4-BE49-F238E27FC236}">
                <a16:creationId xmlns:a16="http://schemas.microsoft.com/office/drawing/2014/main" id="{DA00C2C9-7609-72F9-9410-0951CD83E500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3519814" y="2432351"/>
            <a:ext cx="2502652" cy="388476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365;p31">
            <a:extLst>
              <a:ext uri="{FF2B5EF4-FFF2-40B4-BE49-F238E27FC236}">
                <a16:creationId xmlns:a16="http://schemas.microsoft.com/office/drawing/2014/main" id="{C6D82868-2F1A-CB80-4B39-3E052700179B}"/>
              </a:ext>
            </a:extLst>
          </p:cNvPr>
          <p:cNvSpPr txBox="1"/>
          <p:nvPr/>
        </p:nvSpPr>
        <p:spPr>
          <a:xfrm>
            <a:off x="6022466" y="2195501"/>
            <a:ext cx="5753833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ate field specifying when the event happened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364;p31">
            <a:extLst>
              <a:ext uri="{FF2B5EF4-FFF2-40B4-BE49-F238E27FC236}">
                <a16:creationId xmlns:a16="http://schemas.microsoft.com/office/drawing/2014/main" id="{6892F1CB-BB4D-7097-9601-98FB5F183972}"/>
              </a:ext>
            </a:extLst>
          </p:cNvPr>
          <p:cNvCxnSpPr>
            <a:cxnSpLocks/>
          </p:cNvCxnSpPr>
          <p:nvPr/>
        </p:nvCxnSpPr>
        <p:spPr>
          <a:xfrm flipH="1">
            <a:off x="2931090" y="1453084"/>
            <a:ext cx="3000307" cy="785263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365;p31">
            <a:extLst>
              <a:ext uri="{FF2B5EF4-FFF2-40B4-BE49-F238E27FC236}">
                <a16:creationId xmlns:a16="http://schemas.microsoft.com/office/drawing/2014/main" id="{8BA77B62-0726-1750-30BE-B242BB5FDC58}"/>
              </a:ext>
            </a:extLst>
          </p:cNvPr>
          <p:cNvSpPr txBox="1"/>
          <p:nvPr/>
        </p:nvSpPr>
        <p:spPr>
          <a:xfrm>
            <a:off x="5953105" y="1279740"/>
            <a:ext cx="5914629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Naming P</a:t>
            </a: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refix shared by all the features in this group 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366;p31">
            <a:extLst>
              <a:ext uri="{FF2B5EF4-FFF2-40B4-BE49-F238E27FC236}">
                <a16:creationId xmlns:a16="http://schemas.microsoft.com/office/drawing/2014/main" id="{82FC41AB-5924-E2D6-0960-C95A7C0DE1B1}"/>
              </a:ext>
            </a:extLst>
          </p:cNvPr>
          <p:cNvCxnSpPr>
            <a:cxnSpLocks/>
          </p:cNvCxnSpPr>
          <p:nvPr/>
        </p:nvCxnSpPr>
        <p:spPr>
          <a:xfrm flipH="1">
            <a:off x="2329841" y="3897959"/>
            <a:ext cx="3601556" cy="1231493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710217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Categorical features</a:t>
            </a:r>
          </a:p>
        </p:txBody>
      </p:sp>
      <p:pic>
        <p:nvPicPr>
          <p:cNvPr id="15" name="Google Shape;374;p32">
            <a:extLst>
              <a:ext uri="{FF2B5EF4-FFF2-40B4-BE49-F238E27FC236}">
                <a16:creationId xmlns:a16="http://schemas.microsoft.com/office/drawing/2014/main" id="{96658BB8-39C3-334B-8D4F-2527D220FB5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2282"/>
          <a:stretch/>
        </p:blipFill>
        <p:spPr>
          <a:xfrm>
            <a:off x="160638" y="1469856"/>
            <a:ext cx="4868561" cy="439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76;p32">
            <a:extLst>
              <a:ext uri="{FF2B5EF4-FFF2-40B4-BE49-F238E27FC236}">
                <a16:creationId xmlns:a16="http://schemas.microsoft.com/office/drawing/2014/main" id="{8142FD36-EDCE-734D-8AD5-ACE3E58DF356}"/>
              </a:ext>
            </a:extLst>
          </p:cNvPr>
          <p:cNvSpPr txBox="1"/>
          <p:nvPr/>
        </p:nvSpPr>
        <p:spPr>
          <a:xfrm>
            <a:off x="5262595" y="2791281"/>
            <a:ext cx="25755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Similar structure for categoricals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377;p32">
            <a:extLst>
              <a:ext uri="{FF2B5EF4-FFF2-40B4-BE49-F238E27FC236}">
                <a16:creationId xmlns:a16="http://schemas.microsoft.com/office/drawing/2014/main" id="{D23696E0-1F1B-214A-B21A-E9C35A4E337C}"/>
              </a:ext>
            </a:extLst>
          </p:cNvPr>
          <p:cNvCxnSpPr>
            <a:cxnSpLocks/>
          </p:cNvCxnSpPr>
          <p:nvPr/>
        </p:nvCxnSpPr>
        <p:spPr>
          <a:xfrm flipH="1">
            <a:off x="2724670" y="3145581"/>
            <a:ext cx="2575500" cy="60575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378;p32">
            <a:extLst>
              <a:ext uri="{FF2B5EF4-FFF2-40B4-BE49-F238E27FC236}">
                <a16:creationId xmlns:a16="http://schemas.microsoft.com/office/drawing/2014/main" id="{441C19BB-6061-3249-9980-AF2EC0D1FA70}"/>
              </a:ext>
            </a:extLst>
          </p:cNvPr>
          <p:cNvCxnSpPr>
            <a:cxnSpLocks/>
          </p:cNvCxnSpPr>
          <p:nvPr/>
        </p:nvCxnSpPr>
        <p:spPr>
          <a:xfrm flipH="1">
            <a:off x="3793524" y="4133906"/>
            <a:ext cx="1506646" cy="311925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379;p32">
            <a:extLst>
              <a:ext uri="{FF2B5EF4-FFF2-40B4-BE49-F238E27FC236}">
                <a16:creationId xmlns:a16="http://schemas.microsoft.com/office/drawing/2014/main" id="{7BBE3A5B-371F-5F47-AB13-3C53804B9A02}"/>
              </a:ext>
            </a:extLst>
          </p:cNvPr>
          <p:cNvSpPr txBox="1"/>
          <p:nvPr/>
        </p:nvSpPr>
        <p:spPr>
          <a:xfrm>
            <a:off x="5262594" y="3751331"/>
            <a:ext cx="5735257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Specify categorical values as a list or through a query (such as </a:t>
            </a:r>
            <a:r>
              <a:rPr lang="en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select distinct value from </a:t>
            </a:r>
            <a:r>
              <a:rPr lang="en" sz="20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tablename</a:t>
            </a: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9543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Naming Conventions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For aggregates:</a:t>
            </a:r>
          </a:p>
          <a:p>
            <a:pPr marL="76200" indent="0">
              <a:buNone/>
            </a:pP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{prefix}_</a:t>
            </a:r>
            <a:r>
              <a:rPr lang="en-US" b="0" i="0" dirty="0" err="1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entity_id</a:t>
            </a: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_{interval}_{quantity}_{metric}</a:t>
            </a:r>
          </a:p>
          <a:p>
            <a:pPr marL="76200" indent="0">
              <a:buNone/>
            </a:pPr>
            <a:endParaRPr lang="en-US" dirty="0">
              <a:solidFill>
                <a:srgbClr val="8A0002"/>
              </a:solidFill>
              <a:latin typeface="Menlo" panose="020B0609030804020204" pitchFamily="49" charset="0"/>
            </a:endParaRPr>
          </a:p>
          <a:p>
            <a:pPr marL="76200" indent="0">
              <a:buNone/>
            </a:pPr>
            <a:endParaRPr lang="en-US" dirty="0">
              <a:solidFill>
                <a:srgbClr val="8A0002"/>
              </a:solidFill>
              <a:latin typeface="Menlo" panose="020B0609030804020204" pitchFamily="49" charset="0"/>
            </a:endParaRPr>
          </a:p>
          <a:p>
            <a:pPr marL="76200" indent="0">
              <a:buNone/>
            </a:pPr>
            <a:r>
              <a:rPr lang="en-US" dirty="0"/>
              <a:t>For </a:t>
            </a:r>
            <a:r>
              <a:rPr lang="en-US" dirty="0" err="1"/>
              <a:t>categoricals</a:t>
            </a:r>
            <a:r>
              <a:rPr lang="en-US" dirty="0"/>
              <a:t>:</a:t>
            </a:r>
          </a:p>
          <a:p>
            <a:pPr marL="76200" indent="0">
              <a:buNone/>
            </a:pP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{prefix}_</a:t>
            </a:r>
            <a:r>
              <a:rPr lang="en-US" b="0" i="0" dirty="0" err="1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entity_id</a:t>
            </a: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_{interval}_{quantity}_{value}_{metric}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182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Naming Conventions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For aggregates:</a:t>
            </a:r>
          </a:p>
          <a:p>
            <a:pPr marL="76200" indent="0">
              <a:buNone/>
            </a:pP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{prefix}_</a:t>
            </a:r>
            <a:r>
              <a:rPr lang="en-US" b="0" i="0" dirty="0" err="1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entity_id</a:t>
            </a: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_{interval}_{quantity}_{metric}</a:t>
            </a:r>
          </a:p>
          <a:p>
            <a:pPr marL="76200" indent="0">
              <a:buNone/>
            </a:pPr>
            <a:endParaRPr lang="en-US" dirty="0">
              <a:solidFill>
                <a:srgbClr val="8A0002"/>
              </a:solidFill>
              <a:latin typeface="Menlo" panose="020B0609030804020204" pitchFamily="49" charset="0"/>
            </a:endParaRPr>
          </a:p>
          <a:p>
            <a:pPr marL="76200" indent="0">
              <a:buNone/>
            </a:pPr>
            <a:endParaRPr lang="en-US" dirty="0">
              <a:solidFill>
                <a:srgbClr val="8A0002"/>
              </a:solidFill>
              <a:latin typeface="Menlo" panose="020B0609030804020204" pitchFamily="49" charset="0"/>
            </a:endParaRPr>
          </a:p>
          <a:p>
            <a:pPr marL="76200" indent="0">
              <a:buNone/>
            </a:pPr>
            <a:r>
              <a:rPr lang="en-US" dirty="0"/>
              <a:t>For </a:t>
            </a:r>
            <a:r>
              <a:rPr lang="en-US" dirty="0" err="1"/>
              <a:t>categoricals</a:t>
            </a:r>
            <a:r>
              <a:rPr lang="en-US" dirty="0"/>
              <a:t>:</a:t>
            </a:r>
          </a:p>
          <a:p>
            <a:pPr marL="76200" indent="0">
              <a:buNone/>
            </a:pP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{prefix}_</a:t>
            </a:r>
            <a:r>
              <a:rPr lang="en-US" b="0" i="0" dirty="0" err="1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entity_id</a:t>
            </a: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_{interval}_{quantity}_{value}_{metric}</a:t>
            </a:r>
            <a:br>
              <a:rPr lang="en-US" dirty="0"/>
            </a:br>
            <a:endParaRPr lang="en-US" dirty="0"/>
          </a:p>
        </p:txBody>
      </p:sp>
      <p:sp>
        <p:nvSpPr>
          <p:cNvPr id="4" name="Google Shape;376;p32">
            <a:extLst>
              <a:ext uri="{FF2B5EF4-FFF2-40B4-BE49-F238E27FC236}">
                <a16:creationId xmlns:a16="http://schemas.microsoft.com/office/drawing/2014/main" id="{0861BD14-5019-3446-BB19-489B97803546}"/>
              </a:ext>
            </a:extLst>
          </p:cNvPr>
          <p:cNvSpPr txBox="1"/>
          <p:nvPr/>
        </p:nvSpPr>
        <p:spPr>
          <a:xfrm>
            <a:off x="5251837" y="5131783"/>
            <a:ext cx="3182158" cy="1129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 note: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Even </a:t>
            </a:r>
            <a:r>
              <a:rPr lang="en" sz="20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categoricals</a:t>
            </a: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need to be aggregated over time!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" name="Google Shape;377;p32">
            <a:extLst>
              <a:ext uri="{FF2B5EF4-FFF2-40B4-BE49-F238E27FC236}">
                <a16:creationId xmlns:a16="http://schemas.microsoft.com/office/drawing/2014/main" id="{22750E78-1A72-D24F-9AE1-0FC392DACB40}"/>
              </a:ext>
            </a:extLst>
          </p:cNvPr>
          <p:cNvCxnSpPr>
            <a:cxnSpLocks/>
          </p:cNvCxnSpPr>
          <p:nvPr/>
        </p:nvCxnSpPr>
        <p:spPr>
          <a:xfrm flipH="1" flipV="1">
            <a:off x="4765638" y="4152452"/>
            <a:ext cx="523774" cy="1333631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64881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48B8-BA69-C99B-BAC9-CBEABDE7C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</a:t>
            </a:r>
            <a:r>
              <a:rPr lang="en-US" dirty="0" err="1"/>
              <a:t>Aggregaton</a:t>
            </a:r>
            <a:r>
              <a:rPr lang="en-US" dirty="0"/>
              <a:t> and Imputation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BAA06-231A-D9A3-D456-E52DF9055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709433"/>
            <a:ext cx="11360700" cy="4555200"/>
          </a:xfrm>
        </p:spPr>
        <p:txBody>
          <a:bodyPr/>
          <a:lstStyle/>
          <a:p>
            <a:r>
              <a:rPr lang="en-US" dirty="0"/>
              <a:t>Aggregation functions available: 'min', 'max', 'sum', 'avg', '</a:t>
            </a:r>
            <a:r>
              <a:rPr lang="en-US" dirty="0" err="1"/>
              <a:t>stddev</a:t>
            </a:r>
            <a:r>
              <a:rPr lang="en-US" dirty="0"/>
              <a:t>' </a:t>
            </a:r>
          </a:p>
          <a:p>
            <a:endParaRPr lang="en-US" dirty="0"/>
          </a:p>
          <a:p>
            <a:r>
              <a:rPr lang="en-US" dirty="0"/>
              <a:t>Imputation options: need to be defined at least for each feature group. For </a:t>
            </a:r>
            <a:r>
              <a:rPr lang="en-US" dirty="0" err="1"/>
              <a:t>eacjh</a:t>
            </a:r>
            <a:r>
              <a:rPr lang="en-US" dirty="0"/>
              <a:t> feature group, there can be default imputation methods defined  for aggregate and categorical features, or at any level below that (for each  aggregation function or for each feature generated)</a:t>
            </a:r>
          </a:p>
          <a:p>
            <a:pPr marL="914400" lvl="3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Mean</a:t>
            </a:r>
          </a:p>
          <a:p>
            <a:pPr marL="914400" lvl="3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Zero_noflag</a:t>
            </a:r>
            <a:endParaRPr lang="en-US" dirty="0"/>
          </a:p>
          <a:p>
            <a:pPr marL="914400" lvl="3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Constant value</a:t>
            </a:r>
          </a:p>
          <a:p>
            <a:pPr marL="914400" lvl="3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Zero</a:t>
            </a:r>
          </a:p>
          <a:p>
            <a:pPr marL="914400" lvl="3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null_category</a:t>
            </a:r>
            <a:endParaRPr lang="en-US" dirty="0"/>
          </a:p>
          <a:p>
            <a:pPr marL="914400" lvl="3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binary_mode</a:t>
            </a:r>
            <a:endParaRPr lang="en-US" dirty="0"/>
          </a:p>
          <a:p>
            <a:pPr marL="914400" lvl="3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error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667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6A269-7D7C-5599-B408-3DF1E8EC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33D8B-4762-7029-EE8E-F61418B4C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Categorical features</a:t>
            </a:r>
          </a:p>
          <a:p>
            <a:pPr lvl="1"/>
            <a:r>
              <a:rPr lang="en-US" dirty="0"/>
              <a:t>Dummy for all values</a:t>
            </a:r>
          </a:p>
          <a:p>
            <a:pPr lvl="1"/>
            <a:r>
              <a:rPr lang="en-US" dirty="0"/>
              <a:t>Dummy for selected values</a:t>
            </a:r>
          </a:p>
          <a:p>
            <a:r>
              <a:rPr lang="en-US" dirty="0"/>
              <a:t>Continuous features – aggregates over the past X time</a:t>
            </a:r>
          </a:p>
          <a:p>
            <a:r>
              <a:rPr lang="en-US" dirty="0"/>
              <a:t>Special types of features</a:t>
            </a:r>
          </a:p>
          <a:p>
            <a:pPr lvl="1"/>
            <a:r>
              <a:rPr lang="en-US" dirty="0"/>
              <a:t>Age Feature</a:t>
            </a:r>
          </a:p>
          <a:p>
            <a:pPr lvl="1"/>
            <a:r>
              <a:rPr lang="en-US" dirty="0"/>
              <a:t>Days since last event (by type) – min</a:t>
            </a:r>
          </a:p>
          <a:p>
            <a:pPr lvl="1"/>
            <a:r>
              <a:rPr lang="en-US" dirty="0"/>
              <a:t>Days since first event (by type) – max</a:t>
            </a:r>
          </a:p>
          <a:p>
            <a:pPr lvl="1"/>
            <a:r>
              <a:rPr lang="en-US" dirty="0"/>
              <a:t>Days between events (by type) – min, max, avg, </a:t>
            </a:r>
            <a:r>
              <a:rPr lang="en-US" dirty="0" err="1"/>
              <a:t>stddev</a:t>
            </a:r>
            <a:r>
              <a:rPr lang="en-US" dirty="0"/>
              <a:t> </a:t>
            </a:r>
            <a:r>
              <a:rPr lang="en-US" sz="1200" dirty="0"/>
              <a:t>(</a:t>
            </a:r>
            <a:r>
              <a:rPr lang="en-US" sz="1200" dirty="0">
                <a:solidFill>
                  <a:srgbClr val="8A000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Days between inspection cases in San Jose</a:t>
            </a:r>
            <a:r>
              <a:rPr lang="en-US" sz="1200" dirty="0">
                <a:solidFill>
                  <a:srgbClr val="8A0002"/>
                </a:solidFill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430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42AF3-B175-3B24-0DEA-32DB6A957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Triage Detour</a:t>
            </a:r>
          </a:p>
        </p:txBody>
      </p:sp>
    </p:spTree>
    <p:extLst>
      <p:ext uri="{BB962C8B-B14F-4D97-AF65-F5344CB8AC3E}">
        <p14:creationId xmlns:p14="http://schemas.microsoft.com/office/powerpoint/2010/main" val="2818971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Some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8A0002"/>
                </a:solidFill>
                <a:hlinkClick r:id="rId2"/>
              </a:rPr>
              <a:t>https://dssg.github.io/triage_cookbook/configure/features.html</a:t>
            </a:r>
            <a:endParaRPr lang="en-US" dirty="0">
              <a:solidFill>
                <a:srgbClr val="8A0002"/>
              </a:solidFill>
            </a:endParaRPr>
          </a:p>
          <a:p>
            <a:endParaRPr lang="en-US" dirty="0">
              <a:solidFill>
                <a:srgbClr val="8A0002"/>
              </a:solidFill>
            </a:endParaRPr>
          </a:p>
          <a:p>
            <a:r>
              <a:rPr lang="en-US" dirty="0">
                <a:solidFill>
                  <a:srgbClr val="8A0002"/>
                </a:solidFill>
                <a:hlinkClick r:id="rId3"/>
              </a:rPr>
              <a:t>Liver disease prediction project</a:t>
            </a:r>
            <a:endParaRPr lang="en-US" dirty="0">
              <a:solidFill>
                <a:srgbClr val="8A0002"/>
              </a:solidFill>
            </a:endParaRPr>
          </a:p>
          <a:p>
            <a:endParaRPr lang="en-US" dirty="0">
              <a:solidFill>
                <a:srgbClr val="8A0002"/>
              </a:solidFill>
            </a:endParaRPr>
          </a:p>
          <a:p>
            <a:r>
              <a:rPr lang="en-US" dirty="0">
                <a:solidFill>
                  <a:srgbClr val="8A0002"/>
                </a:solidFill>
                <a:hlinkClick r:id="rId4"/>
              </a:rPr>
              <a:t>Kidney disease prediction project</a:t>
            </a:r>
            <a:endParaRPr lang="en-US" dirty="0">
              <a:solidFill>
                <a:srgbClr val="8A0002"/>
              </a:solidFill>
            </a:endParaRPr>
          </a:p>
          <a:p>
            <a:endParaRPr lang="en-US" dirty="0">
              <a:solidFill>
                <a:srgbClr val="8A0002"/>
              </a:solidFill>
            </a:endParaRPr>
          </a:p>
          <a:p>
            <a:r>
              <a:rPr lang="en-US" dirty="0">
                <a:solidFill>
                  <a:srgbClr val="8A0002"/>
                </a:solidFill>
                <a:hlinkClick r:id="rId5"/>
              </a:rPr>
              <a:t>Homelessness prevention project</a:t>
            </a:r>
            <a:endParaRPr lang="en-US" dirty="0">
              <a:solidFill>
                <a:srgbClr val="8A0002"/>
              </a:solidFill>
            </a:endParaRPr>
          </a:p>
          <a:p>
            <a:endParaRPr lang="en-US" dirty="0">
              <a:solidFill>
                <a:srgbClr val="8A0002"/>
              </a:solidFill>
            </a:endParaRPr>
          </a:p>
          <a:p>
            <a:endParaRPr lang="en-US" dirty="0">
              <a:solidFill>
                <a:srgbClr val="8A00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156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Some Considerations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2"/>
            <a:ext cx="11360700" cy="4971743"/>
          </a:xfrm>
        </p:spPr>
        <p:txBody>
          <a:bodyPr/>
          <a:lstStyle/>
          <a:p>
            <a:r>
              <a:rPr lang="en-US" dirty="0"/>
              <a:t>No built-in way to do “most recent value” (need to pre-compute)</a:t>
            </a:r>
            <a:br>
              <a:rPr lang="en-US" dirty="0"/>
            </a:br>
            <a:endParaRPr lang="en-US" dirty="0"/>
          </a:p>
          <a:p>
            <a:r>
              <a:rPr lang="en-US" dirty="0"/>
              <a:t>Single/identical values still considered aggregates (can just take “max”)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Categoricals</a:t>
            </a:r>
            <a:r>
              <a:rPr lang="en-US" dirty="0"/>
              <a:t> get aggregated, too (one-hot encoded first)</a:t>
            </a:r>
            <a:br>
              <a:rPr lang="en-US" dirty="0"/>
            </a:br>
            <a:endParaRPr lang="en-US" dirty="0"/>
          </a:p>
          <a:p>
            <a:r>
              <a:rPr lang="en-US" dirty="0"/>
              <a:t>Postgres column length limits / truncation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Need to specify imputation strategy for all features (can do at aggregate-level)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May want to pre-compute especially computationally expensive features</a:t>
            </a:r>
          </a:p>
        </p:txBody>
      </p:sp>
    </p:spTree>
    <p:extLst>
      <p:ext uri="{BB962C8B-B14F-4D97-AF65-F5344CB8AC3E}">
        <p14:creationId xmlns:p14="http://schemas.microsoft.com/office/powerpoint/2010/main" val="186906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Generation – A Deeper Look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Categorical to Binary (Dummies)</a:t>
            </a:r>
          </a:p>
          <a:p>
            <a:r>
              <a:rPr lang="en-US" dirty="0"/>
              <a:t>Features for missing values</a:t>
            </a:r>
          </a:p>
          <a:p>
            <a:r>
              <a:rPr lang="en-US" dirty="0"/>
              <a:t>Discretization</a:t>
            </a:r>
          </a:p>
          <a:p>
            <a:r>
              <a:rPr lang="en-US" dirty="0"/>
              <a:t>Date/Time Features</a:t>
            </a:r>
          </a:p>
          <a:p>
            <a:r>
              <a:rPr lang="en-US" dirty="0"/>
              <a:t>Scaling/Normalizing</a:t>
            </a:r>
          </a:p>
          <a:p>
            <a:r>
              <a:rPr lang="en-US" dirty="0"/>
              <a:t>Transformations</a:t>
            </a:r>
          </a:p>
          <a:p>
            <a:r>
              <a:rPr lang="en-US" b="1" dirty="0"/>
              <a:t>Aggregations (space, time, space and time)</a:t>
            </a:r>
          </a:p>
          <a:p>
            <a:r>
              <a:rPr lang="en-US" b="1" dirty="0"/>
              <a:t>Relative (compared to the average</a:t>
            </a:r>
            <a:r>
              <a:rPr lang="mr-IN" b="1" dirty="0"/>
              <a:t>…</a:t>
            </a:r>
            <a:r>
              <a:rPr lang="en-US" b="1" dirty="0"/>
              <a:t>)</a:t>
            </a:r>
          </a:p>
          <a:p>
            <a:r>
              <a:rPr lang="en-US" dirty="0"/>
              <a:t>Interactions</a:t>
            </a:r>
          </a:p>
        </p:txBody>
      </p:sp>
    </p:spTree>
    <p:extLst>
      <p:ext uri="{BB962C8B-B14F-4D97-AF65-F5344CB8AC3E}">
        <p14:creationId xmlns:p14="http://schemas.microsoft.com/office/powerpoint/2010/main" val="2731843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B2164-7632-A179-E8E7-A62560A52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Features</a:t>
            </a:r>
          </a:p>
        </p:txBody>
      </p:sp>
    </p:spTree>
    <p:extLst>
      <p:ext uri="{BB962C8B-B14F-4D97-AF65-F5344CB8AC3E}">
        <p14:creationId xmlns:p14="http://schemas.microsoft.com/office/powerpoint/2010/main" val="3732550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to Binary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One vs All (Dummy Variables)</a:t>
            </a:r>
            <a:br>
              <a:rPr lang="en-US" dirty="0"/>
            </a:br>
            <a:endParaRPr lang="en-US" dirty="0"/>
          </a:p>
          <a:p>
            <a:r>
              <a:rPr lang="en-US" dirty="0"/>
              <a:t>Groups</a:t>
            </a:r>
            <a:br>
              <a:rPr lang="en-US" dirty="0"/>
            </a:br>
            <a:endParaRPr lang="en-US" dirty="0"/>
          </a:p>
          <a:p>
            <a:r>
              <a:rPr lang="en-US" dirty="0"/>
              <a:t>Presence vs Absence</a:t>
            </a:r>
          </a:p>
        </p:txBody>
      </p:sp>
    </p:spTree>
    <p:extLst>
      <p:ext uri="{BB962C8B-B14F-4D97-AF65-F5344CB8AC3E}">
        <p14:creationId xmlns:p14="http://schemas.microsoft.com/office/powerpoint/2010/main" val="24197872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Discretization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Equal width bins</a:t>
            </a:r>
          </a:p>
          <a:p>
            <a:r>
              <a:rPr lang="en-US" dirty="0"/>
              <a:t>Equal size bins</a:t>
            </a:r>
          </a:p>
          <a:p>
            <a:r>
              <a:rPr lang="en-US" dirty="0"/>
              <a:t>Entropy-based bins</a:t>
            </a:r>
          </a:p>
          <a:p>
            <a:r>
              <a:rPr lang="en-US" dirty="0"/>
              <a:t>Domain-Specific bins to incorporate domain specific discontinuities</a:t>
            </a:r>
          </a:p>
          <a:p>
            <a:pPr lvl="1"/>
            <a:r>
              <a:rPr lang="en-US" dirty="0"/>
              <a:t>Age in general</a:t>
            </a:r>
          </a:p>
          <a:p>
            <a:pPr lvl="1"/>
            <a:r>
              <a:rPr lang="en-US" dirty="0"/>
              <a:t>Education/school data</a:t>
            </a:r>
          </a:p>
          <a:p>
            <a:pPr lvl="1"/>
            <a:r>
              <a:rPr lang="en-US" dirty="0"/>
              <a:t>High school data</a:t>
            </a:r>
          </a:p>
          <a:p>
            <a:pPr lvl="1"/>
            <a:r>
              <a:rPr lang="en-US" dirty="0"/>
              <a:t>Infant mortality</a:t>
            </a:r>
          </a:p>
        </p:txBody>
      </p:sp>
    </p:spTree>
    <p:extLst>
      <p:ext uri="{BB962C8B-B14F-4D97-AF65-F5344CB8AC3E}">
        <p14:creationId xmlns:p14="http://schemas.microsoft.com/office/powerpoint/2010/main" val="235460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Scaling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Usually a good idea to scale features to have similar range:  [-1,1] or [0,1] for example</a:t>
            </a:r>
          </a:p>
          <a:p>
            <a:pPr lvl="1"/>
            <a:r>
              <a:rPr lang="en-US" dirty="0"/>
              <a:t>Be careful with outliers</a:t>
            </a:r>
          </a:p>
          <a:p>
            <a:pPr lvl="1"/>
            <a:endParaRPr lang="en-US" dirty="0"/>
          </a:p>
          <a:p>
            <a:r>
              <a:rPr lang="en-US" dirty="0"/>
              <a:t>Standardize/Normalize</a:t>
            </a:r>
          </a:p>
          <a:p>
            <a:pPr lvl="1"/>
            <a:r>
              <a:rPr lang="en-US" dirty="0"/>
              <a:t>Zero mean and unit variance</a:t>
            </a:r>
          </a:p>
          <a:p>
            <a:pPr marL="565150" lvl="1" indent="0">
              <a:buNone/>
            </a:pPr>
            <a:endParaRPr lang="en-US" dirty="0"/>
          </a:p>
          <a:p>
            <a:pPr lvl="1"/>
            <a:r>
              <a:rPr lang="en-US" dirty="0" err="1"/>
              <a:t>Sklearn.preprocessing.normalize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005" y="4016875"/>
            <a:ext cx="25400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1911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Transformations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Non-linear </a:t>
            </a:r>
          </a:p>
          <a:p>
            <a:endParaRPr lang="en-US" dirty="0"/>
          </a:p>
          <a:p>
            <a:pPr lvl="1"/>
            <a:r>
              <a:rPr lang="en-US" dirty="0"/>
              <a:t>Log (decreasing marginal utility)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(Square) Root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Squared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452" y="4559577"/>
            <a:ext cx="2042645" cy="16663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703" y="4346687"/>
            <a:ext cx="2502547" cy="1947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906" y="4633478"/>
            <a:ext cx="1752816" cy="186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5964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Date differences (# of days since…)</a:t>
            </a:r>
          </a:p>
          <a:p>
            <a:r>
              <a:rPr lang="en-US" dirty="0"/>
              <a:t>Aggregates over different time periods</a:t>
            </a:r>
          </a:p>
          <a:p>
            <a:pPr lvl="1"/>
            <a:r>
              <a:rPr lang="en-US" dirty="0"/>
              <a:t>min, max, avg, </a:t>
            </a:r>
            <a:r>
              <a:rPr lang="en-US" dirty="0" err="1"/>
              <a:t>stdev</a:t>
            </a:r>
            <a:endParaRPr lang="en-US" dirty="0"/>
          </a:p>
          <a:p>
            <a:pPr lvl="1"/>
            <a:r>
              <a:rPr lang="en-US" dirty="0" err="1"/>
              <a:t>Avg</a:t>
            </a:r>
            <a:r>
              <a:rPr lang="en-US" dirty="0"/>
              <a:t> spend in the past 3 months</a:t>
            </a:r>
          </a:p>
          <a:p>
            <a:r>
              <a:rPr lang="en-US" dirty="0"/>
              <a:t>Relative aggregates</a:t>
            </a:r>
          </a:p>
          <a:p>
            <a:pPr lvl="1"/>
            <a:r>
              <a:rPr lang="en-US" dirty="0"/>
              <a:t>1.5x </a:t>
            </a:r>
            <a:r>
              <a:rPr lang="en-US" dirty="0" err="1"/>
              <a:t>avg</a:t>
            </a:r>
            <a:r>
              <a:rPr lang="en-US" dirty="0"/>
              <a:t> spend</a:t>
            </a:r>
          </a:p>
          <a:p>
            <a:r>
              <a:rPr lang="en-US" dirty="0"/>
              <a:t>Distances</a:t>
            </a:r>
          </a:p>
          <a:p>
            <a:r>
              <a:rPr lang="en-US" dirty="0"/>
              <a:t>Aggregates over different distances</a:t>
            </a:r>
          </a:p>
          <a:p>
            <a:r>
              <a:rPr lang="en-US" dirty="0"/>
              <a:t>Seasonality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679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Interactions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features for combination of features</a:t>
            </a:r>
          </a:p>
          <a:p>
            <a:pPr lvl="1"/>
            <a:r>
              <a:rPr lang="en-US" dirty="0"/>
              <a:t>Age x gender</a:t>
            </a:r>
          </a:p>
          <a:p>
            <a:pPr lvl="1"/>
            <a:endParaRPr lang="en-US" dirty="0"/>
          </a:p>
          <a:p>
            <a:r>
              <a:rPr lang="en-US" dirty="0"/>
              <a:t>Allows you to use linear models but still model non linear relationships</a:t>
            </a:r>
          </a:p>
          <a:p>
            <a:endParaRPr lang="en-US" dirty="0"/>
          </a:p>
          <a:p>
            <a:r>
              <a:rPr lang="en-US" dirty="0"/>
              <a:t>Random Forests are one way of discovering useful interactions</a:t>
            </a:r>
          </a:p>
        </p:txBody>
      </p:sp>
    </p:spTree>
    <p:extLst>
      <p:ext uri="{BB962C8B-B14F-4D97-AF65-F5344CB8AC3E}">
        <p14:creationId xmlns:p14="http://schemas.microsoft.com/office/powerpoint/2010/main" val="28357946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0821" y="293023"/>
            <a:ext cx="11360700" cy="763500"/>
          </a:xfrm>
        </p:spPr>
        <p:txBody>
          <a:bodyPr/>
          <a:lstStyle/>
          <a:p>
            <a:r>
              <a:rPr lang="en-US" dirty="0"/>
              <a:t>Features are also model-dependent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76200" indent="0">
              <a:buNone/>
            </a:pPr>
            <a:endParaRPr lang="en-US" dirty="0"/>
          </a:p>
          <a:p>
            <a:r>
              <a:rPr lang="en-US" dirty="0"/>
              <a:t>Linear models may need … ?</a:t>
            </a:r>
            <a:br>
              <a:rPr lang="en-US" dirty="0"/>
            </a:br>
            <a:endParaRPr lang="en-US" dirty="0"/>
          </a:p>
          <a:p>
            <a:r>
              <a:rPr lang="en-US" dirty="0"/>
              <a:t>Non-linear models may need …?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5598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A165-5DCB-7DB9-AC5A-D4F918B14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missing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2796F-F84B-DA4C-F705-D72C51848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96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Impute (Fill in) missing values based on why you think they may be missing and what you want the model to do with those missing values</a:t>
            </a:r>
          </a:p>
          <a:p>
            <a:pPr lvl="1"/>
            <a:r>
              <a:rPr lang="en-US" dirty="0"/>
              <a:t>Missing Completely at Random</a:t>
            </a:r>
          </a:p>
          <a:p>
            <a:pPr lvl="1"/>
            <a:r>
              <a:rPr lang="en-US" dirty="0"/>
              <a:t>Missing at Random</a:t>
            </a:r>
          </a:p>
          <a:p>
            <a:pPr lvl="1"/>
            <a:r>
              <a:rPr lang="en-US" dirty="0"/>
              <a:t>Missing Not at Random</a:t>
            </a:r>
          </a:p>
          <a:p>
            <a:pPr lvl="1"/>
            <a:endParaRPr lang="en-US" dirty="0"/>
          </a:p>
          <a:p>
            <a:r>
              <a:rPr lang="en-US" dirty="0"/>
              <a:t>Typically, also add binary feature (dummy) for missing vs not missing in case “</a:t>
            </a:r>
            <a:r>
              <a:rPr lang="en-US" dirty="0" err="1"/>
              <a:t>missingness</a:t>
            </a:r>
            <a:r>
              <a:rPr lang="en-US" dirty="0"/>
              <a:t>” is predictive of the outcome</a:t>
            </a:r>
          </a:p>
        </p:txBody>
      </p:sp>
    </p:spTree>
    <p:extLst>
      <p:ext uri="{BB962C8B-B14F-4D97-AF65-F5344CB8AC3E}">
        <p14:creationId xmlns:p14="http://schemas.microsoft.com/office/powerpoint/2010/main" val="33570999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Imputing Missing Values: Some Options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>
          <a:xfrm>
            <a:off x="415600" y="1601179"/>
            <a:ext cx="11360700" cy="4555200"/>
          </a:xfrm>
        </p:spPr>
        <p:txBody>
          <a:bodyPr/>
          <a:lstStyle/>
          <a:p>
            <a:r>
              <a:rPr lang="en-US" dirty="0"/>
              <a:t>Nothing?</a:t>
            </a:r>
          </a:p>
          <a:p>
            <a:endParaRPr lang="en-US" dirty="0"/>
          </a:p>
          <a:p>
            <a:r>
              <a:rPr lang="en-US" dirty="0"/>
              <a:t>Central Tendency: Mean / Median / Mode</a:t>
            </a:r>
            <a:br>
              <a:rPr lang="en-US" dirty="0"/>
            </a:br>
            <a:endParaRPr lang="en-US" dirty="0"/>
          </a:p>
          <a:p>
            <a:r>
              <a:rPr lang="en-US" dirty="0"/>
              <a:t>ML methods that handle missing data (e.g., </a:t>
            </a:r>
            <a:r>
              <a:rPr lang="en-US" dirty="0" err="1"/>
              <a:t>xgboost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Others</a:t>
            </a:r>
          </a:p>
          <a:p>
            <a:pPr lvl="1"/>
            <a:r>
              <a:rPr lang="en-US" dirty="0"/>
              <a:t>Regression</a:t>
            </a:r>
          </a:p>
          <a:p>
            <a:pPr lvl="1"/>
            <a:r>
              <a:rPr lang="en-US" dirty="0"/>
              <a:t>k-Nearest Neighbor</a:t>
            </a:r>
          </a:p>
          <a:p>
            <a:pPr lvl="1"/>
            <a:r>
              <a:rPr lang="en-US" dirty="0"/>
              <a:t>Multiple Imputation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4145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Imputing – Central Tendency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to calculate and computationally fast</a:t>
            </a:r>
            <a:br>
              <a:rPr lang="en-US" dirty="0"/>
            </a:br>
            <a:endParaRPr lang="en-US" dirty="0"/>
          </a:p>
          <a:p>
            <a:r>
              <a:rPr lang="en-US" dirty="0"/>
              <a:t>Often a reasonable starting point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May be able to capture more nuance by using other, correlated data to help fill in missing values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Under-represents variance/covariance of data</a:t>
            </a:r>
          </a:p>
        </p:txBody>
      </p:sp>
    </p:spTree>
    <p:extLst>
      <p:ext uri="{BB962C8B-B14F-4D97-AF65-F5344CB8AC3E}">
        <p14:creationId xmlns:p14="http://schemas.microsoft.com/office/powerpoint/2010/main" val="2396215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Imputing – ML Methods with Missing Data Handling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models have built-in handling of missing data, such as </a:t>
            </a:r>
            <a:r>
              <a:rPr lang="en-US" dirty="0" err="1"/>
              <a:t>xgboost</a:t>
            </a:r>
            <a:r>
              <a:rPr lang="en-US" dirty="0"/>
              <a:t> (which decides which direction to send missing values at each split)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May not be the best modeling method for your problem, don’t want to be locked into certain type of model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Nevertheless, worth exploring performance of other imputation methods even when using these models as well</a:t>
            </a:r>
          </a:p>
        </p:txBody>
      </p:sp>
    </p:spTree>
    <p:extLst>
      <p:ext uri="{BB962C8B-B14F-4D97-AF65-F5344CB8AC3E}">
        <p14:creationId xmlns:p14="http://schemas.microsoft.com/office/powerpoint/2010/main" val="252199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Imputing – Regression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use of information in correlated features, more flexible than central tendency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However, may not be flexible enough to capture complex relationships or interactions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May be somewhat more computationally expensive </a:t>
            </a:r>
            <a:br>
              <a:rPr lang="en-US" dirty="0"/>
            </a:br>
            <a:endParaRPr lang="en-US" dirty="0"/>
          </a:p>
          <a:p>
            <a:r>
              <a:rPr lang="en-US" dirty="0"/>
              <a:t>Generally will still underestimate variation in data</a:t>
            </a:r>
          </a:p>
        </p:txBody>
      </p:sp>
    </p:spTree>
    <p:extLst>
      <p:ext uri="{BB962C8B-B14F-4D97-AF65-F5344CB8AC3E}">
        <p14:creationId xmlns:p14="http://schemas.microsoft.com/office/powerpoint/2010/main" val="380822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Imputing – k-Nearest Neighbor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flexible option, capture more complexity in relationships in data</a:t>
            </a:r>
            <a:br>
              <a:rPr lang="en-US" dirty="0"/>
            </a:br>
            <a:endParaRPr lang="en-US" dirty="0"/>
          </a:p>
          <a:p>
            <a:r>
              <a:rPr lang="en-US" dirty="0"/>
              <a:t>Difficult to choose appropriate distance metric, value of k</a:t>
            </a:r>
            <a:br>
              <a:rPr lang="en-US" dirty="0"/>
            </a:br>
            <a:endParaRPr lang="en-US" dirty="0"/>
          </a:p>
          <a:p>
            <a:r>
              <a:rPr lang="en-US" dirty="0"/>
              <a:t>More computationally expensive than other methods of imputation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Requires entire training set to calculate imputed values for new examples</a:t>
            </a:r>
          </a:p>
        </p:txBody>
      </p:sp>
    </p:spTree>
    <p:extLst>
      <p:ext uri="{BB962C8B-B14F-4D97-AF65-F5344CB8AC3E}">
        <p14:creationId xmlns:p14="http://schemas.microsoft.com/office/powerpoint/2010/main" val="372957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Imputing – Multiple Imputation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multiple “complete” datasets with different values using different regression models</a:t>
            </a:r>
            <a:br>
              <a:rPr lang="en-US" dirty="0"/>
            </a:br>
            <a:endParaRPr lang="en-US" dirty="0"/>
          </a:p>
          <a:p>
            <a:r>
              <a:rPr lang="en-US" dirty="0"/>
              <a:t>Helps analyze sensitivity to handling of missing values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Much more computationally expensive, both for imputation and downstream modeling</a:t>
            </a:r>
            <a:br>
              <a:rPr lang="en-US" dirty="0"/>
            </a:br>
            <a:endParaRPr lang="en-US" dirty="0"/>
          </a:p>
          <a:p>
            <a:r>
              <a:rPr lang="en-US" dirty="0"/>
              <a:t>Can provide better representation of variability in data</a:t>
            </a:r>
          </a:p>
        </p:txBody>
      </p:sp>
    </p:spTree>
    <p:extLst>
      <p:ext uri="{BB962C8B-B14F-4D97-AF65-F5344CB8AC3E}">
        <p14:creationId xmlns:p14="http://schemas.microsoft.com/office/powerpoint/2010/main" val="206979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8ADA-C1EF-2741-BD8A-A472FF070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 Tips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AE774-4907-F841-8BD3-E9ECDB6BD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remove rows or columns with missing values (unless there is a really really really good reason)</a:t>
            </a:r>
          </a:p>
          <a:p>
            <a:endParaRPr lang="en-US" dirty="0"/>
          </a:p>
          <a:p>
            <a:r>
              <a:rPr lang="en-US" dirty="0"/>
              <a:t>Missingness can be a useful predictor: create a flag even if you impute a value</a:t>
            </a:r>
          </a:p>
          <a:p>
            <a:endParaRPr lang="en-US" dirty="0"/>
          </a:p>
          <a:p>
            <a:r>
              <a:rPr lang="en-US" dirty="0"/>
              <a:t>Data can be missing for different reasons and missingness for each row/column/cell may need to be handled differently</a:t>
            </a:r>
          </a:p>
          <a:p>
            <a:endParaRPr lang="en-US" dirty="0"/>
          </a:p>
          <a:p>
            <a:r>
              <a:rPr lang="en-US" dirty="0"/>
              <a:t>Only use data from the past for imputation</a:t>
            </a:r>
          </a:p>
        </p:txBody>
      </p:sp>
    </p:spTree>
    <p:extLst>
      <p:ext uri="{BB962C8B-B14F-4D97-AF65-F5344CB8AC3E}">
        <p14:creationId xmlns:p14="http://schemas.microsoft.com/office/powerpoint/2010/main" val="25570827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8"/>
          <p:cNvSpPr txBox="1">
            <a:spLocks noGrp="1"/>
          </p:cNvSpPr>
          <p:nvPr>
            <p:ph type="title"/>
          </p:nvPr>
        </p:nvSpPr>
        <p:spPr>
          <a:xfrm>
            <a:off x="415601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"/>
              <a:t>How can imputation introduce bias in your models?</a:t>
            </a:r>
            <a:endParaRPr/>
          </a:p>
        </p:txBody>
      </p:sp>
      <p:sp>
        <p:nvSpPr>
          <p:cNvPr id="449" name="Google Shape;449;p78"/>
          <p:cNvSpPr txBox="1">
            <a:spLocks noGrp="1"/>
          </p:cNvSpPr>
          <p:nvPr>
            <p:ph type="body" idx="1"/>
          </p:nvPr>
        </p:nvSpPr>
        <p:spPr>
          <a:xfrm>
            <a:off x="415601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189" indent="-220128"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9"/>
          <p:cNvSpPr txBox="1">
            <a:spLocks noGrp="1"/>
          </p:cNvSpPr>
          <p:nvPr>
            <p:ph type="title" idx="4294967295"/>
          </p:nvPr>
        </p:nvSpPr>
        <p:spPr>
          <a:xfrm>
            <a:off x="415600" y="2187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>
                <a:solidFill>
                  <a:schemeClr val="lt1"/>
                </a:solidFill>
              </a:rPr>
              <a:t>Takeaways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5" name="Google Shape;455;p79"/>
          <p:cNvSpPr txBox="1">
            <a:spLocks noGrp="1"/>
          </p:cNvSpPr>
          <p:nvPr>
            <p:ph type="body" idx="1"/>
          </p:nvPr>
        </p:nvSpPr>
        <p:spPr>
          <a:xfrm>
            <a:off x="262805" y="1217573"/>
            <a:ext cx="11666400" cy="4954400"/>
          </a:xfrm>
          <a:prstGeom prst="rect">
            <a:avLst/>
          </a:prstGeom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"/>
              <a:t>Features are hypotheses you make about the world</a:t>
            </a:r>
            <a:endParaRPr/>
          </a:p>
          <a:p>
            <a:pPr marL="0" indent="0">
              <a:spcBef>
                <a:spcPts val="400"/>
              </a:spcBef>
              <a:buNone/>
            </a:pPr>
            <a:endParaRPr/>
          </a:p>
          <a:p>
            <a:pPr marL="0" indent="0">
              <a:spcBef>
                <a:spcPts val="400"/>
              </a:spcBef>
              <a:buNone/>
            </a:pPr>
            <a:r>
              <a:rPr lang="en"/>
              <a:t>Enumerate them systematically - entity x time x space x aggregation, ratio, peer comparison, trends, etc.</a:t>
            </a:r>
            <a:endParaRPr/>
          </a:p>
          <a:p>
            <a:pPr marL="0" indent="0">
              <a:spcBef>
                <a:spcPts val="400"/>
              </a:spcBef>
              <a:buNone/>
            </a:pPr>
            <a:endParaRPr/>
          </a:p>
          <a:p>
            <a:pPr marL="0" indent="0">
              <a:spcBef>
                <a:spcPts val="400"/>
              </a:spcBef>
              <a:buNone/>
            </a:pPr>
            <a:r>
              <a:rPr lang="en"/>
              <a:t>Treat time as a hard constraint</a:t>
            </a:r>
            <a:endParaRPr/>
          </a:p>
          <a:p>
            <a:pPr marL="0" indent="0">
              <a:spcBef>
                <a:spcPts val="400"/>
              </a:spcBef>
              <a:buNone/>
            </a:pPr>
            <a:endParaRPr/>
          </a:p>
          <a:p>
            <a:pPr marL="0" indent="0">
              <a:spcBef>
                <a:spcPts val="400"/>
              </a:spcBef>
              <a:buNone/>
            </a:pPr>
            <a:r>
              <a:rPr lang="en"/>
              <a:t>Deal with missingness and outliers carefully and deliberately</a:t>
            </a:r>
            <a:endParaRPr/>
          </a:p>
          <a:p>
            <a:pPr marL="0" indent="0">
              <a:spcBef>
                <a:spcPts val="400"/>
              </a:spcBef>
              <a:buNone/>
            </a:pPr>
            <a:endParaRPr/>
          </a:p>
          <a:p>
            <a:pPr marL="0" indent="0">
              <a:spcBef>
                <a:spcPts val="400"/>
              </a:spcBef>
              <a:buNone/>
            </a:pPr>
            <a:r>
              <a:rPr lang="en"/>
              <a:t>Use LLMs to propose features - verify if they make sense and don’t leak</a:t>
            </a:r>
            <a:endParaRPr/>
          </a:p>
          <a:p>
            <a:pPr marL="0" indent="0">
              <a:spcBef>
                <a:spcPts val="400"/>
              </a:spcBef>
              <a:buNone/>
            </a:pPr>
            <a:endParaRPr/>
          </a:p>
          <a:p>
            <a:pPr marL="0" indent="0">
              <a:spcBef>
                <a:spcPts val="400"/>
              </a:spcBef>
              <a:buNone/>
            </a:pPr>
            <a:r>
              <a:rPr lang="en"/>
              <a:t>FMs and Embeddings (to generate features) - verify</a:t>
            </a:r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85dea1e7-201f-4264-8231-e662824d1cb9"/>
  <p:tag name="SLIDO_EVENT_UUID" val="4ee70ca1-e1e6-4271-9fce-4efcf7d701cb"/>
  <p:tag name="SLIDO_EVENT_SECTION_UUID" val="4e6b9f65-e842-4d53-9e0b-c4f65d7211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fc8bb486-a3e7-4c2b-ada3-0963fab6bfca"/>
  <p:tag name="SLIDO_TIMELINE" val="W3sicG9sbFF1ZXN0aW9uVXVpZCI6ImMxMDRjMGI3LTYwYTMtNGZlYS1iYjY0LTZlOWEyMGUxOGFjYSIsInNob3dSZXN1bHRzIjpmYWxzZX0seyJwb2xsUXVlc3Rpb25VdWlkIjoiYzEwNGMwYjctNjBhMy00ZmVhLWJiNjQtNmU5YTIwZTE4YWNhIiwic2hvd1Jlc3VsdHMiOnRydWV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4583</TotalTime>
  <Words>2081</Words>
  <Application>Microsoft Macintosh PowerPoint</Application>
  <PresentationFormat>Widescreen</PresentationFormat>
  <Paragraphs>303</Paragraphs>
  <Slides>46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Menlo</vt:lpstr>
      <vt:lpstr>Wingdings</vt:lpstr>
      <vt:lpstr>Simple Light</vt:lpstr>
      <vt:lpstr>PowerPoint Presentation</vt:lpstr>
      <vt:lpstr>PowerPoint Presentation</vt:lpstr>
      <vt:lpstr>Reminders</vt:lpstr>
      <vt:lpstr>Plan for the week</vt:lpstr>
      <vt:lpstr>PowerPoint Presentation</vt:lpstr>
      <vt:lpstr>Some tips</vt:lpstr>
      <vt:lpstr>Which of these is a possible PR-k curve on the same dataset as the one outlined?   </vt:lpstr>
      <vt:lpstr>PowerPoint Presentation</vt:lpstr>
      <vt:lpstr>What We’ll Cover Today</vt:lpstr>
      <vt:lpstr>Feature Engineering: Why do we care?</vt:lpstr>
      <vt:lpstr>Feature Engineering: Why we need to do it</vt:lpstr>
      <vt:lpstr>Key Points</vt:lpstr>
      <vt:lpstr>Feature development is an iterative process</vt:lpstr>
      <vt:lpstr>Bias in Feature Development: Examples</vt:lpstr>
      <vt:lpstr>Feature Generation: Practical Pointers</vt:lpstr>
      <vt:lpstr>Features in triage</vt:lpstr>
      <vt:lpstr>Features in triage</vt:lpstr>
      <vt:lpstr>Features in triage – aggregate features</vt:lpstr>
      <vt:lpstr>Features in triage: Categorical features</vt:lpstr>
      <vt:lpstr>Features in triage: Naming Conventions</vt:lpstr>
      <vt:lpstr>Features in triage: Naming Conventions</vt:lpstr>
      <vt:lpstr>Features in triage: Aggregaton and Imputation</vt:lpstr>
      <vt:lpstr>Common Features</vt:lpstr>
      <vt:lpstr>Triage Detour</vt:lpstr>
      <vt:lpstr>Features in triage: Some Examples</vt:lpstr>
      <vt:lpstr>Features in triage: Some Considerations</vt:lpstr>
      <vt:lpstr>Feature Generation – A Deeper Look</vt:lpstr>
      <vt:lpstr>Back to Features</vt:lpstr>
      <vt:lpstr>Categorical to Binary</vt:lpstr>
      <vt:lpstr>Discretization</vt:lpstr>
      <vt:lpstr>Feature Scaling</vt:lpstr>
      <vt:lpstr>Feature Transformations</vt:lpstr>
      <vt:lpstr>Aggregations</vt:lpstr>
      <vt:lpstr>Feature Interactions</vt:lpstr>
      <vt:lpstr>Features are also model-dependent</vt:lpstr>
      <vt:lpstr>Dealing with missing values</vt:lpstr>
      <vt:lpstr>Missing Values</vt:lpstr>
      <vt:lpstr>Imputing Missing Values: Some Options</vt:lpstr>
      <vt:lpstr>Imputing – Central Tendency</vt:lpstr>
      <vt:lpstr>Imputing – ML Methods with Missing Data Handling</vt:lpstr>
      <vt:lpstr>Imputing – Regression</vt:lpstr>
      <vt:lpstr>Imputing – k-Nearest Neighbor</vt:lpstr>
      <vt:lpstr>Imputing – Multiple Imputation</vt:lpstr>
      <vt:lpstr>Missing Value Tips</vt:lpstr>
      <vt:lpstr>How can imputation introduce bias in your models?</vt:lpstr>
      <vt:lpstr>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Ghani Rayid</cp:lastModifiedBy>
  <cp:revision>63</cp:revision>
  <dcterms:created xsi:type="dcterms:W3CDTF">2020-01-14T19:43:43Z</dcterms:created>
  <dcterms:modified xsi:type="dcterms:W3CDTF">2026-10-08T14:35:02Z</dcterms:modified>
</cp:coreProperties>
</file>