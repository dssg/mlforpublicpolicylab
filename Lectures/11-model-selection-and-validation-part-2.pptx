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39"/>
  </p:notesMasterIdLst>
  <p:sldIdLst>
    <p:sldId id="256" r:id="rId3"/>
    <p:sldId id="471" r:id="rId4"/>
    <p:sldId id="500" r:id="rId5"/>
    <p:sldId id="318" r:id="rId6"/>
    <p:sldId id="323" r:id="rId7"/>
    <p:sldId id="468" r:id="rId8"/>
    <p:sldId id="287" r:id="rId9"/>
    <p:sldId id="428" r:id="rId10"/>
    <p:sldId id="430" r:id="rId11"/>
    <p:sldId id="494" r:id="rId12"/>
    <p:sldId id="486" r:id="rId13"/>
    <p:sldId id="473" r:id="rId14"/>
    <p:sldId id="288" r:id="rId15"/>
    <p:sldId id="474" r:id="rId16"/>
    <p:sldId id="297" r:id="rId17"/>
    <p:sldId id="479" r:id="rId18"/>
    <p:sldId id="480" r:id="rId19"/>
    <p:sldId id="481" r:id="rId20"/>
    <p:sldId id="482" r:id="rId21"/>
    <p:sldId id="495" r:id="rId22"/>
    <p:sldId id="499" r:id="rId23"/>
    <p:sldId id="496" r:id="rId24"/>
    <p:sldId id="497" r:id="rId25"/>
    <p:sldId id="498" r:id="rId26"/>
    <p:sldId id="289" r:id="rId27"/>
    <p:sldId id="290" r:id="rId28"/>
    <p:sldId id="291" r:id="rId29"/>
    <p:sldId id="292" r:id="rId30"/>
    <p:sldId id="293" r:id="rId31"/>
    <p:sldId id="469" r:id="rId32"/>
    <p:sldId id="470" r:id="rId33"/>
    <p:sldId id="296" r:id="rId34"/>
    <p:sldId id="454" r:id="rId35"/>
    <p:sldId id="484" r:id="rId36"/>
    <p:sldId id="492" r:id="rId37"/>
    <p:sldId id="502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3151"/>
  </p:normalViewPr>
  <p:slideViewPr>
    <p:cSldViewPr snapToGrid="0" snapToObjects="1">
      <p:cViewPr varScale="1">
        <p:scale>
          <a:sx n="100" d="100"/>
          <a:sy n="100" d="100"/>
        </p:scale>
        <p:origin x="184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006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3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173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51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10/6/25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584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10/6/25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29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Meetings – Wednesdays Going Forward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Finalizing your analytical formulation and baselines to compare against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Cohort Query</a:t>
            </a:r>
          </a:p>
          <a:p>
            <a:pPr lvl="1"/>
            <a:r>
              <a:rPr lang="en-US" dirty="0"/>
              <a:t>Label Query</a:t>
            </a:r>
          </a:p>
          <a:p>
            <a:pPr lvl="1"/>
            <a:r>
              <a:rPr lang="en-US" dirty="0"/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Reminder: The PR-k Curve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1016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 err="1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Baserate</a:t>
              </a:r>
              <a:endParaRPr lang="en-US" sz="1800" b="1" kern="1200" dirty="0">
                <a:solidFill>
                  <a:srgbClr val="C00000"/>
                </a:solidFill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328523" y="5734878"/>
              <a:ext cx="2517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Under the ROC Curve</a:t>
            </a:r>
            <a:br>
              <a:rPr lang="en-US" dirty="0"/>
            </a:br>
            <a:endParaRPr lang="en-US" dirty="0"/>
          </a:p>
          <a:p>
            <a:r>
              <a:rPr lang="en-US" dirty="0"/>
              <a:t>F1 Score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Accuracy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When would you use each of these?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How would you explain what they mean to a policy maker?</a:t>
            </a:r>
          </a:p>
        </p:txBody>
      </p:sp>
    </p:spTree>
    <p:extLst>
      <p:ext uri="{BB962C8B-B14F-4D97-AF65-F5344CB8AC3E}">
        <p14:creationId xmlns:p14="http://schemas.microsoft.com/office/powerpoint/2010/main" val="3145385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generalize to?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policy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over the last 6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47004"/>
            <a:ext cx="11360700" cy="4555200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 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036659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/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9984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90517" y="3350654"/>
            <a:ext cx="7823678" cy="917702"/>
            <a:chOff x="501627" y="3198043"/>
            <a:chExt cx="7823678" cy="917702"/>
          </a:xfrm>
          <a:solidFill>
            <a:schemeClr val="bg1"/>
          </a:solidFill>
        </p:grpSpPr>
        <p:sp>
          <p:nvSpPr>
            <p:cNvPr id="42" name="Rectangle 41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90517" y="3347943"/>
            <a:ext cx="7823678" cy="917702"/>
            <a:chOff x="501627" y="3198043"/>
            <a:chExt cx="7823678" cy="917702"/>
          </a:xfrm>
          <a:solidFill>
            <a:schemeClr val="accent2"/>
          </a:solidFill>
        </p:grpSpPr>
        <p:sp>
          <p:nvSpPr>
            <p:cNvPr id="13" name="Rectangle 12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107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2.59259E-6 L -4.44444E-6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21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-2.77778E-7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-1.94444E-6 0.2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1.66667E-6 0.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3.7037E-7 L -0.00226 0.5092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25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911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0.0059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057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849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70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0.00243 0.5048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2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206500"/>
            <a:ext cx="6048700" cy="5213350"/>
          </a:xfrm>
        </p:spPr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Holdouts Using Structure of Data</a:t>
            </a:r>
          </a:p>
          <a:p>
            <a:pPr lvl="1"/>
            <a:r>
              <a:rPr lang="en-US" dirty="0"/>
              <a:t>Temporal</a:t>
            </a:r>
          </a:p>
          <a:p>
            <a:pPr lvl="1"/>
            <a:r>
              <a:rPr lang="en-US" dirty="0"/>
              <a:t>Spatial, Hierarchical,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A7FB1-C2DE-E448-B984-2E4382924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875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BEEE-212E-0B37-5DA5-D0D7B25E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F200CA-41AC-6983-5E40-B6E233B5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FD5C10-B84F-B672-9D64-282A34EB8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4058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5524</TotalTime>
  <Words>1140</Words>
  <Application>Microsoft Macintosh PowerPoint</Application>
  <PresentationFormat>Widescreen</PresentationFormat>
  <Paragraphs>295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Simple Light</vt:lpstr>
      <vt:lpstr>ghani uofc template</vt:lpstr>
      <vt:lpstr>PowerPoint Presentation</vt:lpstr>
      <vt:lpstr>Reminders</vt:lpstr>
      <vt:lpstr>Group Meetings – Wednesdays Going Forward</vt:lpstr>
      <vt:lpstr>Plan for the week</vt:lpstr>
      <vt:lpstr>PowerPoint Presentation</vt:lpstr>
      <vt:lpstr>What do we need our selected model to do?</vt:lpstr>
      <vt:lpstr>What is the goal of model selection?</vt:lpstr>
      <vt:lpstr>Reminder: The PR-k Curve</vt:lpstr>
      <vt:lpstr>Other Metrics You’ve Used?</vt:lpstr>
      <vt:lpstr>Other Metrics You’ve Used?</vt:lpstr>
      <vt:lpstr>Evaluation – triage configuration</vt:lpstr>
      <vt:lpstr>What should the model we select generalize to?</vt:lpstr>
      <vt:lpstr>What do need to know to perform model selection</vt:lpstr>
      <vt:lpstr>How do we select a model that does that?</vt:lpstr>
      <vt:lpstr>Model Selection - Methodology</vt:lpstr>
      <vt:lpstr>Scenarios</vt:lpstr>
      <vt:lpstr>Scenarios</vt:lpstr>
      <vt:lpstr>Scenarios</vt:lpstr>
      <vt:lpstr>Scenarios</vt:lpstr>
      <vt:lpstr>Parameters</vt:lpstr>
      <vt:lpstr>PowerPoint Presentation</vt:lpstr>
      <vt:lpstr>Other considerations</vt:lpstr>
      <vt:lpstr>Some tips</vt:lpstr>
      <vt:lpstr>Train Validation Pairs</vt:lpstr>
      <vt:lpstr>In-sample</vt:lpstr>
      <vt:lpstr>Out-of-Sample</vt:lpstr>
      <vt:lpstr>N-fold Cross-Validation</vt:lpstr>
      <vt:lpstr>N-fold Cross-Validation</vt:lpstr>
      <vt:lpstr>N-fold Cross-Validation</vt:lpstr>
      <vt:lpstr>N-fold Cross-Validation</vt:lpstr>
      <vt:lpstr>N-fold Cross-Validation</vt:lpstr>
      <vt:lpstr>Temporal Holdouts</vt:lpstr>
      <vt:lpstr>Training  - Time splits</vt:lpstr>
      <vt:lpstr>Evaluation - Methodology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70</cp:revision>
  <dcterms:created xsi:type="dcterms:W3CDTF">2020-01-14T19:43:43Z</dcterms:created>
  <dcterms:modified xsi:type="dcterms:W3CDTF">2025-10-07T03:11:10Z</dcterms:modified>
</cp:coreProperties>
</file>