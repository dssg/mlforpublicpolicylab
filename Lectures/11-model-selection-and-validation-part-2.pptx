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32"/>
  </p:notesMasterIdLst>
  <p:sldIdLst>
    <p:sldId id="256" r:id="rId3"/>
    <p:sldId id="471" r:id="rId4"/>
    <p:sldId id="500" r:id="rId5"/>
    <p:sldId id="318" r:id="rId6"/>
    <p:sldId id="323" r:id="rId7"/>
    <p:sldId id="468" r:id="rId8"/>
    <p:sldId id="287" r:id="rId9"/>
    <p:sldId id="428" r:id="rId10"/>
    <p:sldId id="486" r:id="rId11"/>
    <p:sldId id="473" r:id="rId12"/>
    <p:sldId id="288" r:id="rId13"/>
    <p:sldId id="474" r:id="rId14"/>
    <p:sldId id="297" r:id="rId15"/>
    <p:sldId id="503" r:id="rId16"/>
    <p:sldId id="505" r:id="rId17"/>
    <p:sldId id="479" r:id="rId18"/>
    <p:sldId id="480" r:id="rId19"/>
    <p:sldId id="507" r:id="rId20"/>
    <p:sldId id="481" r:id="rId21"/>
    <p:sldId id="482" r:id="rId22"/>
    <p:sldId id="495" r:id="rId23"/>
    <p:sldId id="499" r:id="rId24"/>
    <p:sldId id="496" r:id="rId25"/>
    <p:sldId id="497" r:id="rId26"/>
    <p:sldId id="498" r:id="rId27"/>
    <p:sldId id="296" r:id="rId28"/>
    <p:sldId id="454" r:id="rId29"/>
    <p:sldId id="484" r:id="rId30"/>
    <p:sldId id="506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34"/>
    <p:restoredTop sz="93164"/>
  </p:normalViewPr>
  <p:slideViewPr>
    <p:cSldViewPr snapToGrid="0" snapToObjects="1">
      <p:cViewPr varScale="1">
        <p:scale>
          <a:sx n="123" d="100"/>
          <a:sy n="123" d="100"/>
        </p:scale>
        <p:origin x="21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006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3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173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51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584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29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check-ins on Wednesday (GHC 8023)</a:t>
            </a:r>
          </a:p>
          <a:p>
            <a:r>
              <a:rPr lang="en-US" dirty="0"/>
              <a:t>Project-work time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Project Assignment – Triage Setup due Monday – see template slides and canvas assignment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Meetings – Wednesdays Going Forward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r>
              <a:rPr lang="en-US" dirty="0"/>
              <a:t>Metrics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Cohort Query</a:t>
            </a:r>
          </a:p>
          <a:p>
            <a:pPr lvl="1"/>
            <a:r>
              <a:rPr lang="en-US" dirty="0"/>
              <a:t>Label Query</a:t>
            </a:r>
          </a:p>
          <a:p>
            <a:pPr lvl="1"/>
            <a:r>
              <a:rPr lang="en-US" dirty="0"/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</a:t>
            </a:r>
          </a:p>
          <a:p>
            <a:endParaRPr lang="en-US" sz="2800" dirty="0"/>
          </a:p>
          <a:p>
            <a:pPr lvl="1"/>
            <a:r>
              <a:rPr lang="en-US" sz="2300" dirty="0"/>
              <a:t>You need to understand what types of models are effective under what circumstances, </a:t>
            </a:r>
            <a:r>
              <a:rPr lang="en-US" sz="2300" b="1" dirty="0"/>
              <a:t>and</a:t>
            </a:r>
          </a:p>
          <a:p>
            <a:endParaRPr lang="en-US" sz="2800" b="1" dirty="0"/>
          </a:p>
          <a:p>
            <a:pPr lvl="1"/>
            <a:r>
              <a:rPr lang="en-US" sz="2300" dirty="0"/>
              <a:t>You need to decide which one(s) to use in the </a:t>
            </a:r>
            <a:r>
              <a:rPr lang="en-US" sz="23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Reminder: The PR-k Curve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1016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 err="1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Baserate</a:t>
              </a:r>
              <a:endParaRPr lang="en-US" sz="1800" b="1" kern="1200" dirty="0">
                <a:solidFill>
                  <a:srgbClr val="C00000"/>
                </a:solidFill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328523" y="5734878"/>
              <a:ext cx="2517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work well 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policy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C22766-E48A-9655-332F-73FAEB71550A}"/>
              </a:ext>
            </a:extLst>
          </p:cNvPr>
          <p:cNvSpPr txBox="1"/>
          <p:nvPr/>
        </p:nvSpPr>
        <p:spPr>
          <a:xfrm>
            <a:off x="3036743" y="3254330"/>
            <a:ext cx="61150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effectLst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63AB9-735B-39A3-604D-41B03CDD8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1 – Hospital Readmissions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B806A-E28A-416D-3D27-B2965562D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setting: </a:t>
            </a:r>
            <a:r>
              <a:rPr lang="en-US" dirty="0"/>
              <a:t>A hospital model scores every patient at discharge for the risk of being readmitted within 30 days. A care transitions team has capacity to follow up with about 30 patients a week: a home visit, a medication review, a scheduled follow-up appointment.</a:t>
            </a:r>
          </a:p>
          <a:p>
            <a:endParaRPr lang="en-US" dirty="0"/>
          </a:p>
          <a:p>
            <a:r>
              <a:rPr lang="en-US" dirty="0"/>
              <a:t>What should this model work well on/generalize to?</a:t>
            </a:r>
          </a:p>
          <a:p>
            <a:endParaRPr lang="en-US" dirty="0"/>
          </a:p>
          <a:p>
            <a:r>
              <a:rPr lang="en-US" dirty="0"/>
              <a:t>What is a training set fore this model?</a:t>
            </a:r>
          </a:p>
          <a:p>
            <a:endParaRPr lang="en-US" dirty="0"/>
          </a:p>
          <a:p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527981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626DC-8070-2722-D9DD-F7BD08DC7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30DAC-888D-BD2A-DB28-5DD089898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 – Crop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64D047-0B15-C7BF-2C65-EC1F3A169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setting: </a:t>
            </a:r>
            <a:r>
              <a:rPr lang="en-US" dirty="0"/>
              <a:t>A satellite-based system classifies what crop is growing in each field, for yield forecasting and food security early warning. It was built using ground-truth field surveys in three countries. A ministry in a fourth country, where no such surveys exist, wants to use it for next season. </a:t>
            </a:r>
          </a:p>
          <a:p>
            <a:endParaRPr lang="en-US" dirty="0"/>
          </a:p>
          <a:p>
            <a:r>
              <a:rPr lang="en-US" dirty="0"/>
              <a:t>What should this model work well on/generalize to?</a:t>
            </a:r>
          </a:p>
          <a:p>
            <a:endParaRPr lang="en-US" dirty="0"/>
          </a:p>
          <a:p>
            <a:r>
              <a:rPr lang="en-US" dirty="0"/>
              <a:t>What is a training set fore this model?</a:t>
            </a:r>
          </a:p>
          <a:p>
            <a:endParaRPr lang="en-US" dirty="0"/>
          </a:p>
          <a:p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355954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2019 to September 2026 and now have a stream of new incoming articles every day. We want to deploy a system that tells us something about intensity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over the last 6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5C4D1-E609-1805-A647-0F71B5971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Underlying principle: match methodology to match deployment time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26C96-0FDD-D352-8DBF-C45E1EF7D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the potential test-time distribution differ from training?</a:t>
            </a:r>
            <a:br>
              <a:rPr lang="en-US" dirty="0"/>
            </a:br>
            <a:endParaRPr lang="en-US" dirty="0"/>
          </a:p>
          <a:p>
            <a:pPr lvl="1" fontAlgn="base"/>
            <a:r>
              <a:rPr lang="en-US" dirty="0"/>
              <a:t>No shift: training data is IID, test data will be IID from same distribution</a:t>
            </a:r>
            <a:br>
              <a:rPr lang="en-US" dirty="0"/>
            </a:br>
            <a:endParaRPr lang="en-US" dirty="0"/>
          </a:p>
          <a:p>
            <a:pPr lvl="1" fontAlgn="base"/>
            <a:r>
              <a:rPr lang="en-US" dirty="0"/>
              <a:t>Time series setting: data is not IID, future will not look like resampled present</a:t>
            </a:r>
            <a:br>
              <a:rPr lang="en-US" dirty="0"/>
            </a:br>
            <a:endParaRPr lang="en-US" dirty="0"/>
          </a:p>
          <a:p>
            <a:pPr lvl="1" fontAlgn="base"/>
            <a:r>
              <a:rPr lang="en-US" dirty="0"/>
              <a:t>Cluster structure, e.g. students within classrooms within schools. Test-time might be better modeled at a higher cluster level (generalizing to new schools) than within clusters (generalizing to new students within a school we’ve seen)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09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47004"/>
            <a:ext cx="11360700" cy="4555200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 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036659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/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206500"/>
            <a:ext cx="6048700" cy="5213350"/>
          </a:xfrm>
        </p:spPr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Holdouts Using Structure of Data</a:t>
            </a:r>
          </a:p>
          <a:p>
            <a:pPr lvl="1"/>
            <a:r>
              <a:rPr lang="en-US" dirty="0"/>
              <a:t>Temporal</a:t>
            </a:r>
          </a:p>
          <a:p>
            <a:pPr lvl="1"/>
            <a:r>
              <a:rPr lang="en-US" dirty="0"/>
              <a:t>Spatial, Hierarchical,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A7FB1-C2DE-E448-B984-2E4382924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875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99C9E-8C42-4FEE-9E46-502304685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A1E3B6-6823-C921-8059-FCDEAD3BA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2FD183-9DB5-3FFD-2BBC-D865AE426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check-ins on Wednesday (GHC 8023)</a:t>
            </a:r>
          </a:p>
          <a:p>
            <a:r>
              <a:rPr lang="en-US" dirty="0"/>
              <a:t>Project-work time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Project Assignment – Triage Setup due Monday – see template slides and canvas assignment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8220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5858</TotalTime>
  <Words>1261</Words>
  <Application>Microsoft Macintosh PowerPoint</Application>
  <PresentationFormat>Widescreen</PresentationFormat>
  <Paragraphs>250</Paragraphs>
  <Slides>29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Simple Light</vt:lpstr>
      <vt:lpstr>ghani uofc template</vt:lpstr>
      <vt:lpstr>PowerPoint Presentation</vt:lpstr>
      <vt:lpstr>Reminders</vt:lpstr>
      <vt:lpstr>Group Meetings – Wednesdays Going Forward</vt:lpstr>
      <vt:lpstr>Plan for the week</vt:lpstr>
      <vt:lpstr>PowerPoint Presentation</vt:lpstr>
      <vt:lpstr>What do we need our selected model to do?</vt:lpstr>
      <vt:lpstr>What is the goal of model selection?</vt:lpstr>
      <vt:lpstr>Reminder: The PR-k Curve</vt:lpstr>
      <vt:lpstr>Evaluation – triage configuration</vt:lpstr>
      <vt:lpstr>What should the model we select work well on?</vt:lpstr>
      <vt:lpstr>What do need to know to perform model selection</vt:lpstr>
      <vt:lpstr>How do we select a model that does that?</vt:lpstr>
      <vt:lpstr>Model Selection - Methodology</vt:lpstr>
      <vt:lpstr>Scenario 1 – Hospital Readmissions</vt:lpstr>
      <vt:lpstr>Scenario 2 – Crop Detection</vt:lpstr>
      <vt:lpstr>Scenarios</vt:lpstr>
      <vt:lpstr>Scenarios</vt:lpstr>
      <vt:lpstr>Underlying principle: match methodology to match deployment time  </vt:lpstr>
      <vt:lpstr>Scenarios</vt:lpstr>
      <vt:lpstr>Scenarios</vt:lpstr>
      <vt:lpstr>Parameters</vt:lpstr>
      <vt:lpstr>PowerPoint Presentation</vt:lpstr>
      <vt:lpstr>Other considerations</vt:lpstr>
      <vt:lpstr>Some tips</vt:lpstr>
      <vt:lpstr>Train Validation Pairs</vt:lpstr>
      <vt:lpstr>Temporal Holdouts</vt:lpstr>
      <vt:lpstr>Training  - Time splits</vt:lpstr>
      <vt:lpstr>Evaluation - Methodology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71</cp:revision>
  <dcterms:created xsi:type="dcterms:W3CDTF">2020-01-14T19:43:43Z</dcterms:created>
  <dcterms:modified xsi:type="dcterms:W3CDTF">2026-09-29T02:20:15Z</dcterms:modified>
</cp:coreProperties>
</file>