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32"/>
  </p:notesMasterIdLst>
  <p:sldIdLst>
    <p:sldId id="256" r:id="rId3"/>
    <p:sldId id="471" r:id="rId4"/>
    <p:sldId id="500" r:id="rId5"/>
    <p:sldId id="318" r:id="rId6"/>
    <p:sldId id="323" r:id="rId7"/>
    <p:sldId id="468" r:id="rId8"/>
    <p:sldId id="287" r:id="rId9"/>
    <p:sldId id="428" r:id="rId10"/>
    <p:sldId id="486" r:id="rId11"/>
    <p:sldId id="473" r:id="rId12"/>
    <p:sldId id="288" r:id="rId13"/>
    <p:sldId id="474" r:id="rId14"/>
    <p:sldId id="297" r:id="rId15"/>
    <p:sldId id="503" r:id="rId16"/>
    <p:sldId id="505" r:id="rId17"/>
    <p:sldId id="479" r:id="rId18"/>
    <p:sldId id="480" r:id="rId19"/>
    <p:sldId id="507" r:id="rId20"/>
    <p:sldId id="481" r:id="rId21"/>
    <p:sldId id="482" r:id="rId22"/>
    <p:sldId id="495" r:id="rId23"/>
    <p:sldId id="499" r:id="rId24"/>
    <p:sldId id="496" r:id="rId25"/>
    <p:sldId id="497" r:id="rId26"/>
    <p:sldId id="498" r:id="rId27"/>
    <p:sldId id="296" r:id="rId28"/>
    <p:sldId id="454" r:id="rId29"/>
    <p:sldId id="484" r:id="rId30"/>
    <p:sldId id="506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44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0"/>
    <p:restoredTop sz="93229"/>
  </p:normalViewPr>
  <p:slideViewPr>
    <p:cSldViewPr snapToGrid="0" snapToObjects="1">
      <p:cViewPr varScale="1">
        <p:scale>
          <a:sx n="123" d="100"/>
          <a:sy n="123" d="100"/>
        </p:scale>
        <p:origin x="21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5128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41489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434064"/>
            <a:ext cx="12192000" cy="4239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dirty="0">
              <a:latin typeface="Arial"/>
              <a:cs typeface="Arial"/>
            </a:endParaRPr>
          </a:p>
          <a:p>
            <a:pPr algn="l"/>
            <a:r>
              <a:rPr lang="en-US" sz="1400" dirty="0" err="1">
                <a:latin typeface="Arial"/>
                <a:cs typeface="Arial"/>
              </a:rPr>
              <a:t>Rayid</a:t>
            </a:r>
            <a:r>
              <a:rPr lang="en-US" sz="1400" baseline="0" dirty="0">
                <a:latin typeface="Arial"/>
                <a:cs typeface="Arial"/>
              </a:rPr>
              <a:t> </a:t>
            </a:r>
            <a:r>
              <a:rPr lang="en-US" sz="1400" baseline="0" dirty="0" err="1">
                <a:latin typeface="Arial"/>
                <a:cs typeface="Arial"/>
              </a:rPr>
              <a:t>Ghani</a:t>
            </a:r>
            <a:r>
              <a:rPr lang="en-US" sz="1400" baseline="0" dirty="0">
                <a:latin typeface="Arial"/>
                <a:cs typeface="Arial"/>
              </a:rPr>
              <a:t>															@</a:t>
            </a:r>
            <a:r>
              <a:rPr lang="en-US" sz="1400" baseline="0" dirty="0" err="1">
                <a:latin typeface="Arial"/>
                <a:cs typeface="Arial"/>
              </a:rPr>
              <a:t>rayidghani</a:t>
            </a:r>
            <a:r>
              <a:rPr lang="en-US" sz="1400" baseline="0" dirty="0">
                <a:latin typeface="Arial"/>
                <a:cs typeface="Arial"/>
              </a:rPr>
              <a:t>				</a:t>
            </a:r>
            <a:endParaRPr lang="en-US"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0066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818" y="1166412"/>
            <a:ext cx="11666363" cy="495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16619"/>
            <a:ext cx="12192000" cy="12066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400" dirty="0">
              <a:latin typeface="Arial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83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12F8-2DE2-6B40-83C5-731724CAE2B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543-5B78-C749-93A6-E6A0D0050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7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12F8-2DE2-6B40-83C5-731724CAE2B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543-5B78-C749-93A6-E6A0D0050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51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12F8-2DE2-6B40-83C5-731724CAE2B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543-5B78-C749-93A6-E6A0D0050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84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312F8-2DE2-6B40-83C5-731724CAE2B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543-5B78-C749-93A6-E6A0D0050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2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312F8-2DE2-6B40-83C5-731724CAE2B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A5543-5B78-C749-93A6-E6A0D0050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29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648464"/>
            <a:ext cx="12192000" cy="23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Model Selection (and Validation)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Part II</a:t>
            </a:r>
            <a:endParaRPr sz="3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000000"/>
              </a:solidFill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</a:rPr>
              <a:t>Rayid Ghani</a:t>
            </a:r>
            <a:endParaRPr sz="2800" dirty="0">
              <a:solidFill>
                <a:srgbClr val="595959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682" y="1536633"/>
            <a:ext cx="11688618" cy="4555200"/>
          </a:xfrm>
        </p:spPr>
        <p:txBody>
          <a:bodyPr/>
          <a:lstStyle/>
          <a:p>
            <a:pPr marL="76200" indent="0">
              <a:buNone/>
            </a:pPr>
            <a:r>
              <a:rPr lang="en-US" b="1" dirty="0"/>
              <a:t>This week:</a:t>
            </a:r>
            <a:endParaRPr lang="en-US" dirty="0"/>
          </a:p>
          <a:p>
            <a:r>
              <a:rPr lang="en-US" dirty="0"/>
              <a:t>Project check-ins on Wednesday (GHC 8023)</a:t>
            </a:r>
          </a:p>
          <a:p>
            <a:r>
              <a:rPr lang="en-US" dirty="0"/>
              <a:t>Project-work time on Thursday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r>
              <a:rPr lang="en-US" dirty="0"/>
              <a:t>Project Assignment – Triage cohort and labels due Monday – see template slides and canvas assignment</a:t>
            </a:r>
          </a:p>
          <a:p>
            <a:pPr marL="7620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46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</a:t>
            </a:r>
            <a:r>
              <a:rPr lang="en-US" dirty="0" err="1"/>
              <a:t>Checkins</a:t>
            </a:r>
            <a:r>
              <a:rPr lang="en-US" dirty="0"/>
              <a:t> – Wednesdays Going Forward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B702-ED77-884E-88F7-92D73313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the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BAD4-F7FB-1D48-9D37-2273592A7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you should be discussing this week within your team</a:t>
            </a:r>
          </a:p>
          <a:p>
            <a:pPr lvl="1"/>
            <a:r>
              <a:rPr lang="en-US" dirty="0"/>
              <a:t>Validation strategy &amp; temporal parameters</a:t>
            </a:r>
          </a:p>
          <a:p>
            <a:pPr lvl="1"/>
            <a:r>
              <a:rPr lang="en-US" dirty="0"/>
              <a:t>Metrics</a:t>
            </a:r>
          </a:p>
          <a:p>
            <a:pPr lvl="1"/>
            <a:endParaRPr lang="en-US" dirty="0"/>
          </a:p>
          <a:p>
            <a:r>
              <a:rPr lang="en-US" dirty="0"/>
              <a:t>What you should be building this week</a:t>
            </a:r>
          </a:p>
          <a:p>
            <a:pPr lvl="1"/>
            <a:r>
              <a:rPr lang="en-US" dirty="0"/>
              <a:t>Getting comfortable running triage and looking at what it produces</a:t>
            </a:r>
          </a:p>
          <a:p>
            <a:pPr lvl="1"/>
            <a:r>
              <a:rPr lang="en-US" dirty="0"/>
              <a:t>Cohort Query</a:t>
            </a:r>
          </a:p>
          <a:p>
            <a:pPr lvl="1"/>
            <a:r>
              <a:rPr lang="en-US" dirty="0"/>
              <a:t>Label Query</a:t>
            </a:r>
          </a:p>
          <a:p>
            <a:pPr lvl="1"/>
            <a:r>
              <a:rPr lang="en-US" dirty="0"/>
              <a:t>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517800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9553197" y="2534144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4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C2C959-72F2-EF4D-80DA-F48A29D0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need our selected model to do?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A75FF1-9EFE-0F41-92F5-3E749CFB2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 well</a:t>
            </a:r>
          </a:p>
          <a:p>
            <a:pPr lvl="1"/>
            <a:r>
              <a:rPr lang="en-US" dirty="0"/>
              <a:t>What metric?</a:t>
            </a:r>
          </a:p>
          <a:p>
            <a:pPr lvl="1"/>
            <a:r>
              <a:rPr lang="en-US" dirty="0"/>
              <a:t>Compared to what?</a:t>
            </a:r>
          </a:p>
          <a:p>
            <a:endParaRPr lang="en-US" dirty="0"/>
          </a:p>
          <a:p>
            <a:r>
              <a:rPr lang="en-US" dirty="0"/>
              <a:t>Generalize</a:t>
            </a:r>
          </a:p>
          <a:p>
            <a:pPr lvl="1"/>
            <a:r>
              <a:rPr lang="en-US" dirty="0"/>
              <a:t>To what?</a:t>
            </a:r>
          </a:p>
        </p:txBody>
      </p:sp>
    </p:spTree>
    <p:extLst>
      <p:ext uri="{BB962C8B-B14F-4D97-AF65-F5344CB8AC3E}">
        <p14:creationId xmlns:p14="http://schemas.microsoft.com/office/powerpoint/2010/main" val="411164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goal of model selection?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You’ve run a large number of different types of models</a:t>
            </a:r>
          </a:p>
          <a:p>
            <a:endParaRPr lang="en-US" sz="2800" dirty="0"/>
          </a:p>
          <a:p>
            <a:pPr lvl="1"/>
            <a:r>
              <a:rPr lang="en-US" sz="2300" dirty="0"/>
              <a:t>You need to understand what types of models are effective under what circumstances, </a:t>
            </a:r>
            <a:r>
              <a:rPr lang="en-US" sz="2300" b="1" dirty="0"/>
              <a:t>and</a:t>
            </a:r>
          </a:p>
          <a:p>
            <a:endParaRPr lang="en-US" sz="2800" b="1" dirty="0"/>
          </a:p>
          <a:p>
            <a:pPr lvl="1"/>
            <a:r>
              <a:rPr lang="en-US" sz="2300" dirty="0"/>
              <a:t>You need to decide which one(s) to use in the </a:t>
            </a:r>
            <a:r>
              <a:rPr lang="en-US" sz="2300" b="1" dirty="0"/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42389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The PR-k Curve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435740" y="1562635"/>
            <a:ext cx="7320520" cy="4944871"/>
            <a:chOff x="616981" y="1325057"/>
            <a:chExt cx="7320520" cy="494487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981" y="1325057"/>
              <a:ext cx="7320520" cy="4944871"/>
            </a:xfrm>
            <a:prstGeom prst="rect">
              <a:avLst/>
            </a:prstGeom>
          </p:spPr>
        </p:pic>
        <p:sp>
          <p:nvSpPr>
            <p:cNvPr id="2" name="Rectangle 1"/>
            <p:cNvSpPr/>
            <p:nvPr/>
          </p:nvSpPr>
          <p:spPr>
            <a:xfrm>
              <a:off x="4064000" y="1409700"/>
              <a:ext cx="342900" cy="279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457200">
                <a:buClrTx/>
              </a:pPr>
              <a:endParaRPr lang="en-US" sz="1800" kern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0148AF-CA57-0541-9177-560EC8D36156}"/>
              </a:ext>
            </a:extLst>
          </p:cNvPr>
          <p:cNvGrpSpPr/>
          <p:nvPr/>
        </p:nvGrpSpPr>
        <p:grpSpPr>
          <a:xfrm>
            <a:off x="3018798" y="1150982"/>
            <a:ext cx="6607802" cy="882961"/>
            <a:chOff x="1494798" y="1150981"/>
            <a:chExt cx="6607802" cy="882961"/>
          </a:xfrm>
        </p:grpSpPr>
        <p:sp>
          <p:nvSpPr>
            <p:cNvPr id="6" name="TextBox 5"/>
            <p:cNvSpPr txBox="1"/>
            <p:nvPr/>
          </p:nvSpPr>
          <p:spPr>
            <a:xfrm>
              <a:off x="1494798" y="1387611"/>
              <a:ext cx="66078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1         .9     .8                .7        .6            .5    .4  .3.                  .2     .1 </a:t>
              </a:r>
            </a:p>
            <a:p>
              <a:pPr defTabSz="457200">
                <a:buClrTx/>
              </a:pPr>
              <a:r>
                <a:rPr lang="en-US" sz="105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 |                  |             |                               |                  |                        |           |        |                                    |            |</a:t>
              </a:r>
              <a:r>
                <a:rPr lang="en-US" sz="1800" b="1" kern="1200" dirty="0">
                  <a:solidFill>
                    <a:srgbClr val="C0504D">
                      <a:lumMod val="75000"/>
                    </a:srgbClr>
                  </a:solidFill>
                  <a:latin typeface="Calibri"/>
                  <a:ea typeface="+mn-ea"/>
                  <a:cs typeface="+mn-cs"/>
                </a:rPr>
                <a:t>   </a:t>
              </a:r>
              <a:r>
                <a:rPr lang="en-US" sz="1800" kern="1200" dirty="0">
                  <a:solidFill>
                    <a:srgbClr val="EEECE1">
                      <a:lumMod val="25000"/>
                    </a:srgbClr>
                  </a:solidFill>
                  <a:latin typeface="Calibri"/>
                  <a:ea typeface="+mn-ea"/>
                  <a:cs typeface="+mn-cs"/>
                </a:rPr>
                <a:t>     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A4ED1E-FBFF-4545-BB64-FFD28CAC8A4B}"/>
                </a:ext>
              </a:extLst>
            </p:cNvPr>
            <p:cNvSpPr txBox="1"/>
            <p:nvPr/>
          </p:nvSpPr>
          <p:spPr>
            <a:xfrm>
              <a:off x="4097994" y="1150981"/>
              <a:ext cx="7007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>
                  <a:solidFill>
                    <a:srgbClr val="C00000"/>
                  </a:solidFill>
                  <a:latin typeface="Calibri"/>
                  <a:ea typeface="+mn-ea"/>
                  <a:cs typeface="+mn-cs"/>
                </a:rPr>
                <a:t>Score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9BF13E-AE77-6A46-B2C2-E1985346BF6A}"/>
              </a:ext>
            </a:extLst>
          </p:cNvPr>
          <p:cNvGrpSpPr/>
          <p:nvPr/>
        </p:nvGrpSpPr>
        <p:grpSpPr>
          <a:xfrm>
            <a:off x="1836283" y="5550212"/>
            <a:ext cx="7221578" cy="369332"/>
            <a:chOff x="312283" y="5550212"/>
            <a:chExt cx="7221578" cy="36933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561906-EEC1-6046-905E-0E55B1D4B60D}"/>
                </a:ext>
              </a:extLst>
            </p:cNvPr>
            <p:cNvCxnSpPr/>
            <p:nvPr/>
          </p:nvCxnSpPr>
          <p:spPr>
            <a:xfrm flipH="1">
              <a:off x="1649896" y="5734878"/>
              <a:ext cx="5883965" cy="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9F59512-F15A-1445-8C8B-BFD99D51B252}"/>
                </a:ext>
              </a:extLst>
            </p:cNvPr>
            <p:cNvSpPr txBox="1"/>
            <p:nvPr/>
          </p:nvSpPr>
          <p:spPr>
            <a:xfrm>
              <a:off x="312283" y="5550212"/>
              <a:ext cx="1016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>
                <a:buClrTx/>
              </a:pPr>
              <a:r>
                <a:rPr lang="en-US" sz="1800" b="1" kern="1200" dirty="0" err="1">
                  <a:solidFill>
                    <a:srgbClr val="C00000"/>
                  </a:solidFill>
                  <a:latin typeface="Calibri"/>
                  <a:ea typeface="+mn-ea"/>
                  <a:cs typeface="+mn-cs"/>
                </a:rPr>
                <a:t>Baserate</a:t>
              </a:r>
              <a:endParaRPr lang="en-US" sz="1800" b="1" kern="1200" dirty="0">
                <a:solidFill>
                  <a:srgbClr val="C00000"/>
                </a:solidFill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9A4A58B-B356-1E41-A6F4-EEF6E44A9AD1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1328523" y="5734878"/>
              <a:ext cx="2517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73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– triage configuration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F4BCD-53D2-7748-A243-56AA09E97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426" y="1161535"/>
            <a:ext cx="7217147" cy="560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303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5F760-7AED-6C4E-8EBB-B33C61A3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the model we select work well 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6060D-EB73-4740-88AA-06B0DF950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8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need to know to perform model selection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scenario</a:t>
            </a:r>
          </a:p>
          <a:p>
            <a:pPr lvl="1"/>
            <a:r>
              <a:rPr lang="en-US" dirty="0"/>
              <a:t>Model selection Methodology</a:t>
            </a:r>
          </a:p>
          <a:p>
            <a:pPr lvl="1"/>
            <a:r>
              <a:rPr lang="en-US" dirty="0"/>
              <a:t>Metric(s) (need to match your policy goals)</a:t>
            </a:r>
          </a:p>
          <a:p>
            <a:endParaRPr lang="en-US" dirty="0"/>
          </a:p>
          <a:p>
            <a:r>
              <a:rPr lang="en-US" dirty="0"/>
              <a:t>Comparison with baselines (to know if you’re effective)</a:t>
            </a:r>
          </a:p>
        </p:txBody>
      </p:sp>
    </p:spTree>
    <p:extLst>
      <p:ext uri="{BB962C8B-B14F-4D97-AF65-F5344CB8AC3E}">
        <p14:creationId xmlns:p14="http://schemas.microsoft.com/office/powerpoint/2010/main" val="354490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B214A-DDAD-0F43-B96B-4C37FD08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select a model that does that?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F38AB-BE42-AD40-8874-9861CDBB9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15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 - Methodology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In-sample</a:t>
            </a:r>
          </a:p>
          <a:p>
            <a:r>
              <a:rPr lang="en-US" dirty="0"/>
              <a:t>Out of sample</a:t>
            </a:r>
          </a:p>
          <a:p>
            <a:r>
              <a:rPr lang="en-US" dirty="0"/>
              <a:t>Multiple Out-of-sample (Hold-out) Splits</a:t>
            </a:r>
          </a:p>
          <a:p>
            <a:r>
              <a:rPr lang="en-US" dirty="0"/>
              <a:t>Cross Validation</a:t>
            </a:r>
          </a:p>
          <a:p>
            <a:pPr lvl="1"/>
            <a:r>
              <a:rPr lang="en-US" dirty="0"/>
              <a:t>Leave one out (LOO)</a:t>
            </a:r>
          </a:p>
          <a:p>
            <a:pPr lvl="1"/>
            <a:r>
              <a:rPr lang="en-US" dirty="0"/>
              <a:t>K fold</a:t>
            </a:r>
          </a:p>
          <a:p>
            <a:r>
              <a:rPr lang="en-US" dirty="0"/>
              <a:t>Temporal Holdouts</a:t>
            </a:r>
          </a:p>
          <a:p>
            <a:r>
              <a:rPr lang="en-US" dirty="0"/>
              <a:t>Spatial Holdouts</a:t>
            </a:r>
          </a:p>
          <a:p>
            <a:r>
              <a:rPr lang="en-US" dirty="0"/>
              <a:t>Other Holdouts?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22766-E48A-9655-332F-73FAEB71550A}"/>
              </a:ext>
            </a:extLst>
          </p:cNvPr>
          <p:cNvSpPr txBox="1"/>
          <p:nvPr/>
        </p:nvSpPr>
        <p:spPr>
          <a:xfrm>
            <a:off x="3036743" y="3254330"/>
            <a:ext cx="6115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726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3AB9-735B-39A3-604D-41B03CDD8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 – Hospital Readmissions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B806A-E28A-416D-3D27-B2965562D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setting: </a:t>
            </a:r>
            <a:r>
              <a:rPr lang="en-US" dirty="0"/>
              <a:t>A hospital model scores every patient at discharge for the risk of being readmitted within 30 days. A care transitions team has capacity to follow up with about 30 patients a week: a home visit, a medication review, a scheduled follow-up appointment.</a:t>
            </a:r>
          </a:p>
          <a:p>
            <a:endParaRPr lang="en-US" dirty="0"/>
          </a:p>
          <a:p>
            <a:r>
              <a:rPr lang="en-US" dirty="0"/>
              <a:t>What should this model work well on/generalize to?</a:t>
            </a:r>
          </a:p>
          <a:p>
            <a:endParaRPr lang="en-US" dirty="0"/>
          </a:p>
          <a:p>
            <a:r>
              <a:rPr lang="en-US" dirty="0"/>
              <a:t>What is a training set fore this model?</a:t>
            </a:r>
          </a:p>
          <a:p>
            <a:endParaRPr lang="en-US" dirty="0"/>
          </a:p>
          <a:p>
            <a:r>
              <a:rPr lang="en-US" dirty="0"/>
              <a:t>What is the corresponding validation set?</a:t>
            </a:r>
          </a:p>
        </p:txBody>
      </p:sp>
    </p:spTree>
    <p:extLst>
      <p:ext uri="{BB962C8B-B14F-4D97-AF65-F5344CB8AC3E}">
        <p14:creationId xmlns:p14="http://schemas.microsoft.com/office/powerpoint/2010/main" val="527981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626DC-8070-2722-D9DD-F7BD08DC7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0DAC-888D-BD2A-DB28-5DD08989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 – Crop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4D047-0B15-C7BF-2C65-EC1F3A169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setting: </a:t>
            </a:r>
            <a:r>
              <a:rPr lang="en-US" dirty="0"/>
              <a:t>A satellite-based system classifies what crop is growing in each field, for yield forecasting and food security early warning. It was built using ground-truth field surveys in three countries. A ministry in a fourth country, where no such surveys exist, wants to use it for next season. </a:t>
            </a:r>
          </a:p>
          <a:p>
            <a:endParaRPr lang="en-US" dirty="0"/>
          </a:p>
          <a:p>
            <a:r>
              <a:rPr lang="en-US" dirty="0"/>
              <a:t>What should this model work well on/generalize to?</a:t>
            </a:r>
          </a:p>
          <a:p>
            <a:endParaRPr lang="en-US" dirty="0"/>
          </a:p>
          <a:p>
            <a:r>
              <a:rPr lang="en-US" dirty="0"/>
              <a:t>What is a training set fore this model?</a:t>
            </a:r>
          </a:p>
          <a:p>
            <a:endParaRPr lang="en-US" dirty="0"/>
          </a:p>
          <a:p>
            <a:r>
              <a:rPr lang="en-US" dirty="0"/>
              <a:t>What is the corresponding validation set?</a:t>
            </a:r>
          </a:p>
        </p:txBody>
      </p:sp>
    </p:spTree>
    <p:extLst>
      <p:ext uri="{BB962C8B-B14F-4D97-AF65-F5344CB8AC3E}">
        <p14:creationId xmlns:p14="http://schemas.microsoft.com/office/powerpoint/2010/main" val="1355954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47EA-4092-034E-8792-847E3717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07A3F-596E-1542-A461-8EE389BA1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1: We want to track news coverage of epidemic related topics. We have tagged a small corpus (n=1000) of news articles from Jan 2019 to September 2026 and now have a stream of new incoming articles every day. We want to deploy a system that tells us something about intensity of coverage by media outlet going forward.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should our model generalize to?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a training set?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the corresponding validation set?</a:t>
            </a:r>
          </a:p>
        </p:txBody>
      </p:sp>
    </p:spTree>
    <p:extLst>
      <p:ext uri="{BB962C8B-B14F-4D97-AF65-F5344CB8AC3E}">
        <p14:creationId xmlns:p14="http://schemas.microsoft.com/office/powerpoint/2010/main" val="1096452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47EA-4092-034E-8792-847E3717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07A3F-596E-1542-A461-8EE389BA1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2: We want to track news coverage of epidemic related topics. We have tagged a small corpus (n=1000) of news articles from Jan 2019 to September 2025 and now have a stream of new incoming articles every day. We want to deploy a system that tells us something about intensity of coverage by media outlet over the last 6 years as well as going forward.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should our model generalize to?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a training set?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the corresponding validation set?</a:t>
            </a:r>
          </a:p>
        </p:txBody>
      </p:sp>
    </p:spTree>
    <p:extLst>
      <p:ext uri="{BB962C8B-B14F-4D97-AF65-F5344CB8AC3E}">
        <p14:creationId xmlns:p14="http://schemas.microsoft.com/office/powerpoint/2010/main" val="1074433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C4D1-E609-1805-A647-0F71B597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Underlying principle: match methodology to match deployment time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26C96-0FDD-D352-8DBF-C45E1EF7D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does the potential test-time distribution differ from training?</a:t>
            </a:r>
            <a:br>
              <a:rPr lang="en-US" dirty="0"/>
            </a:br>
            <a:endParaRPr lang="en-US" dirty="0"/>
          </a:p>
          <a:p>
            <a:pPr lvl="1" fontAlgn="base"/>
            <a:r>
              <a:rPr lang="en-US" dirty="0"/>
              <a:t>No shift: training data is IID, test data will be IID from same distribution</a:t>
            </a:r>
            <a:br>
              <a:rPr lang="en-US" dirty="0"/>
            </a:br>
            <a:endParaRPr lang="en-US" dirty="0"/>
          </a:p>
          <a:p>
            <a:pPr lvl="1" fontAlgn="base"/>
            <a:r>
              <a:rPr lang="en-US" dirty="0"/>
              <a:t>Time series setting: data is not IID, future will not look like resampled present</a:t>
            </a:r>
            <a:br>
              <a:rPr lang="en-US" dirty="0"/>
            </a:br>
            <a:endParaRPr lang="en-US" dirty="0"/>
          </a:p>
          <a:p>
            <a:pPr lvl="1" fontAlgn="base"/>
            <a:r>
              <a:rPr lang="en-US" dirty="0"/>
              <a:t>Cluster structure, e.g. students within classrooms within schools. Test-time might be better modeled at a higher cluster level (generalizing to new schools) than within clusters (generalizing to new students within a school we’ve seen)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009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47EA-4092-034E-8792-847E3717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07A3F-596E-1542-A461-8EE389BA1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3: We want to predict whether there will be an increase in epidemic related articles in the media during the next week. 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should our model generalize to?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a training set?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the corresponding validation set?</a:t>
            </a:r>
          </a:p>
        </p:txBody>
      </p:sp>
    </p:spTree>
    <p:extLst>
      <p:ext uri="{BB962C8B-B14F-4D97-AF65-F5344CB8AC3E}">
        <p14:creationId xmlns:p14="http://schemas.microsoft.com/office/powerpoint/2010/main" val="3999252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47EA-4092-034E-8792-847E3717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07A3F-596E-1542-A461-8EE389BA1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/>
              <a:t>4: We want to predict whether there will be an increase in epidemic related articles in the media during the next month. 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should our model generalize to?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a training set?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What is the corresponding validation set?</a:t>
            </a:r>
          </a:p>
        </p:txBody>
      </p:sp>
    </p:spTree>
    <p:extLst>
      <p:ext uri="{BB962C8B-B14F-4D97-AF65-F5344CB8AC3E}">
        <p14:creationId xmlns:p14="http://schemas.microsoft.com/office/powerpoint/2010/main" val="1147417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A4E3-1083-BD43-B370-9A1F90A3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1F066-C352-2344-9AFE-A7E0C820C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47004"/>
            <a:ext cx="11360700" cy="4555200"/>
          </a:xfrm>
        </p:spPr>
        <p:txBody>
          <a:bodyPr/>
          <a:lstStyle/>
          <a:p>
            <a:r>
              <a:rPr lang="en-US" dirty="0"/>
              <a:t>How far back to go when training models? (max training history)</a:t>
            </a:r>
          </a:p>
          <a:p>
            <a:pPr lvl="1"/>
            <a:r>
              <a:rPr lang="en-US" dirty="0"/>
              <a:t> To the beginning of time (expanding training window)?</a:t>
            </a:r>
          </a:p>
          <a:p>
            <a:pPr lvl="1"/>
            <a:r>
              <a:rPr lang="en-US" dirty="0"/>
              <a:t>Fixed history (rolling training window)?</a:t>
            </a:r>
          </a:p>
          <a:p>
            <a:pPr lvl="1"/>
            <a:r>
              <a:rPr lang="en-US" dirty="0"/>
              <a:t>Something else?</a:t>
            </a:r>
          </a:p>
          <a:p>
            <a:pPr lvl="1"/>
            <a:r>
              <a:rPr lang="en-US" dirty="0"/>
              <a:t>How far back do you get your features from?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much to move forward from train-validation pair 1 to train-validation pair 2?</a:t>
            </a:r>
          </a:p>
          <a:p>
            <a:pPr lvl="1"/>
            <a:r>
              <a:rPr lang="en-US" dirty="0"/>
              <a:t>A day?</a:t>
            </a:r>
          </a:p>
          <a:p>
            <a:pPr lvl="1"/>
            <a:r>
              <a:rPr lang="en-US" dirty="0"/>
              <a:t>A month? </a:t>
            </a:r>
          </a:p>
          <a:p>
            <a:pPr lvl="1"/>
            <a:r>
              <a:rPr lang="en-US" dirty="0"/>
              <a:t>Something else?</a:t>
            </a:r>
          </a:p>
        </p:txBody>
      </p:sp>
    </p:spTree>
    <p:extLst>
      <p:ext uri="{BB962C8B-B14F-4D97-AF65-F5344CB8AC3E}">
        <p14:creationId xmlns:p14="http://schemas.microsoft.com/office/powerpoint/2010/main" val="2036659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8E8A16-2F7F-9443-93CD-17932D868828}"/>
              </a:ext>
            </a:extLst>
          </p:cNvPr>
          <p:cNvSpPr txBox="1"/>
          <p:nvPr/>
        </p:nvSpPr>
        <p:spPr>
          <a:xfrm>
            <a:off x="4572001" y="5979885"/>
            <a:ext cx="773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2014                          2015                              2016                           2017                          2018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A66AF8-5911-C4C0-8FEE-37A63809E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5516"/>
            <a:ext cx="4995772" cy="58624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E8F66F-F4C4-8A4B-BD28-D3552AF8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682109"/>
            <a:ext cx="7772400" cy="349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7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A4E3-1083-BD43-B370-9A1F90A3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considerations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1F066-C352-2344-9AFE-A7E0C820C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making repeated predictions about the same entity at different times, how often should an entity be repeated in the training data?</a:t>
            </a:r>
          </a:p>
          <a:p>
            <a:pPr lvl="1"/>
            <a:r>
              <a:rPr lang="en-US" dirty="0"/>
              <a:t>In an event-based deployment setup?</a:t>
            </a:r>
          </a:p>
          <a:p>
            <a:pPr lvl="1"/>
            <a:r>
              <a:rPr lang="en-US" dirty="0"/>
              <a:t>In a “take action at regular-</a:t>
            </a:r>
            <a:r>
              <a:rPr lang="en-US" dirty="0" err="1"/>
              <a:t>ish</a:t>
            </a:r>
            <a:r>
              <a:rPr lang="en-US" dirty="0"/>
              <a:t> intervals” deployment?</a:t>
            </a:r>
          </a:p>
          <a:p>
            <a:pPr marL="565150" lvl="1" indent="0">
              <a:buNone/>
            </a:pPr>
            <a:endParaRPr lang="en-US" dirty="0"/>
          </a:p>
          <a:p>
            <a:r>
              <a:rPr lang="en-US" dirty="0"/>
              <a:t>What about in the validation set?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682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A672-F56C-2F41-B566-75099198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2F8AE-4F06-1B49-B482-20CE10B4D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validation set(s) to match deployment scenarios (and constraints)</a:t>
            </a:r>
          </a:p>
          <a:p>
            <a:endParaRPr lang="en-US" dirty="0"/>
          </a:p>
          <a:p>
            <a:r>
              <a:rPr lang="en-US" dirty="0"/>
              <a:t>Set up training set(s) any way we want but match data (both features and labels) available at training time</a:t>
            </a:r>
          </a:p>
          <a:p>
            <a:pPr lvl="1"/>
            <a:r>
              <a:rPr lang="en-US" dirty="0"/>
              <a:t>Making sure labels are not censored based on label period</a:t>
            </a:r>
          </a:p>
          <a:p>
            <a:pPr lvl="1"/>
            <a:r>
              <a:rPr lang="en-US" dirty="0"/>
              <a:t> Sampling (if helpful)</a:t>
            </a:r>
          </a:p>
          <a:p>
            <a:pPr lvl="1"/>
            <a:r>
              <a:rPr lang="en-US" dirty="0"/>
              <a:t>Data collection and update lag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591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00B3-6753-994F-884E-259FF72CF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 Validation Pairs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123CB5-A986-524E-B988-2572CA609728}"/>
              </a:ext>
            </a:extLst>
          </p:cNvPr>
          <p:cNvGraphicFramePr>
            <a:graphicFrameLocks noGrp="1"/>
          </p:cNvGraphicFramePr>
          <p:nvPr/>
        </p:nvGraphicFramePr>
        <p:xfrm>
          <a:off x="279699" y="1226519"/>
          <a:ext cx="10843710" cy="3558060"/>
        </p:xfrm>
        <a:graphic>
          <a:graphicData uri="http://schemas.openxmlformats.org/drawingml/2006/table">
            <a:tbl>
              <a:tblPr/>
              <a:tblGrid>
                <a:gridCol w="980624">
                  <a:extLst>
                    <a:ext uri="{9D8B030D-6E8A-4147-A177-3AD203B41FA5}">
                      <a16:colId xmlns:a16="http://schemas.microsoft.com/office/drawing/2014/main" val="1169677143"/>
                    </a:ext>
                  </a:extLst>
                </a:gridCol>
                <a:gridCol w="1236439">
                  <a:extLst>
                    <a:ext uri="{9D8B030D-6E8A-4147-A177-3AD203B41FA5}">
                      <a16:colId xmlns:a16="http://schemas.microsoft.com/office/drawing/2014/main" val="1992358054"/>
                    </a:ext>
                  </a:extLst>
                </a:gridCol>
                <a:gridCol w="1321710">
                  <a:extLst>
                    <a:ext uri="{9D8B030D-6E8A-4147-A177-3AD203B41FA5}">
                      <a16:colId xmlns:a16="http://schemas.microsoft.com/office/drawing/2014/main" val="2155224152"/>
                    </a:ext>
                  </a:extLst>
                </a:gridCol>
                <a:gridCol w="1307498">
                  <a:extLst>
                    <a:ext uri="{9D8B030D-6E8A-4147-A177-3AD203B41FA5}">
                      <a16:colId xmlns:a16="http://schemas.microsoft.com/office/drawing/2014/main" val="2488083655"/>
                    </a:ext>
                  </a:extLst>
                </a:gridCol>
                <a:gridCol w="1165379">
                  <a:extLst>
                    <a:ext uri="{9D8B030D-6E8A-4147-A177-3AD203B41FA5}">
                      <a16:colId xmlns:a16="http://schemas.microsoft.com/office/drawing/2014/main" val="3479530697"/>
                    </a:ext>
                  </a:extLst>
                </a:gridCol>
                <a:gridCol w="1208015">
                  <a:extLst>
                    <a:ext uri="{9D8B030D-6E8A-4147-A177-3AD203B41FA5}">
                      <a16:colId xmlns:a16="http://schemas.microsoft.com/office/drawing/2014/main" val="2383658884"/>
                    </a:ext>
                  </a:extLst>
                </a:gridCol>
                <a:gridCol w="1208015">
                  <a:extLst>
                    <a:ext uri="{9D8B030D-6E8A-4147-A177-3AD203B41FA5}">
                      <a16:colId xmlns:a16="http://schemas.microsoft.com/office/drawing/2014/main" val="3701120334"/>
                    </a:ext>
                  </a:extLst>
                </a:gridCol>
                <a:gridCol w="1208015">
                  <a:extLst>
                    <a:ext uri="{9D8B030D-6E8A-4147-A177-3AD203B41FA5}">
                      <a16:colId xmlns:a16="http://schemas.microsoft.com/office/drawing/2014/main" val="3497687737"/>
                    </a:ext>
                  </a:extLst>
                </a:gridCol>
                <a:gridCol w="1208015">
                  <a:extLst>
                    <a:ext uri="{9D8B030D-6E8A-4147-A177-3AD203B41FA5}">
                      <a16:colId xmlns:a16="http://schemas.microsoft.com/office/drawing/2014/main" val="4087941343"/>
                    </a:ext>
                  </a:extLst>
                </a:gridCol>
              </a:tblGrid>
              <a:tr h="580500"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 Set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Validation Set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516673"/>
                  </a:ext>
                </a:extLst>
              </a:tr>
              <a:tr h="10476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Train-Validation Pair ID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Earliest project submission date 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Latest project submission date 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Start date for labels</a:t>
                      </a:r>
                      <a:endParaRPr lang="en-US" sz="28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End date for labels</a:t>
                      </a:r>
                      <a:endParaRPr lang="en-US" sz="2800" dirty="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Start date for rows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End date for rows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Start date for labels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End date for labels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230078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1 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315643"/>
                  </a:ext>
                </a:extLst>
              </a:tr>
              <a:tr h="5724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035906"/>
                  </a:ext>
                </a:extLst>
              </a:tr>
              <a:tr h="65880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(most recent)</a:t>
                      </a:r>
                      <a:endParaRPr lang="en-US" sz="2800"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 </a:t>
                      </a: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4765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C3A8FBED-85E3-6543-8C9B-3BCDC1DC1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057" y="1334098"/>
            <a:ext cx="16688560" cy="6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Google Shape;75;p16">
            <a:extLst>
              <a:ext uri="{FF2B5EF4-FFF2-40B4-BE49-F238E27FC236}">
                <a16:creationId xmlns:a16="http://schemas.microsoft.com/office/drawing/2014/main" id="{88022FE4-43BB-F446-8B27-9386A69F8BEF}"/>
              </a:ext>
            </a:extLst>
          </p:cNvPr>
          <p:cNvSpPr/>
          <p:nvPr/>
        </p:nvSpPr>
        <p:spPr>
          <a:xfrm>
            <a:off x="2616653" y="4956475"/>
            <a:ext cx="2723700" cy="518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Training Examples</a:t>
            </a:r>
            <a:endParaRPr dirty="0"/>
          </a:p>
        </p:txBody>
      </p:sp>
      <p:sp>
        <p:nvSpPr>
          <p:cNvPr id="9" name="Google Shape;76;p16">
            <a:extLst>
              <a:ext uri="{FF2B5EF4-FFF2-40B4-BE49-F238E27FC236}">
                <a16:creationId xmlns:a16="http://schemas.microsoft.com/office/drawing/2014/main" id="{1CC13113-308F-0D49-A54C-F1B7D29843CB}"/>
              </a:ext>
            </a:extLst>
          </p:cNvPr>
          <p:cNvSpPr/>
          <p:nvPr/>
        </p:nvSpPr>
        <p:spPr>
          <a:xfrm>
            <a:off x="5279753" y="4956475"/>
            <a:ext cx="664200" cy="518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Buffer</a:t>
            </a:r>
            <a:endParaRPr/>
          </a:p>
        </p:txBody>
      </p:sp>
      <p:sp>
        <p:nvSpPr>
          <p:cNvPr id="10" name="Google Shape;77;p16">
            <a:extLst>
              <a:ext uri="{FF2B5EF4-FFF2-40B4-BE49-F238E27FC236}">
                <a16:creationId xmlns:a16="http://schemas.microsoft.com/office/drawing/2014/main" id="{74B63F31-AE4A-0947-8507-1D23D6B07216}"/>
              </a:ext>
            </a:extLst>
          </p:cNvPr>
          <p:cNvSpPr/>
          <p:nvPr/>
        </p:nvSpPr>
        <p:spPr>
          <a:xfrm>
            <a:off x="5867753" y="4956475"/>
            <a:ext cx="2723700" cy="518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Examples</a:t>
            </a:r>
            <a:endParaRPr/>
          </a:p>
        </p:txBody>
      </p:sp>
      <p:sp>
        <p:nvSpPr>
          <p:cNvPr id="11" name="Google Shape;78;p16">
            <a:extLst>
              <a:ext uri="{FF2B5EF4-FFF2-40B4-BE49-F238E27FC236}">
                <a16:creationId xmlns:a16="http://schemas.microsoft.com/office/drawing/2014/main" id="{B0E0B54D-C539-714F-A207-E2E53766956C}"/>
              </a:ext>
            </a:extLst>
          </p:cNvPr>
          <p:cNvSpPr/>
          <p:nvPr/>
        </p:nvSpPr>
        <p:spPr>
          <a:xfrm>
            <a:off x="8384428" y="4956475"/>
            <a:ext cx="664200" cy="518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Buffer</a:t>
            </a:r>
            <a:endParaRPr/>
          </a:p>
        </p:txBody>
      </p:sp>
      <p:sp>
        <p:nvSpPr>
          <p:cNvPr id="12" name="Google Shape;79;p16">
            <a:extLst>
              <a:ext uri="{FF2B5EF4-FFF2-40B4-BE49-F238E27FC236}">
                <a16:creationId xmlns:a16="http://schemas.microsoft.com/office/drawing/2014/main" id="{FA1B9212-0C05-C34C-B9A0-7C260DAEEC4D}"/>
              </a:ext>
            </a:extLst>
          </p:cNvPr>
          <p:cNvSpPr/>
          <p:nvPr/>
        </p:nvSpPr>
        <p:spPr>
          <a:xfrm>
            <a:off x="2826203" y="5664650"/>
            <a:ext cx="2723700" cy="518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Examples</a:t>
            </a:r>
            <a:endParaRPr/>
          </a:p>
        </p:txBody>
      </p:sp>
      <p:sp>
        <p:nvSpPr>
          <p:cNvPr id="13" name="Google Shape;80;p16">
            <a:extLst>
              <a:ext uri="{FF2B5EF4-FFF2-40B4-BE49-F238E27FC236}">
                <a16:creationId xmlns:a16="http://schemas.microsoft.com/office/drawing/2014/main" id="{1FCFB2E6-799F-2642-8B0D-82FE69AF405C}"/>
              </a:ext>
            </a:extLst>
          </p:cNvPr>
          <p:cNvSpPr/>
          <p:nvPr/>
        </p:nvSpPr>
        <p:spPr>
          <a:xfrm>
            <a:off x="5489303" y="5664650"/>
            <a:ext cx="664200" cy="518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Buffer</a:t>
            </a:r>
            <a:endParaRPr/>
          </a:p>
        </p:txBody>
      </p:sp>
      <p:sp>
        <p:nvSpPr>
          <p:cNvPr id="14" name="Google Shape;81;p16">
            <a:extLst>
              <a:ext uri="{FF2B5EF4-FFF2-40B4-BE49-F238E27FC236}">
                <a16:creationId xmlns:a16="http://schemas.microsoft.com/office/drawing/2014/main" id="{23524599-0A97-2941-A8B2-33CCFF497383}"/>
              </a:ext>
            </a:extLst>
          </p:cNvPr>
          <p:cNvSpPr/>
          <p:nvPr/>
        </p:nvSpPr>
        <p:spPr>
          <a:xfrm>
            <a:off x="6077303" y="5664650"/>
            <a:ext cx="2723700" cy="518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Examples</a:t>
            </a:r>
            <a:endParaRPr/>
          </a:p>
        </p:txBody>
      </p:sp>
      <p:sp>
        <p:nvSpPr>
          <p:cNvPr id="15" name="Google Shape;82;p16">
            <a:extLst>
              <a:ext uri="{FF2B5EF4-FFF2-40B4-BE49-F238E27FC236}">
                <a16:creationId xmlns:a16="http://schemas.microsoft.com/office/drawing/2014/main" id="{DC3E6061-FCD2-2B4E-8D49-44222CC2D6F0}"/>
              </a:ext>
            </a:extLst>
          </p:cNvPr>
          <p:cNvSpPr/>
          <p:nvPr/>
        </p:nvSpPr>
        <p:spPr>
          <a:xfrm>
            <a:off x="8593978" y="5664650"/>
            <a:ext cx="664200" cy="518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Buffer</a:t>
            </a:r>
            <a:endParaRPr/>
          </a:p>
        </p:txBody>
      </p:sp>
      <p:sp>
        <p:nvSpPr>
          <p:cNvPr id="16" name="Google Shape;83;p16">
            <a:extLst>
              <a:ext uri="{FF2B5EF4-FFF2-40B4-BE49-F238E27FC236}">
                <a16:creationId xmlns:a16="http://schemas.microsoft.com/office/drawing/2014/main" id="{3E5A93A3-DDC4-A142-86E1-4EED81ECBB34}"/>
              </a:ext>
            </a:extLst>
          </p:cNvPr>
          <p:cNvSpPr txBox="1"/>
          <p:nvPr/>
        </p:nvSpPr>
        <p:spPr>
          <a:xfrm>
            <a:off x="176178" y="4984825"/>
            <a:ext cx="23350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Train-Validation Pair 1</a:t>
            </a:r>
            <a:endParaRPr sz="3200" dirty="0"/>
          </a:p>
        </p:txBody>
      </p:sp>
      <p:sp>
        <p:nvSpPr>
          <p:cNvPr id="17" name="Google Shape;84;p16">
            <a:extLst>
              <a:ext uri="{FF2B5EF4-FFF2-40B4-BE49-F238E27FC236}">
                <a16:creationId xmlns:a16="http://schemas.microsoft.com/office/drawing/2014/main" id="{E9289A33-C4D3-8549-9067-B9295D5724D3}"/>
              </a:ext>
            </a:extLst>
          </p:cNvPr>
          <p:cNvSpPr txBox="1"/>
          <p:nvPr/>
        </p:nvSpPr>
        <p:spPr>
          <a:xfrm>
            <a:off x="176178" y="5693000"/>
            <a:ext cx="246805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Train-Validation Pair 2</a:t>
            </a:r>
            <a:endParaRPr sz="3200" dirty="0"/>
          </a:p>
        </p:txBody>
      </p:sp>
      <p:cxnSp>
        <p:nvCxnSpPr>
          <p:cNvPr id="18" name="Google Shape;85;p16">
            <a:extLst>
              <a:ext uri="{FF2B5EF4-FFF2-40B4-BE49-F238E27FC236}">
                <a16:creationId xmlns:a16="http://schemas.microsoft.com/office/drawing/2014/main" id="{2567FE36-C42B-6540-92E4-C7DBA5213BA9}"/>
              </a:ext>
            </a:extLst>
          </p:cNvPr>
          <p:cNvCxnSpPr>
            <a:cxnSpLocks/>
          </p:cNvCxnSpPr>
          <p:nvPr/>
        </p:nvCxnSpPr>
        <p:spPr>
          <a:xfrm flipH="1" flipV="1">
            <a:off x="2334409" y="3302598"/>
            <a:ext cx="291179" cy="163077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86;p16">
            <a:extLst>
              <a:ext uri="{FF2B5EF4-FFF2-40B4-BE49-F238E27FC236}">
                <a16:creationId xmlns:a16="http://schemas.microsoft.com/office/drawing/2014/main" id="{128B2764-2EF0-AB47-82DF-3CC4C0AD7B0F}"/>
              </a:ext>
            </a:extLst>
          </p:cNvPr>
          <p:cNvCxnSpPr>
            <a:cxnSpLocks/>
          </p:cNvCxnSpPr>
          <p:nvPr/>
        </p:nvCxnSpPr>
        <p:spPr>
          <a:xfrm flipH="1" flipV="1">
            <a:off x="3313355" y="3239225"/>
            <a:ext cx="1966398" cy="170891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87;p16">
            <a:extLst>
              <a:ext uri="{FF2B5EF4-FFF2-40B4-BE49-F238E27FC236}">
                <a16:creationId xmlns:a16="http://schemas.microsoft.com/office/drawing/2014/main" id="{7B00B6AE-0774-A04C-BD90-AA5163A87411}"/>
              </a:ext>
            </a:extLst>
          </p:cNvPr>
          <p:cNvCxnSpPr>
            <a:cxnSpLocks/>
          </p:cNvCxnSpPr>
          <p:nvPr/>
        </p:nvCxnSpPr>
        <p:spPr>
          <a:xfrm flipV="1">
            <a:off x="2655228" y="3239224"/>
            <a:ext cx="1738624" cy="170897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88;p16">
            <a:extLst>
              <a:ext uri="{FF2B5EF4-FFF2-40B4-BE49-F238E27FC236}">
                <a16:creationId xmlns:a16="http://schemas.microsoft.com/office/drawing/2014/main" id="{C47765E1-A98E-1B4F-8F44-E2C687798D34}"/>
              </a:ext>
            </a:extLst>
          </p:cNvPr>
          <p:cNvCxnSpPr>
            <a:cxnSpLocks/>
          </p:cNvCxnSpPr>
          <p:nvPr/>
        </p:nvCxnSpPr>
        <p:spPr>
          <a:xfrm flipH="1" flipV="1">
            <a:off x="5489303" y="3239162"/>
            <a:ext cx="378450" cy="17173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85;p16">
            <a:extLst>
              <a:ext uri="{FF2B5EF4-FFF2-40B4-BE49-F238E27FC236}">
                <a16:creationId xmlns:a16="http://schemas.microsoft.com/office/drawing/2014/main" id="{02C7722C-A353-154E-9BC4-296A2BF0FD96}"/>
              </a:ext>
            </a:extLst>
          </p:cNvPr>
          <p:cNvCxnSpPr>
            <a:cxnSpLocks/>
          </p:cNvCxnSpPr>
          <p:nvPr/>
        </p:nvCxnSpPr>
        <p:spPr>
          <a:xfrm flipV="1">
            <a:off x="5897143" y="3228203"/>
            <a:ext cx="893435" cy="170516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86;p16">
            <a:extLst>
              <a:ext uri="{FF2B5EF4-FFF2-40B4-BE49-F238E27FC236}">
                <a16:creationId xmlns:a16="http://schemas.microsoft.com/office/drawing/2014/main" id="{491297DD-0D6D-D94F-80F4-D4CB875DFD89}"/>
              </a:ext>
            </a:extLst>
          </p:cNvPr>
          <p:cNvCxnSpPr>
            <a:cxnSpLocks/>
          </p:cNvCxnSpPr>
          <p:nvPr/>
        </p:nvCxnSpPr>
        <p:spPr>
          <a:xfrm flipV="1">
            <a:off x="5867753" y="3230949"/>
            <a:ext cx="3297762" cy="172552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87;p16">
            <a:extLst>
              <a:ext uri="{FF2B5EF4-FFF2-40B4-BE49-F238E27FC236}">
                <a16:creationId xmlns:a16="http://schemas.microsoft.com/office/drawing/2014/main" id="{E28D42CD-1164-364E-A37D-76E6A7DC0BCE}"/>
              </a:ext>
            </a:extLst>
          </p:cNvPr>
          <p:cNvCxnSpPr>
            <a:cxnSpLocks/>
          </p:cNvCxnSpPr>
          <p:nvPr/>
        </p:nvCxnSpPr>
        <p:spPr>
          <a:xfrm flipH="1" flipV="1">
            <a:off x="7653624" y="3239224"/>
            <a:ext cx="713197" cy="17089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" name="Google Shape;88;p16">
            <a:extLst>
              <a:ext uri="{FF2B5EF4-FFF2-40B4-BE49-F238E27FC236}">
                <a16:creationId xmlns:a16="http://schemas.microsoft.com/office/drawing/2014/main" id="{B477AA2D-D7A8-0546-AE76-40F633252E5C}"/>
              </a:ext>
            </a:extLst>
          </p:cNvPr>
          <p:cNvCxnSpPr>
            <a:cxnSpLocks/>
          </p:cNvCxnSpPr>
          <p:nvPr/>
        </p:nvCxnSpPr>
        <p:spPr>
          <a:xfrm flipV="1">
            <a:off x="9048629" y="3239162"/>
            <a:ext cx="1224924" cy="169420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28140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0" y="23412"/>
            <a:ext cx="9144000" cy="1143000"/>
          </a:xfrm>
        </p:spPr>
        <p:txBody>
          <a:bodyPr/>
          <a:lstStyle/>
          <a:p>
            <a:r>
              <a:rPr lang="en-US" dirty="0"/>
              <a:t>Temporal Holdouts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1200" y="1509578"/>
            <a:ext cx="8229600" cy="6741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Data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19918" y="2177063"/>
            <a:ext cx="9148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2002                                                                                                                2017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519918" y="2756264"/>
            <a:ext cx="9148082" cy="1129150"/>
            <a:chOff x="-4082" y="2756264"/>
            <a:chExt cx="9148082" cy="1129150"/>
          </a:xfrm>
        </p:grpSpPr>
        <p:sp>
          <p:nvSpPr>
            <p:cNvPr id="7" name="Rectangle 6"/>
            <p:cNvSpPr/>
            <p:nvPr/>
          </p:nvSpPr>
          <p:spPr>
            <a:xfrm>
              <a:off x="457200" y="2756264"/>
              <a:ext cx="2743200" cy="6400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Arial"/>
                </a:rPr>
                <a:t>Train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-4082" y="3423749"/>
              <a:ext cx="91480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2002                               2007  2008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187908" y="2756264"/>
              <a:ext cx="548640" cy="6400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H="1">
              <a:off x="3477218" y="2952684"/>
              <a:ext cx="884920" cy="1972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347148" y="2781811"/>
              <a:ext cx="11904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Validate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524000" y="3963355"/>
            <a:ext cx="9148082" cy="1159515"/>
            <a:chOff x="0" y="3963354"/>
            <a:chExt cx="9148082" cy="1159515"/>
          </a:xfrm>
        </p:grpSpPr>
        <p:sp>
          <p:nvSpPr>
            <p:cNvPr id="14" name="Rectangle 13"/>
            <p:cNvSpPr/>
            <p:nvPr/>
          </p:nvSpPr>
          <p:spPr>
            <a:xfrm>
              <a:off x="459697" y="4025141"/>
              <a:ext cx="3330313" cy="6400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Arial"/>
                </a:rPr>
                <a:t>Train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790011" y="4025141"/>
              <a:ext cx="548640" cy="6400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H="1">
              <a:off x="3926041" y="4286520"/>
              <a:ext cx="884920" cy="10494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810961" y="3963354"/>
              <a:ext cx="11904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Validate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0" y="4661204"/>
              <a:ext cx="91480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2002                                       2008  2009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571470" y="5150074"/>
            <a:ext cx="9148082" cy="1144525"/>
            <a:chOff x="47470" y="5150073"/>
            <a:chExt cx="9148082" cy="1144525"/>
          </a:xfrm>
        </p:grpSpPr>
        <p:sp>
          <p:nvSpPr>
            <p:cNvPr id="22" name="Rectangle 21"/>
            <p:cNvSpPr/>
            <p:nvPr/>
          </p:nvSpPr>
          <p:spPr>
            <a:xfrm>
              <a:off x="477186" y="5211860"/>
              <a:ext cx="3869961" cy="6400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Arial"/>
                </a:rPr>
                <a:t>Train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362134" y="5211860"/>
              <a:ext cx="548640" cy="6400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flipH="1">
              <a:off x="4691919" y="5473239"/>
              <a:ext cx="691165" cy="18561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383084" y="5150073"/>
              <a:ext cx="11904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Validate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470" y="5832933"/>
              <a:ext cx="91480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2002                                               2009 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59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5E2B7B-AB3E-FE49-BCC7-910B2DFB0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 - Time splits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848517-62FD-AA49-B34B-0EBA6DF1CD11}"/>
              </a:ext>
            </a:extLst>
          </p:cNvPr>
          <p:cNvGrpSpPr/>
          <p:nvPr/>
        </p:nvGrpSpPr>
        <p:grpSpPr>
          <a:xfrm>
            <a:off x="2217514" y="2218030"/>
            <a:ext cx="9148082" cy="1144525"/>
            <a:chOff x="47470" y="5150073"/>
            <a:chExt cx="9148082" cy="11445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03ABDC-9084-4544-9DC5-66BAF6973545}"/>
                </a:ext>
              </a:extLst>
            </p:cNvPr>
            <p:cNvSpPr/>
            <p:nvPr/>
          </p:nvSpPr>
          <p:spPr>
            <a:xfrm>
              <a:off x="477186" y="5211860"/>
              <a:ext cx="3869961" cy="6400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Arial"/>
                </a:rPr>
                <a:t>Train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0332DDF-170A-054B-92B3-44DAB5C04F0A}"/>
                </a:ext>
              </a:extLst>
            </p:cNvPr>
            <p:cNvSpPr/>
            <p:nvPr/>
          </p:nvSpPr>
          <p:spPr>
            <a:xfrm>
              <a:off x="4362134" y="5211860"/>
              <a:ext cx="548640" cy="6400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6F4BEE6-8AB7-2A4D-9BD5-73F9432A6D55}"/>
                </a:ext>
              </a:extLst>
            </p:cNvPr>
            <p:cNvCxnSpPr/>
            <p:nvPr/>
          </p:nvCxnSpPr>
          <p:spPr>
            <a:xfrm flipH="1">
              <a:off x="4691919" y="5473239"/>
              <a:ext cx="691165" cy="18561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B333397-9692-BC4E-BD2E-BE71E8EBCEF5}"/>
                </a:ext>
              </a:extLst>
            </p:cNvPr>
            <p:cNvSpPr txBox="1"/>
            <p:nvPr/>
          </p:nvSpPr>
          <p:spPr>
            <a:xfrm>
              <a:off x="5383084" y="5150073"/>
              <a:ext cx="11904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Validate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1DCE91A-5C2E-3D44-A5F5-781F52EFDC0E}"/>
                </a:ext>
              </a:extLst>
            </p:cNvPr>
            <p:cNvSpPr txBox="1"/>
            <p:nvPr/>
          </p:nvSpPr>
          <p:spPr>
            <a:xfrm>
              <a:off x="47470" y="5832933"/>
              <a:ext cx="91480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rPr>
                <a:t>2002                                               2009  2010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3B7AF97-37C9-2D49-92DE-9CE9AD7F778A}"/>
              </a:ext>
            </a:extLst>
          </p:cNvPr>
          <p:cNvSpPr/>
          <p:nvPr/>
        </p:nvSpPr>
        <p:spPr>
          <a:xfrm>
            <a:off x="2647230" y="3799700"/>
            <a:ext cx="3869961" cy="6400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Train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0BE481-E2C8-CA42-A477-1C946D2543B3}"/>
              </a:ext>
            </a:extLst>
          </p:cNvPr>
          <p:cNvSpPr txBox="1"/>
          <p:nvPr/>
        </p:nvSpPr>
        <p:spPr>
          <a:xfrm>
            <a:off x="2203923" y="4604671"/>
            <a:ext cx="9148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2002                                               2009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257041-1804-994A-A8BF-6A95F48BBDA8}"/>
              </a:ext>
            </a:extLst>
          </p:cNvPr>
          <p:cNvSpPr/>
          <p:nvPr/>
        </p:nvSpPr>
        <p:spPr>
          <a:xfrm>
            <a:off x="5949322" y="3799700"/>
            <a:ext cx="548640" cy="6400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D17EFF-CF0B-7F47-9242-A83503B40BDD}"/>
              </a:ext>
            </a:extLst>
          </p:cNvPr>
          <p:cNvCxnSpPr/>
          <p:nvPr/>
        </p:nvCxnSpPr>
        <p:spPr>
          <a:xfrm flipH="1">
            <a:off x="6234274" y="4069205"/>
            <a:ext cx="691165" cy="18561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E8BC5E6-6780-664B-B250-9BB44CBB989B}"/>
              </a:ext>
            </a:extLst>
          </p:cNvPr>
          <p:cNvSpPr txBox="1"/>
          <p:nvPr/>
        </p:nvSpPr>
        <p:spPr>
          <a:xfrm>
            <a:off x="6871531" y="3820541"/>
            <a:ext cx="29433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We only use this time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rPr>
              <a:t>to get outcomes </a:t>
            </a:r>
          </a:p>
        </p:txBody>
      </p:sp>
    </p:spTree>
    <p:extLst>
      <p:ext uri="{BB962C8B-B14F-4D97-AF65-F5344CB8AC3E}">
        <p14:creationId xmlns:p14="http://schemas.microsoft.com/office/powerpoint/2010/main" val="2176211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- Methodology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415600" y="1206500"/>
            <a:ext cx="6048700" cy="5213350"/>
          </a:xfrm>
        </p:spPr>
        <p:txBody>
          <a:bodyPr>
            <a:normAutofit/>
          </a:bodyPr>
          <a:lstStyle/>
          <a:p>
            <a:r>
              <a:rPr lang="en-US" dirty="0"/>
              <a:t>In-sample</a:t>
            </a:r>
          </a:p>
          <a:p>
            <a:r>
              <a:rPr lang="en-US" dirty="0"/>
              <a:t>Out of sample</a:t>
            </a:r>
          </a:p>
          <a:p>
            <a:r>
              <a:rPr lang="en-US" dirty="0"/>
              <a:t>Multiple Out-of-sample (Hold-out) Splits</a:t>
            </a:r>
          </a:p>
          <a:p>
            <a:r>
              <a:rPr lang="en-US" dirty="0"/>
              <a:t>Cross Validation</a:t>
            </a:r>
          </a:p>
          <a:p>
            <a:pPr lvl="1"/>
            <a:r>
              <a:rPr lang="en-US" dirty="0"/>
              <a:t>Leave one out (LOO)</a:t>
            </a:r>
          </a:p>
          <a:p>
            <a:pPr lvl="1"/>
            <a:r>
              <a:rPr lang="en-US" dirty="0"/>
              <a:t>K fold</a:t>
            </a:r>
          </a:p>
          <a:p>
            <a:r>
              <a:rPr lang="en-US" dirty="0"/>
              <a:t>Holdouts Using Structure of Data</a:t>
            </a:r>
          </a:p>
          <a:p>
            <a:pPr lvl="1"/>
            <a:r>
              <a:rPr lang="en-US" dirty="0"/>
              <a:t>Temporal</a:t>
            </a:r>
          </a:p>
          <a:p>
            <a:pPr lvl="1"/>
            <a:r>
              <a:rPr lang="en-US" dirty="0"/>
              <a:t>Spatial, Hierarchical,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5A7FB1-C2DE-E448-B984-2E4382924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850" y="1206500"/>
            <a:ext cx="4950049" cy="521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87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99C9E-8C42-4FEE-9E46-502304685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A1E3B6-6823-C921-8059-FCDEAD3B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FD183-9DB5-3FFD-2BBC-D865AE426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682" y="1536633"/>
            <a:ext cx="11688618" cy="4555200"/>
          </a:xfrm>
        </p:spPr>
        <p:txBody>
          <a:bodyPr/>
          <a:lstStyle/>
          <a:p>
            <a:pPr marL="76200" indent="0">
              <a:buNone/>
            </a:pPr>
            <a:r>
              <a:rPr lang="en-US" b="1" dirty="0"/>
              <a:t>This week:</a:t>
            </a:r>
            <a:endParaRPr lang="en-US" dirty="0"/>
          </a:p>
          <a:p>
            <a:r>
              <a:rPr lang="en-US" dirty="0"/>
              <a:t>Project check-ins on Wednesday (GHC 8023)</a:t>
            </a:r>
          </a:p>
          <a:p>
            <a:r>
              <a:rPr lang="en-US" dirty="0"/>
              <a:t>Project-work time on Thursday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r>
              <a:rPr lang="en-US" dirty="0"/>
              <a:t>Project Assignment – Triage Cohort and Labels due Monday – see template slides and canvas assignment</a:t>
            </a:r>
          </a:p>
          <a:p>
            <a:pPr marL="7620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8220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hani uofc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6722</TotalTime>
  <Words>1275</Words>
  <Application>Microsoft Macintosh PowerPoint</Application>
  <PresentationFormat>Widescreen</PresentationFormat>
  <Paragraphs>251</Paragraphs>
  <Slides>29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Simple Light</vt:lpstr>
      <vt:lpstr>ghani uofc template</vt:lpstr>
      <vt:lpstr>PowerPoint Presentation</vt:lpstr>
      <vt:lpstr>Reminders</vt:lpstr>
      <vt:lpstr>Group Checkins – Wednesdays Going Forward</vt:lpstr>
      <vt:lpstr>Plan for the week</vt:lpstr>
      <vt:lpstr>PowerPoint Presentation</vt:lpstr>
      <vt:lpstr>What do we need our selected model to do?</vt:lpstr>
      <vt:lpstr>What is the goal of model selection?</vt:lpstr>
      <vt:lpstr>Reminder: The PR-k Curve</vt:lpstr>
      <vt:lpstr>Evaluation – triage configuration</vt:lpstr>
      <vt:lpstr>What should the model we select work well on?</vt:lpstr>
      <vt:lpstr>What do need to know to perform model selection</vt:lpstr>
      <vt:lpstr>How do we select a model that does that?</vt:lpstr>
      <vt:lpstr>Model Selection - Methodology</vt:lpstr>
      <vt:lpstr>Scenario 1 – Hospital Readmissions</vt:lpstr>
      <vt:lpstr>Scenario 2 – Crop Detection</vt:lpstr>
      <vt:lpstr>Scenarios</vt:lpstr>
      <vt:lpstr>Scenarios</vt:lpstr>
      <vt:lpstr>Underlying principle: match methodology to match deployment time  </vt:lpstr>
      <vt:lpstr>Scenarios</vt:lpstr>
      <vt:lpstr>Scenarios</vt:lpstr>
      <vt:lpstr>Parameters</vt:lpstr>
      <vt:lpstr>PowerPoint Presentation</vt:lpstr>
      <vt:lpstr>Other considerations</vt:lpstr>
      <vt:lpstr>Some tips</vt:lpstr>
      <vt:lpstr>Train Validation Pairs</vt:lpstr>
      <vt:lpstr>Temporal Holdouts</vt:lpstr>
      <vt:lpstr>Training  - Time splits</vt:lpstr>
      <vt:lpstr>Evaluation - Methodology</vt:lpstr>
      <vt:lpstr>Reminders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Ghani Rayid</cp:lastModifiedBy>
  <cp:revision>76</cp:revision>
  <dcterms:created xsi:type="dcterms:W3CDTF">2020-01-14T19:43:43Z</dcterms:created>
  <dcterms:modified xsi:type="dcterms:W3CDTF">2026-09-29T16:44:23Z</dcterms:modified>
</cp:coreProperties>
</file>