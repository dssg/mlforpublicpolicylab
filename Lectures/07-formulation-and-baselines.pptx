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436" r:id="rId3"/>
    <p:sldId id="424" r:id="rId4"/>
    <p:sldId id="446" r:id="rId5"/>
    <p:sldId id="440" r:id="rId6"/>
    <p:sldId id="450" r:id="rId7"/>
    <p:sldId id="447" r:id="rId8"/>
    <p:sldId id="430" r:id="rId9"/>
    <p:sldId id="425" r:id="rId10"/>
    <p:sldId id="434" r:id="rId11"/>
    <p:sldId id="429" r:id="rId12"/>
    <p:sldId id="435" r:id="rId13"/>
    <p:sldId id="443" r:id="rId14"/>
    <p:sldId id="444" r:id="rId15"/>
    <p:sldId id="442" r:id="rId16"/>
    <p:sldId id="445" r:id="rId17"/>
    <p:sldId id="261" r:id="rId18"/>
    <p:sldId id="269" r:id="rId19"/>
    <p:sldId id="273" r:id="rId20"/>
    <p:sldId id="277" r:id="rId21"/>
    <p:sldId id="285" r:id="rId22"/>
    <p:sldId id="427" r:id="rId23"/>
    <p:sldId id="432" r:id="rId24"/>
    <p:sldId id="448" r:id="rId25"/>
    <p:sldId id="451" r:id="rId26"/>
    <p:sldId id="431" r:id="rId27"/>
    <p:sldId id="449" r:id="rId28"/>
  </p:sldIdLst>
  <p:sldSz cx="12192000" cy="6858000"/>
  <p:notesSz cx="6858000" cy="9144000"/>
  <p:custDataLst>
    <p:tags r:id="rId3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1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76"/>
    <p:restoredTop sz="96327"/>
  </p:normalViewPr>
  <p:slideViewPr>
    <p:cSldViewPr snapToGrid="0" snapToObjects="1">
      <p:cViewPr varScale="1">
        <p:scale>
          <a:sx n="86" d="100"/>
          <a:sy n="86" d="100"/>
        </p:scale>
        <p:origin x="240" y="10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34dcc1e60c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34dcc1e60c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3a827b83f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3a827b83f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13a827b83f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13a827b83f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3a827b83f3_7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3a827b83f3_7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134e0ee0e3b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134e0ee0e3b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7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D47466-B32A-272E-9563-02025B8DC28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465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8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8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6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ML Formulation and Baselines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 this week:</a:t>
            </a:r>
          </a:p>
          <a:p>
            <a:pPr lvl="1"/>
            <a:r>
              <a:rPr lang="en-US" dirty="0"/>
              <a:t>Wednesday session on python + </a:t>
            </a:r>
            <a:r>
              <a:rPr lang="en-US" dirty="0" err="1"/>
              <a:t>sql</a:t>
            </a:r>
            <a:r>
              <a:rPr lang="en-US" dirty="0"/>
              <a:t> (and advanced </a:t>
            </a:r>
            <a:r>
              <a:rPr lang="en-US" dirty="0" err="1"/>
              <a:t>sql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Thursday session on ML pipelines</a:t>
            </a:r>
          </a:p>
          <a:p>
            <a:pPr lvl="1"/>
            <a:endParaRPr lang="en-US" dirty="0"/>
          </a:p>
          <a:p>
            <a:r>
              <a:rPr lang="en-US" dirty="0"/>
              <a:t>Next week:</a:t>
            </a:r>
          </a:p>
          <a:p>
            <a:pPr lvl="1"/>
            <a:r>
              <a:rPr lang="en-US" dirty="0"/>
              <a:t>Proposal peer reviews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930579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Scoping defines the goals and approach at a high level, the </a:t>
            </a:r>
            <a:r>
              <a:rPr lang="en-US" b="1" dirty="0">
                <a:solidFill>
                  <a:srgbClr val="C00000"/>
                </a:solidFill>
              </a:rPr>
              <a:t>analytical formulation </a:t>
            </a:r>
            <a:r>
              <a:rPr lang="en-US" dirty="0"/>
              <a:t>maps this scope to an ML problem and analytical approach</a:t>
            </a:r>
            <a:br>
              <a:rPr lang="en-US" dirty="0"/>
            </a:br>
            <a:endParaRPr lang="en-US" dirty="0"/>
          </a:p>
          <a:p>
            <a:r>
              <a:rPr lang="en-US" dirty="0"/>
              <a:t>Should be as detailed and specific as possible, obvious how to code it up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analytical formulation should be guided by –– and map back to –– how the system you’re building will actually be deployed and used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Turning the project goals/scope into an ML problem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C8A1F-AE56-5146-B94D-D4E3FEFBC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676572"/>
            <a:ext cx="9144000" cy="303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043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A2F7B32-9E66-8E5C-C019-A4D231FCA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Obermeyer et al. reading, what formulation decision is the focus of the paper?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0EB0DE-95C0-EFAB-3EBC-E7036AE92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Formulation Decisions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3541AF-EF0F-D7E7-CE20-EC98E6076CBB}"/>
              </a:ext>
            </a:extLst>
          </p:cNvPr>
          <p:cNvSpPr txBox="1"/>
          <p:nvPr/>
        </p:nvSpPr>
        <p:spPr>
          <a:xfrm>
            <a:off x="2908511" y="2907586"/>
            <a:ext cx="58416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chemeClr val="dk2"/>
                </a:solidFill>
              </a:rPr>
              <a:t>Sli.do</a:t>
            </a:r>
            <a:r>
              <a:rPr lang="en-US" sz="4800" dirty="0">
                <a:solidFill>
                  <a:schemeClr val="dk2"/>
                </a:solidFill>
              </a:rPr>
              <a:t>            #94889</a:t>
            </a:r>
          </a:p>
          <a:p>
            <a:endParaRPr lang="en-US" sz="4800" dirty="0">
              <a:solidFill>
                <a:schemeClr val="dk2"/>
              </a:solidFill>
            </a:endParaRPr>
          </a:p>
          <a:p>
            <a:r>
              <a:rPr lang="en-US" sz="4800" dirty="0" err="1">
                <a:solidFill>
                  <a:schemeClr val="dk2"/>
                </a:solidFill>
              </a:rPr>
              <a:t>sli.do</a:t>
            </a:r>
            <a:r>
              <a:rPr lang="en-US" sz="4800" dirty="0">
                <a:solidFill>
                  <a:schemeClr val="dk2"/>
                </a:solidFill>
              </a:rPr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401324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C0D196-4F6E-1654-0FEB-2D5B9A25194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EA676D-66AB-9537-F75F-81EA69F9A0C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b="1">
                <a:solidFill>
                  <a:srgbClr val="000000"/>
                </a:solidFill>
              </a:rPr>
              <a:t>In the Obermeyer et al. reading, what formulation decision is the focus of the paper?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901A59-A0B5-993C-677B-551090B3C84E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88D9015-4652-4A4E-7510-67BFEF8CCA29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30EE42DA-4FF9-8746-8D88-52D4612A125C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DB1C380-95DD-02D8-FD24-C9FFFABFC138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02293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5EDE9B-A257-2333-4DB4-CBD380E13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Formulation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628BEE-B8E7-C511-5764-E82AF6189A5B}"/>
              </a:ext>
            </a:extLst>
          </p:cNvPr>
          <p:cNvSpPr txBox="1"/>
          <p:nvPr/>
        </p:nvSpPr>
        <p:spPr>
          <a:xfrm>
            <a:off x="161381" y="1607442"/>
            <a:ext cx="3354513" cy="483209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How often is the recommendation/decision being made?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Who/what is included in the cohort?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What is the output?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274E13"/>
                </a:solidFill>
                <a:effectLst/>
                <a:latin typeface="Arial" panose="020B0604020202020204" pitchFamily="34" charset="0"/>
              </a:rPr>
              <a:t>What outcome are you predicting/estimating?</a:t>
            </a:r>
            <a:endParaRPr lang="en-US" sz="2000" b="0" dirty="0">
              <a:effectLst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n-US" sz="2000" b="0" dirty="0">
                <a:effectLst/>
              </a:rPr>
            </a:br>
            <a:r>
              <a:rPr lang="en-US" sz="20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For what purpose?</a:t>
            </a:r>
            <a:endParaRPr lang="en-US" sz="2000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220471-6DE3-15C3-47EA-D5F277E4C9DD}"/>
              </a:ext>
            </a:extLst>
          </p:cNvPr>
          <p:cNvSpPr txBox="1"/>
          <p:nvPr/>
        </p:nvSpPr>
        <p:spPr>
          <a:xfrm>
            <a:off x="3673012" y="1607442"/>
            <a:ext cx="8101172" cy="4052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</a:pPr>
            <a:r>
              <a:rPr lang="en-US" sz="2400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On the first day of every semester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for </a:t>
            </a:r>
            <a:r>
              <a:rPr lang="en-US" sz="2400" b="0" i="0" u="none" strike="noStrike" dirty="0">
                <a:solidFill>
                  <a:srgbClr val="0000FF"/>
                </a:solidFill>
                <a:effectLst/>
                <a:latin typeface="Arial" panose="020B0604020202020204" pitchFamily="34" charset="0"/>
              </a:rPr>
              <a:t>all the students who are currently enrolled in an undergraduate degree program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, can we identify the </a:t>
            </a:r>
            <a:r>
              <a:rPr lang="en-US" sz="2400" dirty="0">
                <a:solidFill>
                  <a:srgbClr val="FF00FF"/>
                </a:solidFill>
                <a:latin typeface="Arial" panose="020B0604020202020204" pitchFamily="34" charset="0"/>
              </a:rPr>
              <a:t>1</a:t>
            </a:r>
            <a:r>
              <a:rPr lang="en-US" sz="2400" b="0" i="0" u="none" strike="noStrike" dirty="0">
                <a:solidFill>
                  <a:srgbClr val="FF00FF"/>
                </a:solidFill>
                <a:effectLst/>
                <a:latin typeface="Arial" panose="020B0604020202020204" pitchFamily="34" charset="0"/>
              </a:rPr>
              <a:t>00 highest risk students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 who are </a:t>
            </a:r>
            <a:r>
              <a:rPr lang="en-US" sz="2400" b="0" i="0" u="none" strike="noStrike" dirty="0">
                <a:solidFill>
                  <a:srgbClr val="38761D"/>
                </a:solidFill>
                <a:effectLst/>
                <a:latin typeface="Arial" panose="020B0604020202020204" pitchFamily="34" charset="0"/>
              </a:rPr>
              <a:t>likely to </a:t>
            </a:r>
            <a:r>
              <a:rPr lang="en-US" sz="2400" dirty="0">
                <a:solidFill>
                  <a:srgbClr val="38761D"/>
                </a:solidFill>
                <a:latin typeface="Arial" panose="020B0604020202020204" pitchFamily="34" charset="0"/>
              </a:rPr>
              <a:t>not graduate college within 5 years of their college start </a:t>
            </a:r>
            <a:r>
              <a:rPr lang="en-US" sz="2400" b="0" i="0" u="none" strike="noStrike" dirty="0">
                <a:solidFill>
                  <a:srgbClr val="B45F06"/>
                </a:solidFill>
                <a:effectLst/>
                <a:latin typeface="Arial" panose="020B0604020202020204" pitchFamily="34" charset="0"/>
              </a:rPr>
              <a:t>to prioritize for proactive academic or other interventions</a:t>
            </a:r>
            <a:r>
              <a:rPr lang="en-US" sz="24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?</a:t>
            </a:r>
            <a:endParaRPr lang="en-US" sz="2400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399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3163189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F58D61-D951-4047-914F-96A26849E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Description</a:t>
            </a:r>
          </a:p>
          <a:p>
            <a:r>
              <a:rPr lang="en-US" dirty="0"/>
              <a:t>Classification</a:t>
            </a:r>
          </a:p>
          <a:p>
            <a:r>
              <a:rPr lang="en-US" dirty="0"/>
              <a:t>Detection</a:t>
            </a:r>
          </a:p>
          <a:p>
            <a:r>
              <a:rPr lang="en-US" dirty="0"/>
              <a:t>Prediction</a:t>
            </a:r>
          </a:p>
          <a:p>
            <a:r>
              <a:rPr lang="en-US" dirty="0"/>
              <a:t>Generation</a:t>
            </a:r>
          </a:p>
          <a:p>
            <a:r>
              <a:rPr lang="en-US" dirty="0"/>
              <a:t>Optimization</a:t>
            </a:r>
          </a:p>
          <a:p>
            <a:r>
              <a:rPr lang="en-US" dirty="0"/>
              <a:t>Causal Inference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E00A3A-9C26-1B42-A62C-4DB46B74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make: analytical approach</a:t>
            </a:r>
          </a:p>
        </p:txBody>
      </p:sp>
    </p:spTree>
    <p:extLst>
      <p:ext uri="{BB962C8B-B14F-4D97-AF65-F5344CB8AC3E}">
        <p14:creationId xmlns:p14="http://schemas.microsoft.com/office/powerpoint/2010/main" val="625908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</a:p>
          <a:p>
            <a:endParaRPr lang="en-US" dirty="0"/>
          </a:p>
          <a:p>
            <a:r>
              <a:rPr lang="en-US" dirty="0"/>
              <a:t>What are the relevant entities? How do you identify the cohort?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2244128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F58D61-D951-4047-914F-96A26849E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entity that exists?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“Active” entities?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Event-based?</a:t>
            </a:r>
          </a:p>
          <a:p>
            <a:pPr lvl="1"/>
            <a:r>
              <a:rPr lang="en-US" dirty="0"/>
              <a:t>Making predictions when the events occur?</a:t>
            </a:r>
          </a:p>
          <a:p>
            <a:pPr lvl="1"/>
            <a:r>
              <a:rPr lang="en-US" dirty="0"/>
              <a:t>All entities that have had an event in a certain time window?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E00A3A-9C26-1B42-A62C-4DB46B74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make: cohort definition</a:t>
            </a:r>
          </a:p>
        </p:txBody>
      </p:sp>
    </p:spTree>
    <p:extLst>
      <p:ext uri="{BB962C8B-B14F-4D97-AF65-F5344CB8AC3E}">
        <p14:creationId xmlns:p14="http://schemas.microsoft.com/office/powerpoint/2010/main" val="3823067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type of analysis are you doing?</a:t>
            </a:r>
          </a:p>
          <a:p>
            <a:endParaRPr lang="en-US" dirty="0"/>
          </a:p>
          <a:p>
            <a:r>
              <a:rPr lang="en-US" dirty="0"/>
              <a:t>What are the relevant entities? How do you identify the cohort?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How do you define the outcome/label that you care about?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far into the future are you trying to predict?</a:t>
            </a:r>
          </a:p>
          <a:p>
            <a:pPr marL="11430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we need to make</a:t>
            </a:r>
          </a:p>
        </p:txBody>
      </p:sp>
    </p:spTree>
    <p:extLst>
      <p:ext uri="{BB962C8B-B14F-4D97-AF65-F5344CB8AC3E}">
        <p14:creationId xmlns:p14="http://schemas.microsoft.com/office/powerpoint/2010/main" val="140988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765B02-360A-1F41-913A-E71E5612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Structuring the Analytical Formulation</a:t>
            </a:r>
          </a:p>
        </p:txBody>
      </p:sp>
      <p:sp>
        <p:nvSpPr>
          <p:cNvPr id="4" name="Google Shape;173;p42">
            <a:extLst>
              <a:ext uri="{FF2B5EF4-FFF2-40B4-BE49-F238E27FC236}">
                <a16:creationId xmlns:a16="http://schemas.microsoft.com/office/drawing/2014/main" id="{11008A05-00C0-7C4B-9E7A-F5D9E79C776A}"/>
              </a:ext>
            </a:extLst>
          </p:cNvPr>
          <p:cNvSpPr/>
          <p:nvPr/>
        </p:nvSpPr>
        <p:spPr>
          <a:xfrm>
            <a:off x="1688840" y="2398130"/>
            <a:ext cx="2343000" cy="3153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75;p42">
            <a:extLst>
              <a:ext uri="{FF2B5EF4-FFF2-40B4-BE49-F238E27FC236}">
                <a16:creationId xmlns:a16="http://schemas.microsoft.com/office/drawing/2014/main" id="{A503C09B-93C0-FB43-BCF8-DB719EF20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20940" y="2306905"/>
            <a:ext cx="6398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600" dirty="0">
                <a:solidFill>
                  <a:srgbClr val="FF0000"/>
                </a:solidFill>
              </a:rPr>
              <a:t>On the 15</a:t>
            </a:r>
            <a:r>
              <a:rPr lang="en" sz="2600" baseline="30000" dirty="0">
                <a:solidFill>
                  <a:srgbClr val="FF0000"/>
                </a:solidFill>
              </a:rPr>
              <a:t>th</a:t>
            </a:r>
            <a:r>
              <a:rPr lang="en" sz="2600" dirty="0">
                <a:solidFill>
                  <a:srgbClr val="FF0000"/>
                </a:solidFill>
              </a:rPr>
              <a:t> of every month</a:t>
            </a:r>
            <a:r>
              <a:rPr lang="en" sz="2600" dirty="0"/>
              <a:t>, for </a:t>
            </a:r>
            <a:r>
              <a:rPr lang="en" sz="2600" dirty="0">
                <a:solidFill>
                  <a:srgbClr val="0000FF"/>
                </a:solidFill>
              </a:rPr>
              <a:t>all households with children under </a:t>
            </a:r>
            <a:r>
              <a:rPr lang="en" sz="2600">
                <a:solidFill>
                  <a:srgbClr val="0000FF"/>
                </a:solidFill>
              </a:rPr>
              <a:t>3 months old</a:t>
            </a:r>
            <a:r>
              <a:rPr lang="en" sz="2600" dirty="0"/>
              <a:t>, can we identify the </a:t>
            </a:r>
            <a:r>
              <a:rPr lang="en" sz="2600" dirty="0">
                <a:solidFill>
                  <a:srgbClr val="FF00FF"/>
                </a:solidFill>
              </a:rPr>
              <a:t>50 highest risk households</a:t>
            </a:r>
            <a:r>
              <a:rPr lang="en" sz="2600" dirty="0"/>
              <a:t> who are </a:t>
            </a:r>
            <a:r>
              <a:rPr lang="en" sz="2600" dirty="0">
                <a:solidFill>
                  <a:srgbClr val="38761D"/>
                </a:solidFill>
              </a:rPr>
              <a:t>likely to be affected by lead hazards </a:t>
            </a:r>
            <a:r>
              <a:rPr lang="en" sz="2600" dirty="0">
                <a:solidFill>
                  <a:srgbClr val="B45F06"/>
                </a:solidFill>
              </a:rPr>
              <a:t>to prioritize for inspection and remediation of lead sources in the following month</a:t>
            </a:r>
            <a:r>
              <a:rPr lang="en" sz="2600" dirty="0"/>
              <a:t>?</a:t>
            </a:r>
            <a:endParaRPr sz="2600" dirty="0"/>
          </a:p>
        </p:txBody>
      </p:sp>
      <p:sp>
        <p:nvSpPr>
          <p:cNvPr id="6" name="Google Shape;176;p42">
            <a:extLst>
              <a:ext uri="{FF2B5EF4-FFF2-40B4-BE49-F238E27FC236}">
                <a16:creationId xmlns:a16="http://schemas.microsoft.com/office/drawing/2014/main" id="{37D6DBA9-5D69-154C-A120-4ADBF03F7CF7}"/>
              </a:ext>
            </a:extLst>
          </p:cNvPr>
          <p:cNvSpPr txBox="1"/>
          <p:nvPr/>
        </p:nvSpPr>
        <p:spPr>
          <a:xfrm>
            <a:off x="1732190" y="23981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</a:rPr>
              <a:t>How often is the recommendation/decision being made?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7" name="Google Shape;177;p42">
            <a:extLst>
              <a:ext uri="{FF2B5EF4-FFF2-40B4-BE49-F238E27FC236}">
                <a16:creationId xmlns:a16="http://schemas.microsoft.com/office/drawing/2014/main" id="{6A2D549C-59C2-0340-9130-F3B04EEF3F59}"/>
              </a:ext>
            </a:extLst>
          </p:cNvPr>
          <p:cNvSpPr txBox="1"/>
          <p:nvPr/>
        </p:nvSpPr>
        <p:spPr>
          <a:xfrm>
            <a:off x="1736040" y="327528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Who/what is included in the cohort?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8" name="Google Shape;178;p42">
            <a:extLst>
              <a:ext uri="{FF2B5EF4-FFF2-40B4-BE49-F238E27FC236}">
                <a16:creationId xmlns:a16="http://schemas.microsoft.com/office/drawing/2014/main" id="{A7B784C6-E226-7546-90BA-7A3243A70F6B}"/>
              </a:ext>
            </a:extLst>
          </p:cNvPr>
          <p:cNvSpPr txBox="1"/>
          <p:nvPr/>
        </p:nvSpPr>
        <p:spPr>
          <a:xfrm>
            <a:off x="1736040" y="39238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</a:rPr>
              <a:t>What is the output?</a:t>
            </a:r>
            <a:endParaRPr>
              <a:solidFill>
                <a:srgbClr val="FF00FF"/>
              </a:solidFill>
            </a:endParaRPr>
          </a:p>
        </p:txBody>
      </p:sp>
      <p:sp>
        <p:nvSpPr>
          <p:cNvPr id="9" name="Google Shape;179;p42">
            <a:extLst>
              <a:ext uri="{FF2B5EF4-FFF2-40B4-BE49-F238E27FC236}">
                <a16:creationId xmlns:a16="http://schemas.microsoft.com/office/drawing/2014/main" id="{0D4F98CB-D85C-3F48-A552-B472AA7D6F71}"/>
              </a:ext>
            </a:extLst>
          </p:cNvPr>
          <p:cNvSpPr txBox="1"/>
          <p:nvPr/>
        </p:nvSpPr>
        <p:spPr>
          <a:xfrm>
            <a:off x="1732190" y="4444630"/>
            <a:ext cx="2256300" cy="11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74E13"/>
                </a:solidFill>
              </a:rPr>
              <a:t>What outcome are you predicting/estimating?</a:t>
            </a:r>
            <a:endParaRPr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45F06"/>
                </a:solidFill>
              </a:rPr>
              <a:t>For what purpose?</a:t>
            </a:r>
            <a:endParaRPr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322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765B02-360A-1F41-913A-E71E5612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Structuring the Analytical Formulation</a:t>
            </a:r>
          </a:p>
        </p:txBody>
      </p:sp>
      <p:sp>
        <p:nvSpPr>
          <p:cNvPr id="4" name="Google Shape;173;p42">
            <a:extLst>
              <a:ext uri="{FF2B5EF4-FFF2-40B4-BE49-F238E27FC236}">
                <a16:creationId xmlns:a16="http://schemas.microsoft.com/office/drawing/2014/main" id="{11008A05-00C0-7C4B-9E7A-F5D9E79C776A}"/>
              </a:ext>
            </a:extLst>
          </p:cNvPr>
          <p:cNvSpPr/>
          <p:nvPr/>
        </p:nvSpPr>
        <p:spPr>
          <a:xfrm>
            <a:off x="1688840" y="2398130"/>
            <a:ext cx="2343000" cy="3153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75;p42">
            <a:extLst>
              <a:ext uri="{FF2B5EF4-FFF2-40B4-BE49-F238E27FC236}">
                <a16:creationId xmlns:a16="http://schemas.microsoft.com/office/drawing/2014/main" id="{A503C09B-93C0-FB43-BCF8-DB719EF20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20940" y="2306905"/>
            <a:ext cx="6398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600" dirty="0">
                <a:solidFill>
                  <a:srgbClr val="FF0000"/>
                </a:solidFill>
              </a:rPr>
              <a:t>On the 15</a:t>
            </a:r>
            <a:r>
              <a:rPr lang="en" sz="2600" baseline="30000" dirty="0">
                <a:solidFill>
                  <a:srgbClr val="FF0000"/>
                </a:solidFill>
              </a:rPr>
              <a:t>th</a:t>
            </a:r>
            <a:r>
              <a:rPr lang="en" sz="2600" dirty="0">
                <a:solidFill>
                  <a:srgbClr val="FF0000"/>
                </a:solidFill>
              </a:rPr>
              <a:t> of every month</a:t>
            </a:r>
            <a:r>
              <a:rPr lang="en" sz="2600" dirty="0"/>
              <a:t>, for </a:t>
            </a:r>
            <a:r>
              <a:rPr lang="en" sz="2600" dirty="0">
                <a:solidFill>
                  <a:srgbClr val="0000FF"/>
                </a:solidFill>
              </a:rPr>
              <a:t>all households with children under 2 months old</a:t>
            </a:r>
            <a:r>
              <a:rPr lang="en" sz="2600" dirty="0"/>
              <a:t>, can we identify the </a:t>
            </a:r>
            <a:r>
              <a:rPr lang="en" sz="2600" dirty="0">
                <a:solidFill>
                  <a:srgbClr val="FF00FF"/>
                </a:solidFill>
              </a:rPr>
              <a:t>50 highest risk households</a:t>
            </a:r>
            <a:r>
              <a:rPr lang="en" sz="2600" dirty="0"/>
              <a:t> who are </a:t>
            </a:r>
            <a:r>
              <a:rPr lang="en" sz="2600" dirty="0">
                <a:solidFill>
                  <a:srgbClr val="38761D"/>
                </a:solidFill>
              </a:rPr>
              <a:t>likely to be affected by lead hazards </a:t>
            </a:r>
            <a:r>
              <a:rPr lang="en" sz="2600" dirty="0">
                <a:solidFill>
                  <a:srgbClr val="B45F06"/>
                </a:solidFill>
              </a:rPr>
              <a:t>to prioritize for inspection and remediation of lead sources in the following month</a:t>
            </a:r>
            <a:r>
              <a:rPr lang="en" sz="2600" dirty="0"/>
              <a:t>?</a:t>
            </a:r>
            <a:endParaRPr sz="2600" dirty="0"/>
          </a:p>
        </p:txBody>
      </p:sp>
      <p:sp>
        <p:nvSpPr>
          <p:cNvPr id="6" name="Google Shape;176;p42">
            <a:extLst>
              <a:ext uri="{FF2B5EF4-FFF2-40B4-BE49-F238E27FC236}">
                <a16:creationId xmlns:a16="http://schemas.microsoft.com/office/drawing/2014/main" id="{37D6DBA9-5D69-154C-A120-4ADBF03F7CF7}"/>
              </a:ext>
            </a:extLst>
          </p:cNvPr>
          <p:cNvSpPr txBox="1"/>
          <p:nvPr/>
        </p:nvSpPr>
        <p:spPr>
          <a:xfrm>
            <a:off x="1732190" y="23981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</a:rPr>
              <a:t>How often is the recommendation/decision being made?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7" name="Google Shape;177;p42">
            <a:extLst>
              <a:ext uri="{FF2B5EF4-FFF2-40B4-BE49-F238E27FC236}">
                <a16:creationId xmlns:a16="http://schemas.microsoft.com/office/drawing/2014/main" id="{6A2D549C-59C2-0340-9130-F3B04EEF3F59}"/>
              </a:ext>
            </a:extLst>
          </p:cNvPr>
          <p:cNvSpPr txBox="1"/>
          <p:nvPr/>
        </p:nvSpPr>
        <p:spPr>
          <a:xfrm>
            <a:off x="1736040" y="327528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Who/what is included in the cohort?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8" name="Google Shape;178;p42">
            <a:extLst>
              <a:ext uri="{FF2B5EF4-FFF2-40B4-BE49-F238E27FC236}">
                <a16:creationId xmlns:a16="http://schemas.microsoft.com/office/drawing/2014/main" id="{A7B784C6-E226-7546-90BA-7A3243A70F6B}"/>
              </a:ext>
            </a:extLst>
          </p:cNvPr>
          <p:cNvSpPr txBox="1"/>
          <p:nvPr/>
        </p:nvSpPr>
        <p:spPr>
          <a:xfrm>
            <a:off x="1736040" y="39238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</a:rPr>
              <a:t>What is the output?</a:t>
            </a:r>
            <a:endParaRPr>
              <a:solidFill>
                <a:srgbClr val="FF00FF"/>
              </a:solidFill>
            </a:endParaRPr>
          </a:p>
        </p:txBody>
      </p:sp>
      <p:sp>
        <p:nvSpPr>
          <p:cNvPr id="9" name="Google Shape;179;p42">
            <a:extLst>
              <a:ext uri="{FF2B5EF4-FFF2-40B4-BE49-F238E27FC236}">
                <a16:creationId xmlns:a16="http://schemas.microsoft.com/office/drawing/2014/main" id="{0D4F98CB-D85C-3F48-A552-B472AA7D6F71}"/>
              </a:ext>
            </a:extLst>
          </p:cNvPr>
          <p:cNvSpPr txBox="1"/>
          <p:nvPr/>
        </p:nvSpPr>
        <p:spPr>
          <a:xfrm>
            <a:off x="1732190" y="4444630"/>
            <a:ext cx="2256300" cy="11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74E13"/>
                </a:solidFill>
              </a:rPr>
              <a:t>What outcome are you predicting/estimating?</a:t>
            </a:r>
            <a:endParaRPr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45F06"/>
                </a:solidFill>
              </a:rPr>
              <a:t>For what purpose?</a:t>
            </a:r>
            <a:endParaRPr>
              <a:solidFill>
                <a:srgbClr val="274E13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4DF15E-A5D3-1C42-BB60-02F791885D32}"/>
              </a:ext>
            </a:extLst>
          </p:cNvPr>
          <p:cNvSpPr/>
          <p:nvPr/>
        </p:nvSpPr>
        <p:spPr>
          <a:xfrm>
            <a:off x="5394960" y="2398130"/>
            <a:ext cx="2834640" cy="470800"/>
          </a:xfrm>
          <a:prstGeom prst="rect">
            <a:avLst/>
          </a:prstGeom>
          <a:solidFill>
            <a:schemeClr val="accent1">
              <a:alpha val="49746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1B6305-A4B4-E54B-B09C-6B53EE3A414D}"/>
              </a:ext>
            </a:extLst>
          </p:cNvPr>
          <p:cNvSpPr/>
          <p:nvPr/>
        </p:nvSpPr>
        <p:spPr>
          <a:xfrm>
            <a:off x="7717948" y="3343243"/>
            <a:ext cx="511652" cy="470800"/>
          </a:xfrm>
          <a:prstGeom prst="rect">
            <a:avLst/>
          </a:prstGeom>
          <a:solidFill>
            <a:schemeClr val="accent1">
              <a:alpha val="49746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19EA83-5842-4746-B15E-D431D637C2DD}"/>
              </a:ext>
            </a:extLst>
          </p:cNvPr>
          <p:cNvSpPr/>
          <p:nvPr/>
        </p:nvSpPr>
        <p:spPr>
          <a:xfrm>
            <a:off x="8038124" y="2868929"/>
            <a:ext cx="2298572" cy="442321"/>
          </a:xfrm>
          <a:prstGeom prst="rect">
            <a:avLst/>
          </a:prstGeom>
          <a:solidFill>
            <a:schemeClr val="accent1">
              <a:alpha val="49746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B412C6-0993-8F40-BD06-03BDD703BBF8}"/>
              </a:ext>
            </a:extLst>
          </p:cNvPr>
          <p:cNvSpPr/>
          <p:nvPr/>
        </p:nvSpPr>
        <p:spPr>
          <a:xfrm>
            <a:off x="1688840" y="5723305"/>
            <a:ext cx="8930500" cy="1043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/>
              <a:t>Where did these values come from?</a:t>
            </a:r>
          </a:p>
        </p:txBody>
      </p:sp>
    </p:spTree>
    <p:extLst>
      <p:ext uri="{BB962C8B-B14F-4D97-AF65-F5344CB8AC3E}">
        <p14:creationId xmlns:p14="http://schemas.microsoft.com/office/powerpoint/2010/main" val="1708241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765B02-360A-1F41-913A-E71E5612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Formulation Examples</a:t>
            </a:r>
          </a:p>
        </p:txBody>
      </p:sp>
      <p:sp>
        <p:nvSpPr>
          <p:cNvPr id="4" name="Google Shape;173;p42">
            <a:extLst>
              <a:ext uri="{FF2B5EF4-FFF2-40B4-BE49-F238E27FC236}">
                <a16:creationId xmlns:a16="http://schemas.microsoft.com/office/drawing/2014/main" id="{11008A05-00C0-7C4B-9E7A-F5D9E79C776A}"/>
              </a:ext>
            </a:extLst>
          </p:cNvPr>
          <p:cNvSpPr/>
          <p:nvPr/>
        </p:nvSpPr>
        <p:spPr>
          <a:xfrm>
            <a:off x="1688840" y="2398130"/>
            <a:ext cx="2343000" cy="3153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75;p42">
            <a:extLst>
              <a:ext uri="{FF2B5EF4-FFF2-40B4-BE49-F238E27FC236}">
                <a16:creationId xmlns:a16="http://schemas.microsoft.com/office/drawing/2014/main" id="{A503C09B-93C0-FB43-BCF8-DB719EF20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20940" y="2306905"/>
            <a:ext cx="6398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600" dirty="0">
                <a:solidFill>
                  <a:srgbClr val="FF0000"/>
                </a:solidFill>
              </a:rPr>
              <a:t>At every primary care appointment</a:t>
            </a:r>
            <a:r>
              <a:rPr lang="en" sz="2600" dirty="0"/>
              <a:t>, for </a:t>
            </a:r>
            <a:r>
              <a:rPr lang="en" sz="2600" dirty="0">
                <a:solidFill>
                  <a:srgbClr val="0000FF"/>
                </a:solidFill>
              </a:rPr>
              <a:t>all patients over the age of 25</a:t>
            </a:r>
            <a:r>
              <a:rPr lang="en" sz="2600" dirty="0"/>
              <a:t>, can we identify the </a:t>
            </a:r>
            <a:r>
              <a:rPr lang="en" sz="2600" dirty="0">
                <a:solidFill>
                  <a:srgbClr val="FF00FF"/>
                </a:solidFill>
              </a:rPr>
              <a:t>individuals at least 80% likely</a:t>
            </a:r>
            <a:r>
              <a:rPr lang="en" sz="2600" dirty="0"/>
              <a:t> </a:t>
            </a:r>
            <a:r>
              <a:rPr lang="en" sz="2600" dirty="0">
                <a:solidFill>
                  <a:srgbClr val="38761D"/>
                </a:solidFill>
              </a:rPr>
              <a:t>to develop diabetes in the next 3 years </a:t>
            </a:r>
            <a:r>
              <a:rPr lang="en" sz="2600" dirty="0">
                <a:solidFill>
                  <a:srgbClr val="B45F06"/>
                </a:solidFill>
              </a:rPr>
              <a:t>to prioritize for early screening</a:t>
            </a:r>
            <a:r>
              <a:rPr lang="en" sz="2600" dirty="0"/>
              <a:t>?</a:t>
            </a:r>
            <a:endParaRPr sz="2600" dirty="0"/>
          </a:p>
        </p:txBody>
      </p:sp>
      <p:sp>
        <p:nvSpPr>
          <p:cNvPr id="6" name="Google Shape;176;p42">
            <a:extLst>
              <a:ext uri="{FF2B5EF4-FFF2-40B4-BE49-F238E27FC236}">
                <a16:creationId xmlns:a16="http://schemas.microsoft.com/office/drawing/2014/main" id="{37D6DBA9-5D69-154C-A120-4ADBF03F7CF7}"/>
              </a:ext>
            </a:extLst>
          </p:cNvPr>
          <p:cNvSpPr txBox="1"/>
          <p:nvPr/>
        </p:nvSpPr>
        <p:spPr>
          <a:xfrm>
            <a:off x="1732190" y="23981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</a:rPr>
              <a:t>How often is the recommendation/decision being made?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7" name="Google Shape;177;p42">
            <a:extLst>
              <a:ext uri="{FF2B5EF4-FFF2-40B4-BE49-F238E27FC236}">
                <a16:creationId xmlns:a16="http://schemas.microsoft.com/office/drawing/2014/main" id="{6A2D549C-59C2-0340-9130-F3B04EEF3F59}"/>
              </a:ext>
            </a:extLst>
          </p:cNvPr>
          <p:cNvSpPr txBox="1"/>
          <p:nvPr/>
        </p:nvSpPr>
        <p:spPr>
          <a:xfrm>
            <a:off x="1736040" y="327528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Who/what is included in the cohort?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8" name="Google Shape;178;p42">
            <a:extLst>
              <a:ext uri="{FF2B5EF4-FFF2-40B4-BE49-F238E27FC236}">
                <a16:creationId xmlns:a16="http://schemas.microsoft.com/office/drawing/2014/main" id="{A7B784C6-E226-7546-90BA-7A3243A70F6B}"/>
              </a:ext>
            </a:extLst>
          </p:cNvPr>
          <p:cNvSpPr txBox="1"/>
          <p:nvPr/>
        </p:nvSpPr>
        <p:spPr>
          <a:xfrm>
            <a:off x="1736040" y="39238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</a:rPr>
              <a:t>What is the output?</a:t>
            </a:r>
            <a:endParaRPr>
              <a:solidFill>
                <a:srgbClr val="FF00FF"/>
              </a:solidFill>
            </a:endParaRPr>
          </a:p>
        </p:txBody>
      </p:sp>
      <p:sp>
        <p:nvSpPr>
          <p:cNvPr id="9" name="Google Shape;179;p42">
            <a:extLst>
              <a:ext uri="{FF2B5EF4-FFF2-40B4-BE49-F238E27FC236}">
                <a16:creationId xmlns:a16="http://schemas.microsoft.com/office/drawing/2014/main" id="{0D4F98CB-D85C-3F48-A552-B472AA7D6F71}"/>
              </a:ext>
            </a:extLst>
          </p:cNvPr>
          <p:cNvSpPr txBox="1"/>
          <p:nvPr/>
        </p:nvSpPr>
        <p:spPr>
          <a:xfrm>
            <a:off x="1732190" y="4444630"/>
            <a:ext cx="2256300" cy="11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74E13"/>
                </a:solidFill>
              </a:rPr>
              <a:t>What outcome are you predicting/estimating?</a:t>
            </a:r>
            <a:endParaRPr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45F06"/>
                </a:solidFill>
              </a:rPr>
              <a:t>For what purpose?</a:t>
            </a:r>
            <a:endParaRPr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2266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765B02-360A-1F41-913A-E71E5612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Formulation Examples</a:t>
            </a:r>
          </a:p>
        </p:txBody>
      </p:sp>
      <p:sp>
        <p:nvSpPr>
          <p:cNvPr id="4" name="Google Shape;173;p42">
            <a:extLst>
              <a:ext uri="{FF2B5EF4-FFF2-40B4-BE49-F238E27FC236}">
                <a16:creationId xmlns:a16="http://schemas.microsoft.com/office/drawing/2014/main" id="{11008A05-00C0-7C4B-9E7A-F5D9E79C776A}"/>
              </a:ext>
            </a:extLst>
          </p:cNvPr>
          <p:cNvSpPr/>
          <p:nvPr/>
        </p:nvSpPr>
        <p:spPr>
          <a:xfrm>
            <a:off x="1688840" y="2398130"/>
            <a:ext cx="2343000" cy="3153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5" name="Google Shape;175;p42">
            <a:extLst>
              <a:ext uri="{FF2B5EF4-FFF2-40B4-BE49-F238E27FC236}">
                <a16:creationId xmlns:a16="http://schemas.microsoft.com/office/drawing/2014/main" id="{A503C09B-93C0-FB43-BCF8-DB719EF20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20940" y="2306905"/>
            <a:ext cx="6398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800" dirty="0">
                <a:solidFill>
                  <a:srgbClr val="FF0000"/>
                </a:solidFill>
              </a:rPr>
              <a:t>Every Monday</a:t>
            </a:r>
            <a:r>
              <a:rPr lang="en" sz="2800" dirty="0"/>
              <a:t>, for </a:t>
            </a:r>
            <a:r>
              <a:rPr lang="en" sz="2800" dirty="0">
                <a:solidFill>
                  <a:srgbClr val="0000FF"/>
                </a:solidFill>
              </a:rPr>
              <a:t>current Netflix subscribers</a:t>
            </a:r>
            <a:r>
              <a:rPr lang="en" sz="2800" dirty="0"/>
              <a:t>, can we identify the </a:t>
            </a:r>
            <a:r>
              <a:rPr lang="en" sz="2800" dirty="0">
                <a:solidFill>
                  <a:srgbClr val="FF00FF"/>
                </a:solidFill>
              </a:rPr>
              <a:t>10 pieces of content</a:t>
            </a:r>
            <a:r>
              <a:rPr lang="en" sz="2800" dirty="0"/>
              <a:t> </a:t>
            </a:r>
            <a:r>
              <a:rPr lang="en" sz="2800" dirty="0">
                <a:solidFill>
                  <a:srgbClr val="38761D"/>
                </a:solidFill>
              </a:rPr>
              <a:t>with highest engagement </a:t>
            </a:r>
            <a:r>
              <a:rPr lang="en" sz="2800" dirty="0">
                <a:solidFill>
                  <a:srgbClr val="B45F06"/>
                </a:solidFill>
              </a:rPr>
              <a:t>to prioritize for suggested viewing in the following week</a:t>
            </a:r>
            <a:r>
              <a:rPr lang="en" sz="2800" dirty="0"/>
              <a:t>?</a:t>
            </a:r>
            <a:endParaRPr sz="2800" dirty="0"/>
          </a:p>
        </p:txBody>
      </p:sp>
      <p:sp>
        <p:nvSpPr>
          <p:cNvPr id="6" name="Google Shape;176;p42">
            <a:extLst>
              <a:ext uri="{FF2B5EF4-FFF2-40B4-BE49-F238E27FC236}">
                <a16:creationId xmlns:a16="http://schemas.microsoft.com/office/drawing/2014/main" id="{37D6DBA9-5D69-154C-A120-4ADBF03F7CF7}"/>
              </a:ext>
            </a:extLst>
          </p:cNvPr>
          <p:cNvSpPr txBox="1"/>
          <p:nvPr/>
        </p:nvSpPr>
        <p:spPr>
          <a:xfrm>
            <a:off x="1732190" y="23981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rgbClr val="FF0000"/>
                </a:solidFill>
              </a:rPr>
              <a:t>How often is the recommendation/decision being made?</a:t>
            </a:r>
            <a:endParaRPr sz="1600" dirty="0">
              <a:solidFill>
                <a:srgbClr val="FF0000"/>
              </a:solidFill>
            </a:endParaRPr>
          </a:p>
        </p:txBody>
      </p:sp>
      <p:sp>
        <p:nvSpPr>
          <p:cNvPr id="7" name="Google Shape;177;p42">
            <a:extLst>
              <a:ext uri="{FF2B5EF4-FFF2-40B4-BE49-F238E27FC236}">
                <a16:creationId xmlns:a16="http://schemas.microsoft.com/office/drawing/2014/main" id="{6A2D549C-59C2-0340-9130-F3B04EEF3F59}"/>
              </a:ext>
            </a:extLst>
          </p:cNvPr>
          <p:cNvSpPr txBox="1"/>
          <p:nvPr/>
        </p:nvSpPr>
        <p:spPr>
          <a:xfrm>
            <a:off x="1736040" y="327528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00FF"/>
                </a:solidFill>
              </a:rPr>
              <a:t>Who/what is included in the cohort?</a:t>
            </a:r>
            <a:endParaRPr sz="1600">
              <a:solidFill>
                <a:srgbClr val="0000FF"/>
              </a:solidFill>
            </a:endParaRPr>
          </a:p>
        </p:txBody>
      </p:sp>
      <p:sp>
        <p:nvSpPr>
          <p:cNvPr id="8" name="Google Shape;178;p42">
            <a:extLst>
              <a:ext uri="{FF2B5EF4-FFF2-40B4-BE49-F238E27FC236}">
                <a16:creationId xmlns:a16="http://schemas.microsoft.com/office/drawing/2014/main" id="{A7B784C6-E226-7546-90BA-7A3243A70F6B}"/>
              </a:ext>
            </a:extLst>
          </p:cNvPr>
          <p:cNvSpPr txBox="1"/>
          <p:nvPr/>
        </p:nvSpPr>
        <p:spPr>
          <a:xfrm>
            <a:off x="1736040" y="3923830"/>
            <a:ext cx="2256300" cy="5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FF"/>
                </a:solidFill>
              </a:rPr>
              <a:t>What is the output?</a:t>
            </a:r>
            <a:endParaRPr sz="1600">
              <a:solidFill>
                <a:srgbClr val="FF00FF"/>
              </a:solidFill>
            </a:endParaRPr>
          </a:p>
        </p:txBody>
      </p:sp>
      <p:sp>
        <p:nvSpPr>
          <p:cNvPr id="9" name="Google Shape;179;p42">
            <a:extLst>
              <a:ext uri="{FF2B5EF4-FFF2-40B4-BE49-F238E27FC236}">
                <a16:creationId xmlns:a16="http://schemas.microsoft.com/office/drawing/2014/main" id="{0D4F98CB-D85C-3F48-A552-B472AA7D6F71}"/>
              </a:ext>
            </a:extLst>
          </p:cNvPr>
          <p:cNvSpPr txBox="1"/>
          <p:nvPr/>
        </p:nvSpPr>
        <p:spPr>
          <a:xfrm>
            <a:off x="1732190" y="4444630"/>
            <a:ext cx="2256300" cy="11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rgbClr val="274E13"/>
                </a:solidFill>
              </a:rPr>
              <a:t>What outcome are you predicting/estimating?</a:t>
            </a:r>
            <a:endParaRPr sz="1600" dirty="0"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274E1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rgbClr val="B45F06"/>
                </a:solidFill>
              </a:rPr>
              <a:t>For what purpose?</a:t>
            </a:r>
            <a:endParaRPr sz="1600" dirty="0">
              <a:solidFill>
                <a:srgbClr val="274E1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936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99FE356-1ECD-E2A9-D4E2-8BCE7296D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5" name="Google Shape;145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146" name="Google Shape;146;p30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147" name="Google Shape;147;p30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>
                <a:solidFill>
                  <a:srgbClr val="FF0000"/>
                </a:solidFill>
              </a:rPr>
              <a:t>On the 1</a:t>
            </a:r>
            <a:r>
              <a:rPr lang="en" sz="3467" baseline="30000">
                <a:solidFill>
                  <a:srgbClr val="FF0000"/>
                </a:solidFill>
              </a:rPr>
              <a:t>st</a:t>
            </a:r>
            <a:r>
              <a:rPr lang="en" sz="3467">
                <a:solidFill>
                  <a:srgbClr val="FF0000"/>
                </a:solidFill>
              </a:rPr>
              <a:t> of every month</a:t>
            </a:r>
            <a:r>
              <a:rPr lang="en" sz="3467">
                <a:solidFill>
                  <a:srgbClr val="595959"/>
                </a:solidFill>
              </a:rPr>
              <a:t>, for </a:t>
            </a:r>
            <a:r>
              <a:rPr lang="en" sz="3467">
                <a:solidFill>
                  <a:srgbClr val="0000FF"/>
                </a:solidFill>
              </a:rPr>
              <a:t>all individuals who have interacted with MyRC sources in the last 3 years</a:t>
            </a:r>
            <a:r>
              <a:rPr lang="en" sz="3467">
                <a:solidFill>
                  <a:srgbClr val="595959"/>
                </a:solidFill>
              </a:rPr>
              <a:t>, can we identify the </a:t>
            </a:r>
            <a:r>
              <a:rPr lang="en" sz="3467">
                <a:solidFill>
                  <a:srgbClr val="FF00FF"/>
                </a:solidFill>
              </a:rPr>
              <a:t>100 (JoCo) and 30 (DoCo) individuals </a:t>
            </a:r>
            <a:r>
              <a:rPr lang="en" sz="3467">
                <a:solidFill>
                  <a:srgbClr val="595959"/>
                </a:solidFill>
              </a:rPr>
              <a:t>who are </a:t>
            </a:r>
            <a:r>
              <a:rPr lang="en" sz="3467">
                <a:solidFill>
                  <a:srgbClr val="38761D"/>
                </a:solidFill>
              </a:rPr>
              <a:t>at highest risk to die by suicide or overdose in the next 6 months </a:t>
            </a:r>
            <a:r>
              <a:rPr lang="en" sz="3467">
                <a:solidFill>
                  <a:srgbClr val="B45F06"/>
                </a:solidFill>
              </a:rPr>
              <a:t>to recommend for proactive behavioral health outreach</a:t>
            </a:r>
            <a:r>
              <a:rPr lang="en" sz="3467">
                <a:solidFill>
                  <a:srgbClr val="595959"/>
                </a:solidFill>
              </a:rPr>
              <a:t>?</a:t>
            </a:r>
            <a:endParaRPr sz="3467">
              <a:solidFill>
                <a:srgbClr val="595959"/>
              </a:solidFill>
            </a:endParaRPr>
          </a:p>
        </p:txBody>
      </p:sp>
      <p:sp>
        <p:nvSpPr>
          <p:cNvPr id="148" name="Google Shape;148;p30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149" name="Google Shape;149;p30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150" name="Google Shape;150;p30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151" name="Google Shape;151;p30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49ADA-B971-3A74-683D-F7E6AB709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3" name="Google Shape;203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04" name="Google Shape;204;p38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05" name="Google Shape;205;p38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115000"/>
              </a:lnSpc>
              <a:spcAft>
                <a:spcPts val="2133"/>
              </a:spcAft>
            </a:pPr>
            <a:r>
              <a:rPr lang="en" sz="3467" dirty="0">
                <a:solidFill>
                  <a:srgbClr val="FF0000"/>
                </a:solidFill>
              </a:rPr>
              <a:t>Every year, when new aerial data arrives</a:t>
            </a:r>
            <a:r>
              <a:rPr lang="en" sz="3467" dirty="0">
                <a:solidFill>
                  <a:srgbClr val="595959"/>
                </a:solidFill>
              </a:rPr>
              <a:t>, for </a:t>
            </a:r>
            <a:r>
              <a:rPr lang="en" sz="3467" dirty="0">
                <a:solidFill>
                  <a:srgbClr val="0000FF"/>
                </a:solidFill>
              </a:rPr>
              <a:t>all </a:t>
            </a:r>
            <a:r>
              <a:rPr lang="en" sz="3467" dirty="0" err="1">
                <a:solidFill>
                  <a:srgbClr val="0000FF"/>
                </a:solidFill>
              </a:rPr>
              <a:t>blocklots</a:t>
            </a:r>
            <a:r>
              <a:rPr lang="en" sz="3467" dirty="0">
                <a:solidFill>
                  <a:srgbClr val="0000FF"/>
                </a:solidFill>
              </a:rPr>
              <a:t> in Baltimore City</a:t>
            </a:r>
            <a:r>
              <a:rPr lang="en" sz="3467" dirty="0">
                <a:solidFill>
                  <a:srgbClr val="595959"/>
                </a:solidFill>
              </a:rPr>
              <a:t>, can we identify </a:t>
            </a:r>
            <a:r>
              <a:rPr lang="en" sz="3467" dirty="0">
                <a:solidFill>
                  <a:srgbClr val="FF00FF"/>
                </a:solidFill>
              </a:rPr>
              <a:t>1,000 </a:t>
            </a:r>
            <a:r>
              <a:rPr lang="en" sz="3467" dirty="0" err="1">
                <a:solidFill>
                  <a:srgbClr val="FF00FF"/>
                </a:solidFill>
              </a:rPr>
              <a:t>blocklots</a:t>
            </a:r>
            <a:r>
              <a:rPr lang="en" sz="3467" dirty="0">
                <a:solidFill>
                  <a:srgbClr val="FF00FF"/>
                </a:solidFill>
              </a:rPr>
              <a:t> </a:t>
            </a:r>
            <a:r>
              <a:rPr lang="en" sz="3467" dirty="0">
                <a:solidFill>
                  <a:srgbClr val="595959"/>
                </a:solidFill>
              </a:rPr>
              <a:t>with a </a:t>
            </a:r>
            <a:r>
              <a:rPr lang="en" sz="3467" dirty="0">
                <a:solidFill>
                  <a:srgbClr val="38761D"/>
                </a:solidFill>
              </a:rPr>
              <a:t>“high” level of roof damage </a:t>
            </a:r>
            <a:r>
              <a:rPr lang="en" sz="3467" dirty="0">
                <a:solidFill>
                  <a:srgbClr val="B45F06"/>
                </a:solidFill>
              </a:rPr>
              <a:t>to prioritize for demo or stabilization inspection in the next year</a:t>
            </a:r>
            <a:r>
              <a:rPr lang="en" sz="3467" dirty="0">
                <a:solidFill>
                  <a:srgbClr val="595959"/>
                </a:solidFill>
              </a:rPr>
              <a:t>?</a:t>
            </a: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06" name="Google Shape;206;p38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07" name="Google Shape;207;p38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08" name="Google Shape;208;p38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2D41A7C-7A01-06C2-224D-BE64B19B9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3" name="Google Shape;233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34" name="Google Shape;234;p42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35" name="Google Shape;235;p42"/>
          <p:cNvSpPr txBox="1"/>
          <p:nvPr/>
        </p:nvSpPr>
        <p:spPr>
          <a:xfrm>
            <a:off x="3566453" y="1341573"/>
            <a:ext cx="8531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467" dirty="0">
                <a:solidFill>
                  <a:srgbClr val="FF0000"/>
                </a:solidFill>
              </a:rPr>
              <a:t>Every day</a:t>
            </a:r>
            <a:r>
              <a:rPr lang="en" sz="3467" dirty="0">
                <a:solidFill>
                  <a:schemeClr val="dk1"/>
                </a:solidFill>
              </a:rPr>
              <a:t>, for</a:t>
            </a:r>
            <a:r>
              <a:rPr lang="en" sz="3467" dirty="0">
                <a:solidFill>
                  <a:srgbClr val="0000FF"/>
                </a:solidFill>
              </a:rPr>
              <a:t> all first time defendants with </a:t>
            </a:r>
            <a:r>
              <a:rPr lang="en" sz="3467" dirty="0">
                <a:solidFill>
                  <a:srgbClr val="0000FF"/>
                </a:solidFill>
                <a:highlight>
                  <a:srgbClr val="FFFFFF"/>
                </a:highlight>
              </a:rPr>
              <a:t>low-level, nonviolent ordinance violation cases</a:t>
            </a:r>
            <a:r>
              <a:rPr lang="en" sz="3467" dirty="0">
                <a:solidFill>
                  <a:schemeClr val="dk1"/>
                </a:solidFill>
              </a:rPr>
              <a:t>, can we identify the </a:t>
            </a:r>
            <a:r>
              <a:rPr lang="en" sz="3467" dirty="0">
                <a:solidFill>
                  <a:srgbClr val="FF00FF"/>
                </a:solidFill>
              </a:rPr>
              <a:t>top 5% of people at highest risk </a:t>
            </a:r>
            <a:r>
              <a:rPr lang="en" sz="3467" dirty="0">
                <a:solidFill>
                  <a:schemeClr val="dk1"/>
                </a:solidFill>
              </a:rPr>
              <a:t>of</a:t>
            </a:r>
            <a:r>
              <a:rPr lang="en" sz="3467" dirty="0">
                <a:solidFill>
                  <a:srgbClr val="38761D"/>
                </a:solidFill>
              </a:rPr>
              <a:t> not completing their probation terms</a:t>
            </a:r>
            <a:r>
              <a:rPr lang="en" sz="3467" dirty="0">
                <a:solidFill>
                  <a:srgbClr val="FF00FF"/>
                </a:solidFill>
              </a:rPr>
              <a:t> </a:t>
            </a:r>
            <a:r>
              <a:rPr lang="en" sz="3467" dirty="0">
                <a:solidFill>
                  <a:srgbClr val="B45F06"/>
                </a:solidFill>
              </a:rPr>
              <a:t>to restructure their terms in order to support better outcomes and prevent new cases.</a:t>
            </a:r>
            <a:endParaRPr sz="3467" dirty="0">
              <a:solidFill>
                <a:srgbClr val="B45F06"/>
              </a:solidFill>
            </a:endParaRPr>
          </a:p>
          <a:p>
            <a:pPr>
              <a:lnSpc>
                <a:spcPct val="115000"/>
              </a:lnSpc>
              <a:spcAft>
                <a:spcPts val="2133"/>
              </a:spcAft>
            </a:pPr>
            <a:endParaRPr sz="3467" dirty="0">
              <a:solidFill>
                <a:srgbClr val="595959"/>
              </a:solidFill>
            </a:endParaRPr>
          </a:p>
        </p:txBody>
      </p:sp>
      <p:sp>
        <p:nvSpPr>
          <p:cNvPr id="236" name="Google Shape;236;p42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38" name="Google Shape;238;p42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39" name="Google Shape;239;p42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1BBD25-1C37-5157-CF0F-11E6D2EA8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63" name="Google Shape;263;p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</a:t>
            </a:r>
            <a:endParaRPr/>
          </a:p>
        </p:txBody>
      </p:sp>
      <p:sp>
        <p:nvSpPr>
          <p:cNvPr id="265" name="Google Shape;265;p46"/>
          <p:cNvSpPr txBox="1"/>
          <p:nvPr/>
        </p:nvSpPr>
        <p:spPr>
          <a:xfrm>
            <a:off x="3629033" y="1463200"/>
            <a:ext cx="8147200" cy="4588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" sz="3067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 time ACDHS gets eviction filing data (weekly),</a:t>
            </a:r>
            <a:r>
              <a:rPr lang="en" sz="3067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 for all individuals who have interacted with ACDHS in the 12 months who are not currently homeless and have had an eviction filing in the last 4 months</a:t>
            </a:r>
            <a:r>
              <a:rPr lang="en" sz="3067" dirty="0">
                <a:latin typeface="Calibri"/>
                <a:ea typeface="Calibri"/>
                <a:cs typeface="Calibri"/>
                <a:sym typeface="Calibri"/>
              </a:rPr>
              <a:t>, can we identify the </a:t>
            </a:r>
            <a:r>
              <a:rPr lang="en" sz="3067" dirty="0">
                <a:solidFill>
                  <a:srgbClr val="FF00FF"/>
                </a:solidFill>
                <a:latin typeface="Calibri"/>
                <a:ea typeface="Calibri"/>
                <a:cs typeface="Calibri"/>
                <a:sym typeface="Calibri"/>
              </a:rPr>
              <a:t>50 individuals at highest risk</a:t>
            </a:r>
            <a:r>
              <a:rPr lang="en" sz="3067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3067" dirty="0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of entering into homelessness in the next 12 months </a:t>
            </a:r>
            <a:r>
              <a:rPr lang="en" sz="3067" dirty="0">
                <a:solidFill>
                  <a:srgbClr val="B45F06"/>
                </a:solidFill>
                <a:latin typeface="Calibri"/>
                <a:ea typeface="Calibri"/>
                <a:cs typeface="Calibri"/>
                <a:sym typeface="Calibri"/>
              </a:rPr>
              <a:t>to prioritize for distribution of rental assistance?</a:t>
            </a:r>
            <a:endParaRPr sz="3467" dirty="0">
              <a:solidFill>
                <a:srgbClr val="B45F0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sp>
        <p:nvSpPr>
          <p:cNvPr id="267" name="Google Shape;267;p46"/>
          <p:cNvSpPr txBox="1"/>
          <p:nvPr/>
        </p:nvSpPr>
        <p:spPr>
          <a:xfrm>
            <a:off x="248120" y="1463207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FF0000"/>
                </a:solidFill>
              </a:rPr>
              <a:t>When and How often is the recommendation / decision being made?</a:t>
            </a:r>
            <a:endParaRPr sz="1867">
              <a:solidFill>
                <a:srgbClr val="FF0000"/>
              </a:solidFill>
            </a:endParaRPr>
          </a:p>
        </p:txBody>
      </p:sp>
      <p:sp>
        <p:nvSpPr>
          <p:cNvPr id="268" name="Google Shape;268;p46"/>
          <p:cNvSpPr txBox="1"/>
          <p:nvPr/>
        </p:nvSpPr>
        <p:spPr>
          <a:xfrm>
            <a:off x="253253" y="2632740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0000FF"/>
                </a:solidFill>
              </a:rPr>
            </a:br>
            <a:r>
              <a:rPr lang="en" sz="1867">
                <a:solidFill>
                  <a:srgbClr val="0000FF"/>
                </a:solidFill>
              </a:rPr>
              <a:t>Who/what is included in the cohort?</a:t>
            </a:r>
            <a:endParaRPr sz="1867">
              <a:solidFill>
                <a:srgbClr val="0000FF"/>
              </a:solidFill>
            </a:endParaRPr>
          </a:p>
        </p:txBody>
      </p:sp>
      <p:sp>
        <p:nvSpPr>
          <p:cNvPr id="269" name="Google Shape;269;p46"/>
          <p:cNvSpPr txBox="1"/>
          <p:nvPr/>
        </p:nvSpPr>
        <p:spPr>
          <a:xfrm>
            <a:off x="253253" y="3497473"/>
            <a:ext cx="3008400" cy="7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br>
              <a:rPr lang="en" sz="1867">
                <a:solidFill>
                  <a:srgbClr val="FF00FF"/>
                </a:solidFill>
              </a:rPr>
            </a:br>
            <a:r>
              <a:rPr lang="en" sz="1867">
                <a:solidFill>
                  <a:srgbClr val="FF00FF"/>
                </a:solidFill>
              </a:rPr>
              <a:t>What is the output?</a:t>
            </a:r>
            <a:endParaRPr sz="1867">
              <a:solidFill>
                <a:srgbClr val="FF00FF"/>
              </a:solidFill>
            </a:endParaRPr>
          </a:p>
        </p:txBody>
      </p:sp>
      <p:sp>
        <p:nvSpPr>
          <p:cNvPr id="270" name="Google Shape;270;p46"/>
          <p:cNvSpPr txBox="1"/>
          <p:nvPr/>
        </p:nvSpPr>
        <p:spPr>
          <a:xfrm>
            <a:off x="248120" y="4191873"/>
            <a:ext cx="3008400" cy="14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1400"/>
            </a:pPr>
            <a:r>
              <a:rPr lang="en" sz="1867">
                <a:solidFill>
                  <a:srgbClr val="274E13"/>
                </a:solidFill>
              </a:rPr>
              <a:t>What outcome are you predicting/estimating?</a:t>
            </a: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endParaRPr sz="1867">
              <a:solidFill>
                <a:srgbClr val="274E13"/>
              </a:solidFill>
            </a:endParaRPr>
          </a:p>
          <a:p>
            <a:pPr>
              <a:buSzPts val="1400"/>
            </a:pPr>
            <a:r>
              <a:rPr lang="en" sz="1867">
                <a:solidFill>
                  <a:srgbClr val="B45F06"/>
                </a:solidFill>
              </a:rPr>
              <a:t>For what purpose?</a:t>
            </a:r>
            <a:endParaRPr sz="1867"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4B70A5-25A8-AD7E-2AC5-FBE8362F2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4" name="Google Shape;304;p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r>
              <a:rPr lang="en"/>
              <a:t>Analytical Formulation - Top level</a:t>
            </a:r>
            <a:endParaRPr/>
          </a:p>
        </p:txBody>
      </p:sp>
      <p:sp>
        <p:nvSpPr>
          <p:cNvPr id="305" name="Google Shape;305;p51"/>
          <p:cNvSpPr/>
          <p:nvPr/>
        </p:nvSpPr>
        <p:spPr>
          <a:xfrm>
            <a:off x="190320" y="1463207"/>
            <a:ext cx="3124000" cy="42044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SzPts val="1400"/>
            </a:pPr>
            <a:endParaRPr sz="1867"/>
          </a:p>
        </p:txBody>
      </p:sp>
      <p:grpSp>
        <p:nvGrpSpPr>
          <p:cNvPr id="307" name="Google Shape;307;p51"/>
          <p:cNvGrpSpPr/>
          <p:nvPr/>
        </p:nvGrpSpPr>
        <p:grpSpPr>
          <a:xfrm>
            <a:off x="248120" y="1463207"/>
            <a:ext cx="3013533" cy="4056967"/>
            <a:chOff x="186090" y="1097405"/>
            <a:chExt cx="2260150" cy="3042725"/>
          </a:xfrm>
        </p:grpSpPr>
        <p:sp>
          <p:nvSpPr>
            <p:cNvPr id="308" name="Google Shape;308;p51"/>
            <p:cNvSpPr txBox="1"/>
            <p:nvPr/>
          </p:nvSpPr>
          <p:spPr>
            <a:xfrm>
              <a:off x="186090" y="109740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FF0000"/>
                  </a:solidFill>
                </a:rPr>
                <a:t>When and How often is the recommendation / decision being made?</a:t>
              </a:r>
              <a:endParaRPr sz="1867">
                <a:solidFill>
                  <a:srgbClr val="FF0000"/>
                </a:solidFill>
              </a:endParaRPr>
            </a:p>
          </p:txBody>
        </p:sp>
        <p:sp>
          <p:nvSpPr>
            <p:cNvPr id="309" name="Google Shape;309;p51"/>
            <p:cNvSpPr txBox="1"/>
            <p:nvPr/>
          </p:nvSpPr>
          <p:spPr>
            <a:xfrm>
              <a:off x="189940" y="197455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0000FF"/>
                  </a:solidFill>
                </a:rPr>
                <a:t>Who/what is included in the cohort?</a:t>
              </a:r>
              <a:endParaRPr sz="1867">
                <a:solidFill>
                  <a:srgbClr val="0000FF"/>
                </a:solidFill>
              </a:endParaRPr>
            </a:p>
          </p:txBody>
        </p:sp>
        <p:sp>
          <p:nvSpPr>
            <p:cNvPr id="310" name="Google Shape;310;p51"/>
            <p:cNvSpPr txBox="1"/>
            <p:nvPr/>
          </p:nvSpPr>
          <p:spPr>
            <a:xfrm>
              <a:off x="189940" y="2623105"/>
              <a:ext cx="2256300" cy="5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FF00FF"/>
                  </a:solidFill>
                </a:rPr>
                <a:t>What is the output?</a:t>
              </a:r>
              <a:endParaRPr sz="1867">
                <a:solidFill>
                  <a:srgbClr val="FF00FF"/>
                </a:solidFill>
              </a:endParaRPr>
            </a:p>
          </p:txBody>
        </p:sp>
        <p:sp>
          <p:nvSpPr>
            <p:cNvPr id="311" name="Google Shape;311;p51"/>
            <p:cNvSpPr txBox="1"/>
            <p:nvPr/>
          </p:nvSpPr>
          <p:spPr>
            <a:xfrm>
              <a:off x="189940" y="3033430"/>
              <a:ext cx="2256300" cy="110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>
                <a:buSzPts val="1400"/>
              </a:pPr>
              <a:r>
                <a:rPr lang="en" sz="1867">
                  <a:solidFill>
                    <a:srgbClr val="274E13"/>
                  </a:solidFill>
                </a:rPr>
                <a:t>What outcome are you predicting/estimating?</a:t>
              </a:r>
              <a:endParaRPr sz="1867">
                <a:solidFill>
                  <a:srgbClr val="274E13"/>
                </a:solidFill>
              </a:endParaRPr>
            </a:p>
            <a:p>
              <a:pPr>
                <a:buSzPts val="1400"/>
              </a:pPr>
              <a:endParaRPr sz="1867">
                <a:solidFill>
                  <a:srgbClr val="274E13"/>
                </a:solidFill>
              </a:endParaRPr>
            </a:p>
            <a:p>
              <a:pPr>
                <a:buSzPts val="1400"/>
              </a:pPr>
              <a:r>
                <a:rPr lang="en" sz="1867">
                  <a:solidFill>
                    <a:srgbClr val="B45F06"/>
                  </a:solidFill>
                </a:rPr>
                <a:t>For what purpose?</a:t>
              </a:r>
              <a:endParaRPr sz="1867">
                <a:solidFill>
                  <a:srgbClr val="274E13"/>
                </a:solidFill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F6412C4-6B24-B1FD-241B-D181D0069C5F}"/>
              </a:ext>
            </a:extLst>
          </p:cNvPr>
          <p:cNvSpPr txBox="1"/>
          <p:nvPr/>
        </p:nvSpPr>
        <p:spPr>
          <a:xfrm>
            <a:off x="3706585" y="1499423"/>
            <a:ext cx="8126187" cy="4360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67" dirty="0">
                <a:solidFill>
                  <a:srgbClr val="FF0000"/>
                </a:solidFill>
                <a:latin typeface="Arial" panose="020B0604020202020204" pitchFamily="34" charset="0"/>
              </a:rPr>
              <a:t>For every time the doctor finishes taking notes during a patient visit</a:t>
            </a:r>
            <a:r>
              <a:rPr lang="en-US" sz="2667" dirty="0">
                <a:latin typeface="Arial" panose="020B0604020202020204" pitchFamily="34" charset="0"/>
              </a:rPr>
              <a:t>, for </a:t>
            </a:r>
            <a:r>
              <a:rPr lang="en-US" sz="2667" dirty="0">
                <a:solidFill>
                  <a:srgbClr val="0000FF"/>
                </a:solidFill>
                <a:latin typeface="Arial" panose="020B0604020202020204" pitchFamily="34" charset="0"/>
              </a:rPr>
              <a:t>all adult patients who come through the ED, </a:t>
            </a:r>
            <a:r>
              <a:rPr lang="en-US" sz="2667" dirty="0">
                <a:latin typeface="Arial" panose="020B0604020202020204" pitchFamily="34" charset="0"/>
              </a:rPr>
              <a:t>can we identify</a:t>
            </a:r>
            <a:r>
              <a:rPr lang="en-US" sz="2667" dirty="0">
                <a:solidFill>
                  <a:srgbClr val="FF00FF"/>
                </a:solidFill>
                <a:latin typeface="Arial" panose="020B0604020202020204" pitchFamily="34" charset="0"/>
              </a:rPr>
              <a:t> up to 10 possible ICD-10 categories* </a:t>
            </a:r>
            <a:r>
              <a:rPr lang="en-US" sz="2667" dirty="0">
                <a:latin typeface="Arial" panose="020B0604020202020204" pitchFamily="34" charset="0"/>
              </a:rPr>
              <a:t>that </a:t>
            </a:r>
            <a:r>
              <a:rPr lang="en-US" sz="2667" dirty="0">
                <a:solidFill>
                  <a:srgbClr val="38761D"/>
                </a:solidFill>
                <a:latin typeface="Arial" panose="020B0604020202020204" pitchFamily="34" charset="0"/>
              </a:rPr>
              <a:t>correspond to the patient’s condition </a:t>
            </a:r>
            <a:r>
              <a:rPr lang="en-US" sz="2667" dirty="0">
                <a:solidFill>
                  <a:srgbClr val="B45F06"/>
                </a:solidFill>
                <a:latin typeface="Arial" panose="020B0604020202020204" pitchFamily="34" charset="0"/>
              </a:rPr>
              <a:t>to provide appropriate and timely interventions</a:t>
            </a:r>
            <a:endParaRPr lang="en-US" sz="2667" dirty="0"/>
          </a:p>
          <a:p>
            <a:br>
              <a:rPr lang="en-US" sz="2667" dirty="0"/>
            </a:br>
            <a:r>
              <a:rPr lang="en-US" sz="2667" dirty="0">
                <a:latin typeface="Arial" panose="020B0604020202020204" pitchFamily="34" charset="0"/>
              </a:rPr>
              <a:t>*Categories are the first three characters of the ICD-10 code.</a:t>
            </a:r>
            <a:endParaRPr lang="en-US" sz="2667" dirty="0"/>
          </a:p>
          <a:p>
            <a:br>
              <a:rPr lang="en-US" sz="1867" dirty="0"/>
            </a:br>
            <a:endParaRPr lang="en-US" sz="1867" dirty="0"/>
          </a:p>
        </p:txBody>
      </p:sp>
    </p:spTree>
    <p:extLst>
      <p:ext uri="{BB962C8B-B14F-4D97-AF65-F5344CB8AC3E}">
        <p14:creationId xmlns:p14="http://schemas.microsoft.com/office/powerpoint/2010/main" val="708487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210" y="2360141"/>
            <a:ext cx="11666400" cy="4182862"/>
          </a:xfrm>
        </p:spPr>
        <p:txBody>
          <a:bodyPr/>
          <a:lstStyle/>
          <a:p>
            <a:pPr marL="114300" indent="0" algn="ctr">
              <a:buNone/>
            </a:pPr>
            <a:r>
              <a:rPr lang="en-US" sz="4800" dirty="0"/>
              <a:t>What is the appropriate comparison </a:t>
            </a:r>
          </a:p>
          <a:p>
            <a:pPr marL="114300" indent="0" algn="ctr">
              <a:buNone/>
            </a:pPr>
            <a:r>
              <a:rPr lang="en-US" sz="4800" dirty="0"/>
              <a:t>for your ML model?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Baselines</a:t>
            </a:r>
          </a:p>
        </p:txBody>
      </p:sp>
    </p:spTree>
    <p:extLst>
      <p:ext uri="{BB962C8B-B14F-4D97-AF65-F5344CB8AC3E}">
        <p14:creationId xmlns:p14="http://schemas.microsoft.com/office/powerpoint/2010/main" val="1335110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2800" y="1403308"/>
            <a:ext cx="11666400" cy="4954500"/>
          </a:xfrm>
        </p:spPr>
        <p:txBody>
          <a:bodyPr/>
          <a:lstStyle/>
          <a:p>
            <a:r>
              <a:rPr lang="en-US" dirty="0"/>
              <a:t>Common Sense</a:t>
            </a:r>
            <a:br>
              <a:rPr lang="en-US" dirty="0"/>
            </a:br>
            <a:endParaRPr lang="en-US" dirty="0"/>
          </a:p>
          <a:p>
            <a:r>
              <a:rPr lang="en-US" dirty="0"/>
              <a:t>What they do today</a:t>
            </a:r>
            <a:br>
              <a:rPr lang="en-US" dirty="0"/>
            </a:br>
            <a:endParaRPr lang="en-US" dirty="0"/>
          </a:p>
          <a:p>
            <a:r>
              <a:rPr lang="en-US" dirty="0"/>
              <a:t>What they could do today easily (without any or very simple ML involved)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Prior/Base Rate</a:t>
            </a:r>
          </a:p>
          <a:p>
            <a:pPr lvl="1"/>
            <a:r>
              <a:rPr lang="en-US" dirty="0"/>
              <a:t>What expected value would you get if you just choose at random (based on the data distribution)?</a:t>
            </a:r>
            <a:br>
              <a:rPr lang="en-US" dirty="0"/>
            </a:br>
            <a:endParaRPr lang="en-US" dirty="0"/>
          </a:p>
          <a:p>
            <a:r>
              <a:rPr lang="en-US" dirty="0"/>
              <a:t>Good baselines should provide an ordering to sort the entities</a:t>
            </a:r>
          </a:p>
          <a:p>
            <a:pPr lvl="1"/>
            <a:r>
              <a:rPr lang="en-US" dirty="0"/>
              <a:t>Heuristic rules (or shallow decision trees) might reflect current practice, but can yield a small number of unique scores with lots of ties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Options</a:t>
            </a:r>
          </a:p>
        </p:txBody>
      </p:sp>
    </p:spTree>
    <p:extLst>
      <p:ext uri="{BB962C8B-B14F-4D97-AF65-F5344CB8AC3E}">
        <p14:creationId xmlns:p14="http://schemas.microsoft.com/office/powerpoint/2010/main" val="2257075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7B27DC9-378A-B50B-7138-EED9A5CC7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06" y="20548"/>
            <a:ext cx="11360700" cy="763500"/>
          </a:xfrm>
        </p:spPr>
        <p:txBody>
          <a:bodyPr/>
          <a:lstStyle/>
          <a:p>
            <a:r>
              <a:rPr lang="en-US" dirty="0"/>
              <a:t>For the Netflix example, what would be a reasonable baseline method that doesn't require using any ML?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6D19F-3E25-E279-F9A2-3CE77C5E7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683335" y="2031714"/>
            <a:ext cx="4825330" cy="2794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14300" indent="0" algn="ctr"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#94889</a:t>
            </a:r>
          </a:p>
          <a:p>
            <a:pPr algn="ctr"/>
            <a:endParaRPr lang="en-US" sz="4800" dirty="0"/>
          </a:p>
          <a:p>
            <a:pPr marL="114300" indent="0" algn="ctr">
              <a:buNone/>
            </a:pPr>
            <a:r>
              <a:rPr lang="en-US" sz="4800" dirty="0" err="1"/>
              <a:t>sli.do</a:t>
            </a:r>
            <a:r>
              <a:rPr lang="en-US" sz="4800" dirty="0"/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4141853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02749D5-EF91-FAEF-B5FE-5BC4C0A1E77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57E54B-91E9-219C-1348-8A8C449C4B3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900" b="1">
                <a:solidFill>
                  <a:srgbClr val="000000"/>
                </a:solidFill>
              </a:rPr>
              <a:t>For the Netflix example, what would be a reasonable baseline method that doesn't require using any ML?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118BA4-AD6E-95BF-40B4-2A0B2F23655E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66649F-18A4-1042-E6DA-8DB8965A4872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016079CA-987D-18DF-87EF-6442FD2D1E69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C2D0B5D-1748-4739-2A61-C73FF33D44DB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45339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F0CF04-B42B-C044-ACCB-6C665E5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much better than baselines does our system need to be in order to deploy?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Important to compare performance against the base rate/prior, but this prior rarely represents a “common sense” baseline</a:t>
            </a:r>
            <a:br>
              <a:rPr lang="en-US" dirty="0"/>
            </a:br>
            <a:endParaRPr lang="en-US" dirty="0"/>
          </a:p>
          <a:p>
            <a:r>
              <a:rPr lang="en-US" dirty="0"/>
              <a:t>Good baselines should provide an ordering to sort the entities</a:t>
            </a:r>
          </a:p>
          <a:p>
            <a:pPr lvl="1"/>
            <a:r>
              <a:rPr lang="en-US" dirty="0"/>
              <a:t>Heuristic rules (or shallow decision trees) might reflect current practice, but can yield a small number of unique scores with lots of ties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 many real-world problems, a good baseline can be difficult to beat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049B21-A440-624B-941A-2CE52653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3480883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 this week:</a:t>
            </a:r>
          </a:p>
          <a:p>
            <a:pPr lvl="1"/>
            <a:r>
              <a:rPr lang="en-US" dirty="0"/>
              <a:t>Wednesday session on python + </a:t>
            </a:r>
            <a:r>
              <a:rPr lang="en-US" dirty="0" err="1"/>
              <a:t>sql</a:t>
            </a:r>
            <a:r>
              <a:rPr lang="en-US" dirty="0"/>
              <a:t> (and advanced </a:t>
            </a:r>
            <a:r>
              <a:rPr lang="en-US" dirty="0" err="1"/>
              <a:t>sql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Thursday session on ML pipelines</a:t>
            </a:r>
          </a:p>
          <a:p>
            <a:pPr lvl="1"/>
            <a:endParaRPr lang="en-US" dirty="0"/>
          </a:p>
          <a:p>
            <a:r>
              <a:rPr lang="en-US" dirty="0"/>
              <a:t>Next week:</a:t>
            </a:r>
          </a:p>
          <a:p>
            <a:pPr lvl="1"/>
            <a:r>
              <a:rPr lang="en-US" dirty="0"/>
              <a:t>Proposal peer reviews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4541648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2dfb5fc-ac72-45e1-b454-03a491153cc4"/>
  <p:tag name="SLIDO_EVENT_UUID" val="606d3060-a568-4588-a241-3a97192e31fe"/>
  <p:tag name="SLIDO_EVENT_SECTION_UUID" val="07e0abdb-b0f8-4b83-94f8-1a04124a2d9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b75de85b-a297-4d64-bfe6-9216da9f4c00"/>
  <p:tag name="SLIDO_TIMELINE" val="W3sic2hvd1Jlc3VsdHMiOmZhbHNlLCJwb2xsUXVlc3Rpb25VdWlkIjoiOTZjMTA1YjEtZjNiMi00MTMwLWJjMjctYWQ0NjUxY2Q2OGJhIn0seyJzaG93UmVzdWx0cyI6dHJ1ZSwicG9sbFF1ZXN0aW9uVXVpZCI6Ijk2YzEwNWIxLWYzYjItNDEzMC1iYzI3LWFkNDY1MWNkNjhiY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46c8ba16-fca0-43fd-b1cb-5f39e34564df"/>
  <p:tag name="SLIDO_TIMELINE" val="W3sicG9sbFF1ZXN0aW9uVXVpZCI6IjY4N2VhNDkxLWE2OWYtNDE5Yy1iNWNmLTJlNmI0ZTZjMWE5ZiIsInNob3dSZXN1bHRzIjpmYWxzZX0seyJwb2xsUXVlc3Rpb25VdWlkIjoiNjg3ZWE0OTEtYTY5Zi00MTljLWI1Y2YtMmU2YjRlNmMxYTlm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7918</TotalTime>
  <Words>1536</Words>
  <Application>Microsoft Macintosh PowerPoint</Application>
  <PresentationFormat>Widescreen</PresentationFormat>
  <Paragraphs>165</Paragraphs>
  <Slides>27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Simple Light</vt:lpstr>
      <vt:lpstr>ML Formulation and Baselines</vt:lpstr>
      <vt:lpstr>Things to remember</vt:lpstr>
      <vt:lpstr>Turning the project goals/scope into an ML problem</vt:lpstr>
      <vt:lpstr>CASE STUDY</vt:lpstr>
      <vt:lpstr>Formulation Decisions</vt:lpstr>
      <vt:lpstr>PowerPoint Presentation</vt:lpstr>
      <vt:lpstr>Analytical Formulation</vt:lpstr>
      <vt:lpstr>Decisions we need to make</vt:lpstr>
      <vt:lpstr>Decisions we need to make: analytical approach</vt:lpstr>
      <vt:lpstr>Decisions we need to make</vt:lpstr>
      <vt:lpstr>Decisions we need to make: cohort definition</vt:lpstr>
      <vt:lpstr>Decisions we need to make</vt:lpstr>
      <vt:lpstr>Structuring the Analytical Formulation</vt:lpstr>
      <vt:lpstr>Structuring the Analytical Formulation</vt:lpstr>
      <vt:lpstr>Analytical Formulation Examples</vt:lpstr>
      <vt:lpstr>Analytical Formulation Examples</vt:lpstr>
      <vt:lpstr>Analytical Formulation</vt:lpstr>
      <vt:lpstr>Analytical Formulation</vt:lpstr>
      <vt:lpstr>Analytical Formulation</vt:lpstr>
      <vt:lpstr>Analytical Formulation</vt:lpstr>
      <vt:lpstr>Analytical Formulation - Top level</vt:lpstr>
      <vt:lpstr>Baselines</vt:lpstr>
      <vt:lpstr>Baseline Options</vt:lpstr>
      <vt:lpstr>For the Netflix example, what would be a reasonable baseline method that doesn't require using any ML?</vt:lpstr>
      <vt:lpstr>PowerPoint Presentation</vt:lpstr>
      <vt:lpstr>Baseline Considerations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50</cp:revision>
  <dcterms:created xsi:type="dcterms:W3CDTF">2020-01-14T19:43:43Z</dcterms:created>
  <dcterms:modified xsi:type="dcterms:W3CDTF">2025-09-15T19:21:44Z</dcterms:modified>
</cp:coreProperties>
</file>