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504" r:id="rId3"/>
    <p:sldId id="505" r:id="rId4"/>
    <p:sldId id="323" r:id="rId5"/>
    <p:sldId id="526" r:id="rId6"/>
    <p:sldId id="512" r:id="rId7"/>
    <p:sldId id="520" r:id="rId8"/>
    <p:sldId id="511" r:id="rId9"/>
    <p:sldId id="287" r:id="rId10"/>
    <p:sldId id="521" r:id="rId11"/>
    <p:sldId id="463" r:id="rId12"/>
    <p:sldId id="464" r:id="rId13"/>
    <p:sldId id="518" r:id="rId14"/>
    <p:sldId id="519" r:id="rId15"/>
    <p:sldId id="284" r:id="rId16"/>
    <p:sldId id="474" r:id="rId17"/>
    <p:sldId id="475" r:id="rId18"/>
    <p:sldId id="476" r:id="rId19"/>
    <p:sldId id="477" r:id="rId20"/>
    <p:sldId id="478" r:id="rId21"/>
    <p:sldId id="486" r:id="rId22"/>
    <p:sldId id="484" r:id="rId23"/>
    <p:sldId id="488" r:id="rId24"/>
    <p:sldId id="489" r:id="rId25"/>
    <p:sldId id="490" r:id="rId26"/>
    <p:sldId id="491" r:id="rId27"/>
    <p:sldId id="492" r:id="rId28"/>
    <p:sldId id="493" r:id="rId29"/>
    <p:sldId id="494" r:id="rId30"/>
    <p:sldId id="495" r:id="rId31"/>
    <p:sldId id="522" r:id="rId32"/>
    <p:sldId id="524" r:id="rId33"/>
    <p:sldId id="523" r:id="rId34"/>
    <p:sldId id="487" r:id="rId35"/>
    <p:sldId id="496" r:id="rId36"/>
    <p:sldId id="514" r:id="rId37"/>
    <p:sldId id="517" r:id="rId38"/>
    <p:sldId id="525" r:id="rId3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63" roundtripDataSignature="AMtx7mjFyVUGRZWio+dc9dxzYsimUxN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0002"/>
    <a:srgbClr val="595959"/>
    <a:srgbClr val="800002"/>
    <a:srgbClr val="0B5394"/>
    <a:srgbClr val="6D9E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80"/>
    <p:restoredTop sz="93151"/>
  </p:normalViewPr>
  <p:slideViewPr>
    <p:cSldViewPr snapToGrid="0" snapToObjects="1">
      <p:cViewPr varScale="1">
        <p:scale>
          <a:sx n="118" d="100"/>
          <a:sy n="118" d="100"/>
        </p:scale>
        <p:origin x="7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63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6cb360dd4a_1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6cb360dd4a_1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52037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6cb360dd4a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6cb360dd4a_1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2418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6cb360dd4a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6cb360dd4a_1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75102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60768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6cb360dd4a_1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6cb360dd4a_1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3146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6cb360dd4a_1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6cb360dd4a_1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9926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3181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09258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55741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7266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270499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27536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970213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50075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498406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707346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497581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291960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cb360dd4a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cb360dd4a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42926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297707" y="1353807"/>
            <a:ext cx="11666400" cy="49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0696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2F2F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971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dad9273e7_0_53"/>
          <p:cNvSpPr txBox="1">
            <a:spLocks noGrp="1"/>
          </p:cNvSpPr>
          <p:nvPr>
            <p:ph type="body" idx="1"/>
          </p:nvPr>
        </p:nvSpPr>
        <p:spPr>
          <a:xfrm>
            <a:off x="268210" y="1588503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64" name="Google Shape;64;g6dad9273e7_0_53"/>
          <p:cNvSpPr txBox="1"/>
          <p:nvPr/>
        </p:nvSpPr>
        <p:spPr>
          <a:xfrm>
            <a:off x="5410" y="11929"/>
            <a:ext cx="12192000" cy="1353806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58E15-DEBE-0941-A587-4DF3467F6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58" y="418466"/>
            <a:ext cx="11360700" cy="763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439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70" r:id="rId5"/>
    <p:sldLayoutId id="2147483671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dssg/triage/blob/master/example/colab/colab_triage.ipynb#scrollTo=KFingR1B32rm" TargetMode="External"/><Relationship Id="rId2" Type="http://schemas.openxmlformats.org/officeDocument/2006/relationships/hyperlink" Target="https://github.com/dssg/triage/blob/master/src/triage/component/audition/Audition_Tutorial.ipynb" TargetMode="Externa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0" y="1014225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chemeClr val="dk1"/>
                </a:solidFill>
              </a:rPr>
              <a:t>Model Selection Part III</a:t>
            </a:r>
            <a:endParaRPr sz="3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595959"/>
                </a:solidFill>
              </a:rPr>
              <a:t>Rayid Ghani</a:t>
            </a:r>
            <a:endParaRPr sz="2800" dirty="0">
              <a:solidFill>
                <a:srgbClr val="595959"/>
              </a:solidFill>
            </a:endParaRPr>
          </a:p>
        </p:txBody>
      </p:sp>
      <p:pic>
        <p:nvPicPr>
          <p:cNvPr id="71" name="Google Shape;7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/>
              <a:t>Coming up next week:</a:t>
            </a:r>
          </a:p>
          <a:p>
            <a:r>
              <a:rPr lang="en-US" dirty="0"/>
              <a:t>Monday: Update 6: ML Results over time</a:t>
            </a:r>
          </a:p>
          <a:p>
            <a:r>
              <a:rPr lang="en-US" dirty="0"/>
              <a:t>Tuesday: Feedback Form</a:t>
            </a:r>
          </a:p>
        </p:txBody>
      </p:sp>
    </p:spTree>
    <p:extLst>
      <p:ext uri="{BB962C8B-B14F-4D97-AF65-F5344CB8AC3E}">
        <p14:creationId xmlns:p14="http://schemas.microsoft.com/office/powerpoint/2010/main" val="2066178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B702-ED77-884E-88F7-92D73313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the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1BAD4-F7FB-1D48-9D37-2273592A7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you should be discussing this week within your team</a:t>
            </a:r>
          </a:p>
          <a:p>
            <a:pPr lvl="1"/>
            <a:r>
              <a:rPr lang="en-US" dirty="0"/>
              <a:t>Modifying your configuration file for more extensive model runs</a:t>
            </a:r>
          </a:p>
          <a:p>
            <a:pPr lvl="1"/>
            <a:r>
              <a:rPr lang="en-US" dirty="0"/>
              <a:t>Plans for model selection</a:t>
            </a:r>
          </a:p>
          <a:p>
            <a:pPr lvl="1"/>
            <a:endParaRPr lang="en-US" dirty="0"/>
          </a:p>
          <a:p>
            <a:r>
              <a:rPr lang="en-US" dirty="0"/>
              <a:t>What you should be building this week</a:t>
            </a:r>
          </a:p>
          <a:p>
            <a:pPr lvl="1"/>
            <a:r>
              <a:rPr lang="en-US" dirty="0"/>
              <a:t>Additional features</a:t>
            </a:r>
          </a:p>
          <a:p>
            <a:pPr lvl="1"/>
            <a:r>
              <a:rPr lang="en-US" dirty="0"/>
              <a:t>Larger model run with a more extensive model + hyperparameter grid</a:t>
            </a:r>
          </a:p>
        </p:txBody>
      </p:sp>
    </p:spTree>
    <p:extLst>
      <p:ext uri="{BB962C8B-B14F-4D97-AF65-F5344CB8AC3E}">
        <p14:creationId xmlns:p14="http://schemas.microsoft.com/office/powerpoint/2010/main" val="3631443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/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9553197" y="2534144"/>
            <a:ext cx="2534195" cy="178961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44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BCE6B-4C91-0887-9164-320C54F31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Cohort and label</a:t>
            </a:r>
          </a:p>
          <a:p>
            <a:pPr>
              <a:buFontTx/>
              <a:buChar char="-"/>
            </a:pPr>
            <a:r>
              <a:rPr lang="en-US" dirty="0"/>
              <a:t>Features</a:t>
            </a:r>
          </a:p>
          <a:p>
            <a:pPr>
              <a:buFontTx/>
              <a:buChar char="-"/>
            </a:pPr>
            <a:r>
              <a:rPr lang="en-US" dirty="0"/>
              <a:t>Temporal splits</a:t>
            </a:r>
          </a:p>
          <a:p>
            <a:pPr>
              <a:buFontTx/>
              <a:buChar char="-"/>
            </a:pPr>
            <a:r>
              <a:rPr lang="en-US" dirty="0"/>
              <a:t>Models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4DCC6-BB6C-325D-3B3D-F28E01B3A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F2F74B-CF60-E84F-635F-BD5DE0A54B0C}"/>
              </a:ext>
            </a:extLst>
          </p:cNvPr>
          <p:cNvSpPr/>
          <p:nvPr/>
        </p:nvSpPr>
        <p:spPr>
          <a:xfrm>
            <a:off x="7609115" y="1353807"/>
            <a:ext cx="2111828" cy="8055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Training 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19A1EE-1186-0079-DB2D-C4B15FCFD26A}"/>
              </a:ext>
            </a:extLst>
          </p:cNvPr>
          <p:cNvSpPr/>
          <p:nvPr/>
        </p:nvSpPr>
        <p:spPr>
          <a:xfrm>
            <a:off x="9982201" y="1353807"/>
            <a:ext cx="1676400" cy="80554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Validation Set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AB26FD-A475-E8AA-10B0-0DBBA3101EDF}"/>
              </a:ext>
            </a:extLst>
          </p:cNvPr>
          <p:cNvSpPr/>
          <p:nvPr/>
        </p:nvSpPr>
        <p:spPr>
          <a:xfrm>
            <a:off x="7609115" y="2315729"/>
            <a:ext cx="2111828" cy="8055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Training Set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4B6BBC-4BA6-15DD-DD60-0CE5B9612663}"/>
              </a:ext>
            </a:extLst>
          </p:cNvPr>
          <p:cNvSpPr/>
          <p:nvPr/>
        </p:nvSpPr>
        <p:spPr>
          <a:xfrm>
            <a:off x="9982201" y="2315729"/>
            <a:ext cx="1676400" cy="80554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Validation Set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34EE71-6AC0-874F-6325-272A983488CB}"/>
              </a:ext>
            </a:extLst>
          </p:cNvPr>
          <p:cNvSpPr/>
          <p:nvPr/>
        </p:nvSpPr>
        <p:spPr>
          <a:xfrm>
            <a:off x="7609115" y="3394593"/>
            <a:ext cx="2111828" cy="8055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Training Set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23C0AB-44AD-1054-BCE7-255405B42537}"/>
              </a:ext>
            </a:extLst>
          </p:cNvPr>
          <p:cNvSpPr/>
          <p:nvPr/>
        </p:nvSpPr>
        <p:spPr>
          <a:xfrm>
            <a:off x="9982201" y="3394593"/>
            <a:ext cx="1676400" cy="80554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Validation Set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98A609-018D-F4C1-36F6-811ED2D239CD}"/>
              </a:ext>
            </a:extLst>
          </p:cNvPr>
          <p:cNvSpPr/>
          <p:nvPr/>
        </p:nvSpPr>
        <p:spPr>
          <a:xfrm>
            <a:off x="7609115" y="4473457"/>
            <a:ext cx="2111828" cy="8055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Training Set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EA9797-07EA-7ABC-5D52-14E8A10D0768}"/>
              </a:ext>
            </a:extLst>
          </p:cNvPr>
          <p:cNvSpPr/>
          <p:nvPr/>
        </p:nvSpPr>
        <p:spPr>
          <a:xfrm>
            <a:off x="9982201" y="4473457"/>
            <a:ext cx="1676400" cy="80554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Validation Set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F99B1A-DA21-D1A2-71A2-C7670949103A}"/>
              </a:ext>
            </a:extLst>
          </p:cNvPr>
          <p:cNvSpPr/>
          <p:nvPr/>
        </p:nvSpPr>
        <p:spPr>
          <a:xfrm>
            <a:off x="7609115" y="5519663"/>
            <a:ext cx="2111828" cy="8055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Training Set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AE4AA4-87FF-2BE0-244D-F33E917680C5}"/>
              </a:ext>
            </a:extLst>
          </p:cNvPr>
          <p:cNvSpPr/>
          <p:nvPr/>
        </p:nvSpPr>
        <p:spPr>
          <a:xfrm>
            <a:off x="9982201" y="5519663"/>
            <a:ext cx="1676400" cy="80554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Validation Set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31113C-CFA1-BFD8-AD17-67F8582172E9}"/>
              </a:ext>
            </a:extLst>
          </p:cNvPr>
          <p:cNvSpPr/>
          <p:nvPr/>
        </p:nvSpPr>
        <p:spPr>
          <a:xfrm>
            <a:off x="4019079" y="1860765"/>
            <a:ext cx="1021007" cy="80554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75F9D7F-DA6B-7E2F-EFFF-82B92BA3B373}"/>
              </a:ext>
            </a:extLst>
          </p:cNvPr>
          <p:cNvSpPr/>
          <p:nvPr/>
        </p:nvSpPr>
        <p:spPr>
          <a:xfrm>
            <a:off x="5347697" y="1316479"/>
            <a:ext cx="1566420" cy="544286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Hyperparameters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D3230B1-887F-05FC-5348-969D64DFFA41}"/>
              </a:ext>
            </a:extLst>
          </p:cNvPr>
          <p:cNvSpPr/>
          <p:nvPr/>
        </p:nvSpPr>
        <p:spPr>
          <a:xfrm>
            <a:off x="5347697" y="1905674"/>
            <a:ext cx="1566420" cy="54428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Hyperparameters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65FD8D6-9B08-2655-FC1D-BD55AFDEB00D}"/>
              </a:ext>
            </a:extLst>
          </p:cNvPr>
          <p:cNvSpPr/>
          <p:nvPr/>
        </p:nvSpPr>
        <p:spPr>
          <a:xfrm>
            <a:off x="5337920" y="2506429"/>
            <a:ext cx="1566420" cy="54428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Hyperparameters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1E51F35-949E-3ABB-9585-41EA6C44677A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 flipV="1">
            <a:off x="5040086" y="1588622"/>
            <a:ext cx="307611" cy="6749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7ECCBC0-C66D-09C1-FD55-12DEEE9BC7C8}"/>
              </a:ext>
            </a:extLst>
          </p:cNvPr>
          <p:cNvCxnSpPr>
            <a:cxnSpLocks/>
            <a:stCxn id="29" idx="3"/>
            <a:endCxn id="45" idx="1"/>
          </p:cNvCxnSpPr>
          <p:nvPr/>
        </p:nvCxnSpPr>
        <p:spPr>
          <a:xfrm flipV="1">
            <a:off x="5040086" y="2177817"/>
            <a:ext cx="307611" cy="8572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E42A470-C994-F4AD-F8D0-3FB1A6B3E27C}"/>
              </a:ext>
            </a:extLst>
          </p:cNvPr>
          <p:cNvCxnSpPr>
            <a:cxnSpLocks/>
            <a:stCxn id="29" idx="3"/>
            <a:endCxn id="46" idx="1"/>
          </p:cNvCxnSpPr>
          <p:nvPr/>
        </p:nvCxnSpPr>
        <p:spPr>
          <a:xfrm>
            <a:off x="5040086" y="2263537"/>
            <a:ext cx="297834" cy="51503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5067D11F-5273-B267-A12A-0BACFBB62459}"/>
              </a:ext>
            </a:extLst>
          </p:cNvPr>
          <p:cNvSpPr/>
          <p:nvPr/>
        </p:nvSpPr>
        <p:spPr>
          <a:xfrm>
            <a:off x="3984172" y="3755817"/>
            <a:ext cx="1021007" cy="80554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A873345-3F0D-4AE9-66D1-83EEA24C3B35}"/>
              </a:ext>
            </a:extLst>
          </p:cNvPr>
          <p:cNvSpPr/>
          <p:nvPr/>
        </p:nvSpPr>
        <p:spPr>
          <a:xfrm>
            <a:off x="5312790" y="3211531"/>
            <a:ext cx="1566420" cy="544286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Hyperparameters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493C5F-162F-3DF5-A925-EEA96AA1C4B6}"/>
              </a:ext>
            </a:extLst>
          </p:cNvPr>
          <p:cNvSpPr/>
          <p:nvPr/>
        </p:nvSpPr>
        <p:spPr>
          <a:xfrm>
            <a:off x="5312790" y="3800726"/>
            <a:ext cx="1566420" cy="54428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Hyperparameters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39B6411-C210-5D35-A0B6-12BCA4FE577B}"/>
              </a:ext>
            </a:extLst>
          </p:cNvPr>
          <p:cNvSpPr/>
          <p:nvPr/>
        </p:nvSpPr>
        <p:spPr>
          <a:xfrm>
            <a:off x="5303013" y="4401481"/>
            <a:ext cx="1566420" cy="54428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Hyperparameters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665123C-4C5A-D8A0-6148-2D0E1D7E74D9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 flipV="1">
            <a:off x="5005179" y="3483674"/>
            <a:ext cx="307611" cy="6749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C2A1B80-1A96-1D64-2192-263757B7CAC5}"/>
              </a:ext>
            </a:extLst>
          </p:cNvPr>
          <p:cNvCxnSpPr>
            <a:cxnSpLocks/>
            <a:stCxn id="55" idx="3"/>
            <a:endCxn id="57" idx="1"/>
          </p:cNvCxnSpPr>
          <p:nvPr/>
        </p:nvCxnSpPr>
        <p:spPr>
          <a:xfrm flipV="1">
            <a:off x="5005179" y="4072869"/>
            <a:ext cx="307611" cy="8572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8607668-CC87-E29C-7BDF-0A3878DCF09E}"/>
              </a:ext>
            </a:extLst>
          </p:cNvPr>
          <p:cNvCxnSpPr>
            <a:cxnSpLocks/>
            <a:stCxn id="55" idx="3"/>
            <a:endCxn id="58" idx="1"/>
          </p:cNvCxnSpPr>
          <p:nvPr/>
        </p:nvCxnSpPr>
        <p:spPr>
          <a:xfrm>
            <a:off x="5005179" y="4158589"/>
            <a:ext cx="297834" cy="51503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067057BE-78D7-9192-4685-99FB2C654743}"/>
              </a:ext>
            </a:extLst>
          </p:cNvPr>
          <p:cNvSpPr/>
          <p:nvPr/>
        </p:nvSpPr>
        <p:spPr>
          <a:xfrm>
            <a:off x="3974395" y="5637603"/>
            <a:ext cx="1021007" cy="80554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8E25E30-7226-C5D6-E2D1-E2C7797C7013}"/>
              </a:ext>
            </a:extLst>
          </p:cNvPr>
          <p:cNvSpPr/>
          <p:nvPr/>
        </p:nvSpPr>
        <p:spPr>
          <a:xfrm>
            <a:off x="5303013" y="5093317"/>
            <a:ext cx="1566420" cy="544286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Hyperparameters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1E860E8-D84F-25DE-835D-7BA462492F4D}"/>
              </a:ext>
            </a:extLst>
          </p:cNvPr>
          <p:cNvSpPr/>
          <p:nvPr/>
        </p:nvSpPr>
        <p:spPr>
          <a:xfrm>
            <a:off x="5303013" y="5682512"/>
            <a:ext cx="1566420" cy="54428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Hyperparameters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E3E5D52-2C8F-B28C-22A9-C309C1B8A326}"/>
              </a:ext>
            </a:extLst>
          </p:cNvPr>
          <p:cNvSpPr/>
          <p:nvPr/>
        </p:nvSpPr>
        <p:spPr>
          <a:xfrm>
            <a:off x="5293236" y="6283267"/>
            <a:ext cx="1566420" cy="54428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Hyperparameters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AE8B609-6EEB-91CB-7A2E-07ECC71FC812}"/>
              </a:ext>
            </a:extLst>
          </p:cNvPr>
          <p:cNvCxnSpPr>
            <a:stCxn id="62" idx="3"/>
            <a:endCxn id="63" idx="1"/>
          </p:cNvCxnSpPr>
          <p:nvPr/>
        </p:nvCxnSpPr>
        <p:spPr>
          <a:xfrm flipV="1">
            <a:off x="4995402" y="5365460"/>
            <a:ext cx="307611" cy="6749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90B8345-C49A-093F-4574-33282B900B6C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 flipV="1">
            <a:off x="4995402" y="5954655"/>
            <a:ext cx="307611" cy="8572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AB79FCC-B05E-7938-7C50-0143D520F527}"/>
              </a:ext>
            </a:extLst>
          </p:cNvPr>
          <p:cNvCxnSpPr>
            <a:cxnSpLocks/>
            <a:stCxn id="62" idx="3"/>
            <a:endCxn id="65" idx="1"/>
          </p:cNvCxnSpPr>
          <p:nvPr/>
        </p:nvCxnSpPr>
        <p:spPr>
          <a:xfrm>
            <a:off x="4995402" y="6040375"/>
            <a:ext cx="297834" cy="51503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762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to do model selection?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You’ve run a large number of different types of models varying …</a:t>
            </a:r>
          </a:p>
          <a:p>
            <a:endParaRPr lang="en-US" sz="2800" dirty="0"/>
          </a:p>
          <a:p>
            <a:r>
              <a:rPr lang="en-US" sz="2800" dirty="0"/>
              <a:t>You need to understand what types of models are effective under what circumstances, </a:t>
            </a:r>
            <a:r>
              <a:rPr lang="en-US" sz="2800" b="1" dirty="0"/>
              <a:t>and</a:t>
            </a:r>
          </a:p>
          <a:p>
            <a:endParaRPr lang="en-US" sz="2800" b="1" dirty="0"/>
          </a:p>
          <a:p>
            <a:r>
              <a:rPr lang="en-US" sz="2800" dirty="0"/>
              <a:t>You need to decide which one(s) to use in the </a:t>
            </a:r>
            <a:r>
              <a:rPr lang="en-US" sz="2800" b="1" dirty="0"/>
              <a:t>future</a:t>
            </a:r>
          </a:p>
        </p:txBody>
      </p:sp>
    </p:spTree>
    <p:extLst>
      <p:ext uri="{BB962C8B-B14F-4D97-AF65-F5344CB8AC3E}">
        <p14:creationId xmlns:p14="http://schemas.microsoft.com/office/powerpoint/2010/main" val="1343721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sz="4400" dirty="0"/>
              <a:t>What is the output from your model selection process?</a:t>
            </a:r>
          </a:p>
        </p:txBody>
      </p:sp>
    </p:spTree>
    <p:extLst>
      <p:ext uri="{BB962C8B-B14F-4D97-AF65-F5344CB8AC3E}">
        <p14:creationId xmlns:p14="http://schemas.microsoft.com/office/powerpoint/2010/main" val="4245102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The PR-k graph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435740" y="1562635"/>
            <a:ext cx="7320520" cy="4944871"/>
            <a:chOff x="616981" y="1325057"/>
            <a:chExt cx="7320520" cy="494487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6981" y="1325057"/>
              <a:ext cx="7320520" cy="4944871"/>
            </a:xfrm>
            <a:prstGeom prst="rect">
              <a:avLst/>
            </a:prstGeom>
          </p:spPr>
        </p:pic>
        <p:sp>
          <p:nvSpPr>
            <p:cNvPr id="2" name="Rectangle 1"/>
            <p:cNvSpPr/>
            <p:nvPr/>
          </p:nvSpPr>
          <p:spPr>
            <a:xfrm>
              <a:off x="4064000" y="1409700"/>
              <a:ext cx="342900" cy="2794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>
                <a:buClrTx/>
              </a:pPr>
              <a:endParaRPr lang="en-US" sz="1800" kern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0148AF-CA57-0541-9177-560EC8D36156}"/>
              </a:ext>
            </a:extLst>
          </p:cNvPr>
          <p:cNvGrpSpPr/>
          <p:nvPr/>
        </p:nvGrpSpPr>
        <p:grpSpPr>
          <a:xfrm>
            <a:off x="3018798" y="1150982"/>
            <a:ext cx="6607802" cy="882961"/>
            <a:chOff x="1494798" y="1150981"/>
            <a:chExt cx="6607802" cy="882961"/>
          </a:xfrm>
        </p:grpSpPr>
        <p:sp>
          <p:nvSpPr>
            <p:cNvPr id="6" name="TextBox 5"/>
            <p:cNvSpPr txBox="1"/>
            <p:nvPr/>
          </p:nvSpPr>
          <p:spPr>
            <a:xfrm>
              <a:off x="1494798" y="1387611"/>
              <a:ext cx="66078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>
                <a:buClrTx/>
              </a:pPr>
              <a:r>
                <a:rPr lang="en-US" sz="1800" b="1" kern="1200" dirty="0">
                  <a:solidFill>
                    <a:srgbClr val="C0504D">
                      <a:lumMod val="75000"/>
                    </a:srgbClr>
                  </a:solidFill>
                  <a:latin typeface="Calibri"/>
                  <a:ea typeface="+mn-ea"/>
                  <a:cs typeface="+mn-cs"/>
                </a:rPr>
                <a:t>1         .9     .8                .7        .6            .5    .4  .3.                  .2     .1 </a:t>
              </a:r>
            </a:p>
            <a:p>
              <a:pPr defTabSz="457200">
                <a:buClrTx/>
              </a:pPr>
              <a:r>
                <a:rPr lang="en-US" sz="1050" b="1" kern="1200" dirty="0">
                  <a:solidFill>
                    <a:srgbClr val="C0504D">
                      <a:lumMod val="75000"/>
                    </a:srgbClr>
                  </a:solidFill>
                  <a:latin typeface="Calibri"/>
                  <a:ea typeface="+mn-ea"/>
                  <a:cs typeface="+mn-cs"/>
                </a:rPr>
                <a:t> |                  |             |                               |                  |                        |           |        |                                    |            |</a:t>
              </a:r>
              <a:r>
                <a:rPr lang="en-US" sz="1800" b="1" kern="1200" dirty="0">
                  <a:solidFill>
                    <a:srgbClr val="C0504D">
                      <a:lumMod val="75000"/>
                    </a:srgbClr>
                  </a:solidFill>
                  <a:latin typeface="Calibri"/>
                  <a:ea typeface="+mn-ea"/>
                  <a:cs typeface="+mn-cs"/>
                </a:rPr>
                <a:t>   </a:t>
              </a:r>
              <a:r>
                <a:rPr lang="en-US" sz="1800" kern="1200" dirty="0">
                  <a:solidFill>
                    <a:srgbClr val="EEECE1">
                      <a:lumMod val="25000"/>
                    </a:srgbClr>
                  </a:solidFill>
                  <a:latin typeface="Calibri"/>
                  <a:ea typeface="+mn-ea"/>
                  <a:cs typeface="+mn-cs"/>
                </a:rPr>
                <a:t>     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A4ED1E-FBFF-4545-BB64-FFD28CAC8A4B}"/>
                </a:ext>
              </a:extLst>
            </p:cNvPr>
            <p:cNvSpPr txBox="1"/>
            <p:nvPr/>
          </p:nvSpPr>
          <p:spPr>
            <a:xfrm>
              <a:off x="4097994" y="1150981"/>
              <a:ext cx="7007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>
                <a:buClrTx/>
              </a:pPr>
              <a:r>
                <a:rPr lang="en-US" sz="1800" b="1" kern="1200" dirty="0">
                  <a:solidFill>
                    <a:srgbClr val="C00000"/>
                  </a:solidFill>
                  <a:latin typeface="Calibri"/>
                  <a:ea typeface="+mn-ea"/>
                  <a:cs typeface="+mn-cs"/>
                </a:rPr>
                <a:t>Score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9BF13E-AE77-6A46-B2C2-E1985346BF6A}"/>
              </a:ext>
            </a:extLst>
          </p:cNvPr>
          <p:cNvGrpSpPr/>
          <p:nvPr/>
        </p:nvGrpSpPr>
        <p:grpSpPr>
          <a:xfrm>
            <a:off x="1836283" y="5550212"/>
            <a:ext cx="7221578" cy="369332"/>
            <a:chOff x="312283" y="5550212"/>
            <a:chExt cx="7221578" cy="36933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1561906-EEC1-6046-905E-0E55B1D4B60D}"/>
                </a:ext>
              </a:extLst>
            </p:cNvPr>
            <p:cNvCxnSpPr/>
            <p:nvPr/>
          </p:nvCxnSpPr>
          <p:spPr>
            <a:xfrm flipH="1">
              <a:off x="1649896" y="5734878"/>
              <a:ext cx="5883965" cy="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9F59512-F15A-1445-8C8B-BFD99D51B252}"/>
                </a:ext>
              </a:extLst>
            </p:cNvPr>
            <p:cNvSpPr txBox="1"/>
            <p:nvPr/>
          </p:nvSpPr>
          <p:spPr>
            <a:xfrm>
              <a:off x="312283" y="5550212"/>
              <a:ext cx="9861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>
                <a:buClrTx/>
              </a:pPr>
              <a:r>
                <a:rPr lang="en-US" sz="1800" b="1" kern="1200" dirty="0">
                  <a:solidFill>
                    <a:srgbClr val="C00000"/>
                  </a:solidFill>
                  <a:latin typeface="Calibri"/>
                  <a:ea typeface="+mn-ea"/>
                  <a:cs typeface="+mn-cs"/>
                </a:rPr>
                <a:t>Baseline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9A4A58B-B356-1E41-A6F4-EEF6E44A9AD1}"/>
                </a:ext>
              </a:extLst>
            </p:cNvPr>
            <p:cNvCxnSpPr>
              <a:stCxn id="12" idx="3"/>
            </p:cNvCxnSpPr>
            <p:nvPr/>
          </p:nvCxnSpPr>
          <p:spPr>
            <a:xfrm>
              <a:off x="1298450" y="5734878"/>
              <a:ext cx="281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6669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Temporal Validation</a:t>
            </a:r>
          </a:p>
        </p:txBody>
      </p:sp>
      <p:pic>
        <p:nvPicPr>
          <p:cNvPr id="1026" name="Picture 2" descr="Time splitting config">
            <a:extLst>
              <a:ext uri="{FF2B5EF4-FFF2-40B4-BE49-F238E27FC236}">
                <a16:creationId xmlns:a16="http://schemas.microsoft.com/office/drawing/2014/main" id="{5AA5C783-A9B7-0249-A143-6AED2AAF2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25650"/>
            <a:ext cx="12192000" cy="280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3448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sz="4400" dirty="0"/>
              <a:t>Questions about model selection metrics and validation strategies?</a:t>
            </a:r>
          </a:p>
        </p:txBody>
      </p:sp>
    </p:spTree>
    <p:extLst>
      <p:ext uri="{BB962C8B-B14F-4D97-AF65-F5344CB8AC3E}">
        <p14:creationId xmlns:p14="http://schemas.microsoft.com/office/powerpoint/2010/main" val="2937345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wonderful for loop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For train-test splits (CV or temporal)</a:t>
            </a:r>
          </a:p>
          <a:p>
            <a:pPr lvl="1"/>
            <a:r>
              <a:rPr lang="en-US" dirty="0"/>
              <a:t>For subsets of Feature Sets (Demographic only, Behavior only, Temporal only, etc.)</a:t>
            </a:r>
          </a:p>
          <a:p>
            <a:pPr lvl="2"/>
            <a:r>
              <a:rPr lang="en-US" sz="2800" dirty="0"/>
              <a:t>For Classifiers (RFC, SVM, DT, NN, </a:t>
            </a:r>
            <a:r>
              <a:rPr lang="en-US" sz="2800" dirty="0" err="1"/>
              <a:t>Logit</a:t>
            </a:r>
            <a:r>
              <a:rPr lang="en-US" sz="2800" dirty="0"/>
              <a:t>, GB, Boosting)</a:t>
            </a:r>
          </a:p>
          <a:p>
            <a:pPr lvl="3"/>
            <a:r>
              <a:rPr lang="en-US" sz="2800" dirty="0"/>
              <a:t>For parameters (cross products of different parameters)</a:t>
            </a:r>
          </a:p>
          <a:p>
            <a:pPr lvl="4"/>
            <a:r>
              <a:rPr lang="en-US" sz="2800" dirty="0"/>
              <a:t>Fit</a:t>
            </a:r>
          </a:p>
          <a:p>
            <a:pPr lvl="4"/>
            <a:r>
              <a:rPr lang="en-US" sz="2800" dirty="0"/>
              <a:t>Predict</a:t>
            </a:r>
          </a:p>
          <a:p>
            <a:pPr lvl="4"/>
            <a:r>
              <a:rPr lang="en-US" sz="2800" dirty="0"/>
              <a:t>Evaluate</a:t>
            </a:r>
          </a:p>
        </p:txBody>
      </p:sp>
    </p:spTree>
    <p:extLst>
      <p:ext uri="{BB962C8B-B14F-4D97-AF65-F5344CB8AC3E}">
        <p14:creationId xmlns:p14="http://schemas.microsoft.com/office/powerpoint/2010/main" val="531683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1428096" y="1655352"/>
          <a:ext cx="9684551" cy="45640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6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6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1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2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9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12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0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19476">
                <a:tc>
                  <a:txBody>
                    <a:bodyPr/>
                    <a:lstStyle/>
                    <a:p>
                      <a:r>
                        <a:rPr lang="en-US" dirty="0"/>
                        <a:t>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Param</a:t>
                      </a:r>
                      <a:r>
                        <a:rPr lang="en-US" baseline="0" dirty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</a:t>
                      </a:r>
                      <a:r>
                        <a:rPr lang="en-US" baseline="0" dirty="0"/>
                        <a:t> Split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Feature Subsets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Prec</a:t>
                      </a:r>
                      <a:r>
                        <a:rPr lang="en-US" dirty="0"/>
                        <a:t> @ 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5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5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5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5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5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45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45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45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45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4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520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the 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884D03-6A41-D04E-9DF0-C24B1C779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50134"/>
            <a:ext cx="5515643" cy="4555200"/>
          </a:xfrm>
        </p:spPr>
        <p:txBody>
          <a:bodyPr/>
          <a:lstStyle/>
          <a:p>
            <a:pPr marL="76200" indent="0">
              <a:buNone/>
            </a:pPr>
            <a:r>
              <a:rPr lang="en-US" sz="3200" b="1" dirty="0">
                <a:solidFill>
                  <a:srgbClr val="A62A21"/>
                </a:solidFill>
              </a:rPr>
              <a:t>K Fold CV</a:t>
            </a:r>
            <a:br>
              <a:rPr lang="en-US" dirty="0"/>
            </a:b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sz="8000" dirty="0"/>
              <a:t>		 ?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8686A0C-C497-6D4E-80B3-4E0F27B35374}"/>
              </a:ext>
            </a:extLst>
          </p:cNvPr>
          <p:cNvSpPr txBox="1">
            <a:spLocks/>
          </p:cNvSpPr>
          <p:nvPr/>
        </p:nvSpPr>
        <p:spPr>
          <a:xfrm>
            <a:off x="6260759" y="1450134"/>
            <a:ext cx="5515643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indent="0">
              <a:buFont typeface="Arial"/>
              <a:buNone/>
            </a:pPr>
            <a:r>
              <a:rPr lang="en-US" sz="3200" b="1" dirty="0">
                <a:solidFill>
                  <a:srgbClr val="A62A21"/>
                </a:solidFill>
              </a:rPr>
              <a:t>Temporal</a:t>
            </a:r>
            <a:br>
              <a:rPr lang="en-US" dirty="0"/>
            </a:br>
            <a:endParaRPr lang="en-US" dirty="0"/>
          </a:p>
          <a:p>
            <a:pPr marL="76200" indent="0">
              <a:buFont typeface="Arial"/>
              <a:buNone/>
            </a:pPr>
            <a:endParaRPr lang="en-US" dirty="0"/>
          </a:p>
          <a:p>
            <a:pPr marL="76200" indent="0">
              <a:buNone/>
            </a:pPr>
            <a:r>
              <a:rPr lang="en-US" sz="8000" dirty="0"/>
              <a:t>			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398BD9-3FCB-6244-9B60-4A8045D867B8}"/>
              </a:ext>
            </a:extLst>
          </p:cNvPr>
          <p:cNvCxnSpPr/>
          <p:nvPr/>
        </p:nvCxnSpPr>
        <p:spPr>
          <a:xfrm>
            <a:off x="5696465" y="1536633"/>
            <a:ext cx="0" cy="4802383"/>
          </a:xfrm>
          <a:prstGeom prst="line">
            <a:avLst/>
          </a:prstGeom>
          <a:ln w="19050">
            <a:solidFill>
              <a:srgbClr val="811E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97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the 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884D03-6A41-D04E-9DF0-C24B1C779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50134"/>
            <a:ext cx="5515643" cy="4555200"/>
          </a:xfrm>
        </p:spPr>
        <p:txBody>
          <a:bodyPr/>
          <a:lstStyle/>
          <a:p>
            <a:pPr marL="76200" indent="0">
              <a:buNone/>
            </a:pPr>
            <a:r>
              <a:rPr lang="en-US" sz="3200" b="1" dirty="0">
                <a:solidFill>
                  <a:srgbClr val="A62A21"/>
                </a:solidFill>
              </a:rPr>
              <a:t>K Fold CV</a:t>
            </a:r>
            <a:br>
              <a:rPr lang="en-US" dirty="0"/>
            </a:br>
            <a:endParaRPr lang="en-US" dirty="0"/>
          </a:p>
          <a:p>
            <a:r>
              <a:rPr lang="en-US" dirty="0"/>
              <a:t>Average metric value?</a:t>
            </a:r>
            <a:br>
              <a:rPr lang="en-US" dirty="0"/>
            </a:br>
            <a:endParaRPr lang="en-US" dirty="0"/>
          </a:p>
          <a:p>
            <a:r>
              <a:rPr lang="en-US" dirty="0"/>
              <a:t>Equal weight to all validation examples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Maybe look at variance?</a:t>
            </a:r>
          </a:p>
          <a:p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8686A0C-C497-6D4E-80B3-4E0F27B35374}"/>
              </a:ext>
            </a:extLst>
          </p:cNvPr>
          <p:cNvSpPr txBox="1">
            <a:spLocks/>
          </p:cNvSpPr>
          <p:nvPr/>
        </p:nvSpPr>
        <p:spPr>
          <a:xfrm>
            <a:off x="6260759" y="1450134"/>
            <a:ext cx="5515643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indent="0">
              <a:buFont typeface="Arial"/>
              <a:buNone/>
            </a:pPr>
            <a:r>
              <a:rPr lang="en-US" sz="3200" b="1" dirty="0">
                <a:solidFill>
                  <a:srgbClr val="A62A21"/>
                </a:solidFill>
              </a:rPr>
              <a:t>Temporal</a:t>
            </a:r>
            <a:br>
              <a:rPr lang="en-US" dirty="0"/>
            </a:br>
            <a:endParaRPr lang="en-US" dirty="0"/>
          </a:p>
          <a:p>
            <a:r>
              <a:rPr lang="en-US" dirty="0"/>
              <a:t>Average metric value?</a:t>
            </a:r>
            <a:br>
              <a:rPr lang="en-US" dirty="0"/>
            </a:br>
            <a:endParaRPr lang="en-US" dirty="0"/>
          </a:p>
          <a:p>
            <a:r>
              <a:rPr lang="en-US" dirty="0"/>
              <a:t>Robustness to distribution shifts?</a:t>
            </a:r>
            <a:br>
              <a:rPr lang="en-US" dirty="0"/>
            </a:br>
            <a:endParaRPr lang="en-US" dirty="0"/>
          </a:p>
          <a:p>
            <a:r>
              <a:rPr lang="en-US" dirty="0"/>
              <a:t>Care about recency more? How much more?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May not weigh every validation example equally</a:t>
            </a:r>
          </a:p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398BD9-3FCB-6244-9B60-4A8045D867B8}"/>
              </a:ext>
            </a:extLst>
          </p:cNvPr>
          <p:cNvCxnSpPr/>
          <p:nvPr/>
        </p:nvCxnSpPr>
        <p:spPr>
          <a:xfrm>
            <a:off x="5696465" y="1536633"/>
            <a:ext cx="0" cy="4802383"/>
          </a:xfrm>
          <a:prstGeom prst="line">
            <a:avLst/>
          </a:prstGeom>
          <a:ln w="19050">
            <a:solidFill>
              <a:srgbClr val="811E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154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the results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approaches work best?</a:t>
            </a:r>
          </a:p>
          <a:p>
            <a:pPr lvl="1"/>
            <a:r>
              <a:rPr lang="en-US" dirty="0"/>
              <a:t>Which classifiers?</a:t>
            </a:r>
          </a:p>
          <a:p>
            <a:pPr lvl="1"/>
            <a:r>
              <a:rPr lang="en-US" dirty="0"/>
              <a:t>Which parameters?</a:t>
            </a:r>
          </a:p>
          <a:p>
            <a:pPr lvl="1"/>
            <a:r>
              <a:rPr lang="en-US" dirty="0"/>
              <a:t>Over which metrics?</a:t>
            </a:r>
          </a:p>
          <a:p>
            <a:r>
              <a:rPr lang="en-US" dirty="0"/>
              <a:t>Value of different features/feature sets?</a:t>
            </a:r>
          </a:p>
          <a:p>
            <a:r>
              <a:rPr lang="en-US" dirty="0"/>
              <a:t>Variance in performance over time?</a:t>
            </a:r>
          </a:p>
          <a:p>
            <a:pPr lvl="1"/>
            <a:r>
              <a:rPr lang="en-US" dirty="0"/>
              <a:t>Highest average?</a:t>
            </a:r>
          </a:p>
          <a:p>
            <a:pPr lvl="1"/>
            <a:r>
              <a:rPr lang="en-US" dirty="0"/>
              <a:t>Lowest variance?</a:t>
            </a:r>
          </a:p>
          <a:p>
            <a:pPr lvl="1"/>
            <a:r>
              <a:rPr lang="en-US" dirty="0"/>
              <a:t>Getting better over time?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125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2" name="Google Shape;432;p3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4533" y="1165266"/>
            <a:ext cx="7991856" cy="51206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5447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8" name="Google Shape;438;p4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151" y="1173417"/>
            <a:ext cx="7991700" cy="51207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3446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4" name="Google Shape;444;p4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685" y="1174400"/>
            <a:ext cx="7988633" cy="5118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9143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0" name="Google Shape;45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9551" y="1286967"/>
            <a:ext cx="9232900" cy="4813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4202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43"/>
          <p:cNvSpPr txBox="1">
            <a:spLocks noGrp="1"/>
          </p:cNvSpPr>
          <p:nvPr>
            <p:ph type="body" idx="1"/>
          </p:nvPr>
        </p:nvSpPr>
        <p:spPr>
          <a:xfrm>
            <a:off x="415600" y="1536632"/>
            <a:ext cx="11360700" cy="47879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indent="-474121">
              <a:buSzPts val="2000"/>
            </a:pPr>
            <a:r>
              <a:rPr lang="en" sz="2667" dirty="0"/>
              <a:t>How can you narrow hundreds or thousands of model specifications down to a handful of the best-performing ones?</a:t>
            </a:r>
            <a:br>
              <a:rPr lang="en" sz="2667" dirty="0"/>
            </a:br>
            <a:endParaRPr sz="2667" dirty="0"/>
          </a:p>
          <a:p>
            <a:pPr indent="-474121">
              <a:spcBef>
                <a:spcPts val="0"/>
              </a:spcBef>
              <a:buSzPts val="2000"/>
            </a:pPr>
            <a:r>
              <a:rPr lang="en" sz="2667" dirty="0"/>
              <a:t>How do you balance performance and stability?</a:t>
            </a:r>
            <a:endParaRPr sz="2667" dirty="0"/>
          </a:p>
          <a:p>
            <a:pPr lvl="1" indent="-474121">
              <a:spcBef>
                <a:spcPts val="0"/>
              </a:spcBef>
              <a:buSzPts val="2000"/>
            </a:pPr>
            <a:r>
              <a:rPr lang="en" sz="2667" dirty="0"/>
              <a:t>mean performance?</a:t>
            </a:r>
            <a:endParaRPr sz="2667" dirty="0"/>
          </a:p>
          <a:p>
            <a:pPr lvl="1" indent="-474121">
              <a:spcBef>
                <a:spcPts val="0"/>
              </a:spcBef>
              <a:buSzPts val="2000"/>
            </a:pPr>
            <a:r>
              <a:rPr lang="en" sz="2667" dirty="0"/>
              <a:t>balancing mean and variance?</a:t>
            </a:r>
            <a:endParaRPr sz="2667" dirty="0"/>
          </a:p>
          <a:p>
            <a:pPr lvl="1" indent="-474121">
              <a:spcBef>
                <a:spcPts val="0"/>
              </a:spcBef>
              <a:buSzPts val="2000"/>
            </a:pPr>
            <a:r>
              <a:rPr lang="en" sz="2667" dirty="0"/>
              <a:t>recency-weighted mean?</a:t>
            </a:r>
            <a:br>
              <a:rPr lang="en" sz="2667" dirty="0"/>
            </a:br>
            <a:endParaRPr sz="2667" dirty="0"/>
          </a:p>
          <a:p>
            <a:pPr indent="-474121">
              <a:spcBef>
                <a:spcPts val="0"/>
              </a:spcBef>
              <a:buSzPts val="2000"/>
            </a:pPr>
            <a:r>
              <a:rPr lang="en" sz="2667" dirty="0"/>
              <a:t>W</a:t>
            </a:r>
            <a:r>
              <a:rPr lang="en-US" sz="2667" dirty="0"/>
              <a:t>h</a:t>
            </a:r>
            <a:r>
              <a:rPr lang="en" sz="2667" dirty="0"/>
              <a:t>at is the “regret” in subsequent time periods from using different strategies for choosing a model to deploy?</a:t>
            </a:r>
            <a:endParaRPr sz="2667" dirty="0"/>
          </a:p>
        </p:txBody>
      </p:sp>
    </p:spTree>
    <p:extLst>
      <p:ext uri="{BB962C8B-B14F-4D97-AF65-F5344CB8AC3E}">
        <p14:creationId xmlns:p14="http://schemas.microsoft.com/office/powerpoint/2010/main" val="1094637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43"/>
          <p:cNvSpPr txBox="1">
            <a:spLocks noGrp="1"/>
          </p:cNvSpPr>
          <p:nvPr>
            <p:ph type="body" idx="1"/>
          </p:nvPr>
        </p:nvSpPr>
        <p:spPr>
          <a:xfrm>
            <a:off x="415600" y="1536632"/>
            <a:ext cx="11360700" cy="47879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indent="0">
              <a:buSzPts val="2000"/>
              <a:buNone/>
            </a:pPr>
            <a:r>
              <a:rPr lang="en-US" sz="2667" dirty="0"/>
              <a:t>Comparing Model Selection Strategies:</a:t>
            </a:r>
            <a:br>
              <a:rPr lang="en-US" sz="2667" dirty="0"/>
            </a:br>
            <a:endParaRPr lang="en-US" sz="2667" dirty="0"/>
          </a:p>
          <a:p>
            <a:pPr indent="-474121">
              <a:spcBef>
                <a:spcPts val="0"/>
              </a:spcBef>
              <a:buSzPts val="2000"/>
            </a:pPr>
            <a:r>
              <a:rPr lang="en-US" sz="2667" dirty="0"/>
              <a:t>Use validation set performances up to a given point in time to do model selection using each strategy</a:t>
            </a:r>
            <a:br>
              <a:rPr lang="en-US" sz="2667" dirty="0"/>
            </a:br>
            <a:endParaRPr lang="en-US" sz="2667" dirty="0"/>
          </a:p>
          <a:p>
            <a:pPr indent="-474121">
              <a:spcBef>
                <a:spcPts val="0"/>
              </a:spcBef>
              <a:buSzPts val="2000"/>
            </a:pPr>
            <a:r>
              <a:rPr lang="en-US" sz="2667" dirty="0"/>
              <a:t>On the </a:t>
            </a:r>
            <a:r>
              <a:rPr lang="en-US" sz="2667" u="sng" dirty="0"/>
              <a:t>subsequent</a:t>
            </a:r>
            <a:r>
              <a:rPr lang="en-US" sz="2667" dirty="0"/>
              <a:t> validation set, calculate a </a:t>
            </a:r>
            <a:r>
              <a:rPr lang="en-US" sz="2667" b="1" dirty="0"/>
              <a:t>regret</a:t>
            </a:r>
            <a:r>
              <a:rPr lang="en-US" sz="2667" dirty="0"/>
              <a:t> for the model selection strategy as the difference between the performance of the model specification that strategy chooses and the best-performing model specification on this new validation set</a:t>
            </a:r>
          </a:p>
        </p:txBody>
      </p:sp>
    </p:spTree>
    <p:extLst>
      <p:ext uri="{BB962C8B-B14F-4D97-AF65-F5344CB8AC3E}">
        <p14:creationId xmlns:p14="http://schemas.microsoft.com/office/powerpoint/2010/main" val="663844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11DCC1-76FE-0746-AECD-83C567F95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38" y="1283566"/>
            <a:ext cx="8440738" cy="521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5E13C5B-4076-A546-93FB-6A313B694311}"/>
              </a:ext>
            </a:extLst>
          </p:cNvPr>
          <p:cNvSpPr/>
          <p:nvPr/>
        </p:nvSpPr>
        <p:spPr>
          <a:xfrm>
            <a:off x="1943100" y="1955800"/>
            <a:ext cx="4470400" cy="33909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D8B109-2DE9-0F45-BFF3-8252002E63D6}"/>
              </a:ext>
            </a:extLst>
          </p:cNvPr>
          <p:cNvSpPr txBox="1"/>
          <p:nvPr/>
        </p:nvSpPr>
        <p:spPr>
          <a:xfrm>
            <a:off x="8721176" y="1586468"/>
            <a:ext cx="33692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Apply model selection strategies to validation set performance through 2016</a:t>
            </a:r>
          </a:p>
        </p:txBody>
      </p:sp>
    </p:spTree>
    <p:extLst>
      <p:ext uri="{BB962C8B-B14F-4D97-AF65-F5344CB8AC3E}">
        <p14:creationId xmlns:p14="http://schemas.microsoft.com/office/powerpoint/2010/main" val="18817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11DCC1-76FE-0746-AECD-83C567F95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38" y="1283566"/>
            <a:ext cx="8440738" cy="521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5E13C5B-4076-A546-93FB-6A313B694311}"/>
              </a:ext>
            </a:extLst>
          </p:cNvPr>
          <p:cNvSpPr/>
          <p:nvPr/>
        </p:nvSpPr>
        <p:spPr>
          <a:xfrm>
            <a:off x="7086600" y="1955800"/>
            <a:ext cx="825500" cy="33909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D8B109-2DE9-0F45-BFF3-8252002E63D6}"/>
              </a:ext>
            </a:extLst>
          </p:cNvPr>
          <p:cNvSpPr txBox="1"/>
          <p:nvPr/>
        </p:nvSpPr>
        <p:spPr>
          <a:xfrm>
            <a:off x="8721176" y="1586468"/>
            <a:ext cx="33692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Apply model selection strategies to test set performance through 2016</a:t>
            </a:r>
          </a:p>
          <a:p>
            <a:endParaRPr lang="en-US" sz="2400" dirty="0">
              <a:solidFill>
                <a:srgbClr val="00B050"/>
              </a:solidFill>
            </a:endParaRPr>
          </a:p>
          <a:p>
            <a:r>
              <a:rPr lang="en-US" sz="2400" dirty="0">
                <a:solidFill>
                  <a:srgbClr val="00B050"/>
                </a:solidFill>
              </a:rPr>
              <a:t>Calculate regret based on 2017 validation set performance</a:t>
            </a:r>
          </a:p>
        </p:txBody>
      </p:sp>
    </p:spTree>
    <p:extLst>
      <p:ext uri="{BB962C8B-B14F-4D97-AF65-F5344CB8AC3E}">
        <p14:creationId xmlns:p14="http://schemas.microsoft.com/office/powerpoint/2010/main" val="13355834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11DCC1-76FE-0746-AECD-83C567F95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38" y="1283566"/>
            <a:ext cx="8440738" cy="521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060918F-396C-0F45-B047-998F3F0ABAAB}"/>
              </a:ext>
            </a:extLst>
          </p:cNvPr>
          <p:cNvSpPr/>
          <p:nvPr/>
        </p:nvSpPr>
        <p:spPr>
          <a:xfrm>
            <a:off x="5969000" y="1816100"/>
            <a:ext cx="2628900" cy="34554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13C5B-4076-A546-93FB-6A313B694311}"/>
              </a:ext>
            </a:extLst>
          </p:cNvPr>
          <p:cNvSpPr/>
          <p:nvPr/>
        </p:nvSpPr>
        <p:spPr>
          <a:xfrm>
            <a:off x="1943100" y="1955800"/>
            <a:ext cx="4470400" cy="33909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D8B109-2DE9-0F45-BFF3-8252002E63D6}"/>
              </a:ext>
            </a:extLst>
          </p:cNvPr>
          <p:cNvSpPr txBox="1"/>
          <p:nvPr/>
        </p:nvSpPr>
        <p:spPr>
          <a:xfrm>
            <a:off x="8721176" y="1586468"/>
            <a:ext cx="33692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Best Recent Perf:</a:t>
            </a:r>
          </a:p>
          <a:p>
            <a:r>
              <a:rPr lang="en-US" sz="2400" dirty="0">
                <a:solidFill>
                  <a:srgbClr val="6D9EEB"/>
                </a:solidFill>
              </a:rPr>
              <a:t>Model 2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Best Average Perf:</a:t>
            </a:r>
          </a:p>
          <a:p>
            <a:r>
              <a:rPr lang="en-US" sz="2400" dirty="0">
                <a:solidFill>
                  <a:srgbClr val="0B5394"/>
                </a:solidFill>
              </a:rPr>
              <a:t>Model 1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Lowest Variance: </a:t>
            </a:r>
            <a:r>
              <a:rPr lang="en-US" sz="2400" dirty="0">
                <a:solidFill>
                  <a:srgbClr val="FFC000"/>
                </a:solidFill>
              </a:rPr>
              <a:t>Model 3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0EBA51-A78D-9C42-9992-4A9982F27738}"/>
              </a:ext>
            </a:extLst>
          </p:cNvPr>
          <p:cNvCxnSpPr/>
          <p:nvPr/>
        </p:nvCxnSpPr>
        <p:spPr>
          <a:xfrm flipH="1">
            <a:off x="6096000" y="1816100"/>
            <a:ext cx="2625176" cy="69850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9A722A-A9EB-F549-A786-A9EFEB09BCCF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2870200"/>
            <a:ext cx="2625176" cy="38100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9F1F34-E1B5-7543-AD6D-6B5746DE6E80}"/>
              </a:ext>
            </a:extLst>
          </p:cNvPr>
          <p:cNvCxnSpPr>
            <a:cxnSpLocks/>
          </p:cNvCxnSpPr>
          <p:nvPr/>
        </p:nvCxnSpPr>
        <p:spPr>
          <a:xfrm flipH="1" flipV="1">
            <a:off x="6095950" y="4100945"/>
            <a:ext cx="2625226" cy="94095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686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11DCC1-76FE-0746-AECD-83C567F95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38" y="1283566"/>
            <a:ext cx="8440738" cy="521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D8B109-2DE9-0F45-BFF3-8252002E63D6}"/>
              </a:ext>
            </a:extLst>
          </p:cNvPr>
          <p:cNvSpPr txBox="1"/>
          <p:nvPr/>
        </p:nvSpPr>
        <p:spPr>
          <a:xfrm>
            <a:off x="8721176" y="1586468"/>
            <a:ext cx="3369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Best Model in 2017:</a:t>
            </a:r>
          </a:p>
          <a:p>
            <a:r>
              <a:rPr lang="en-US" sz="2400" dirty="0">
                <a:solidFill>
                  <a:srgbClr val="0B5394"/>
                </a:solidFill>
              </a:rPr>
              <a:t>Model 1</a:t>
            </a:r>
          </a:p>
          <a:p>
            <a:r>
              <a:rPr lang="en-US" sz="2400" dirty="0">
                <a:solidFill>
                  <a:srgbClr val="0B5394"/>
                </a:solidFill>
              </a:rPr>
              <a:t>Perf = 0.73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57C506-2237-C941-9C0B-5037C4549666}"/>
              </a:ext>
            </a:extLst>
          </p:cNvPr>
          <p:cNvSpPr/>
          <p:nvPr/>
        </p:nvSpPr>
        <p:spPr>
          <a:xfrm>
            <a:off x="7086600" y="1955800"/>
            <a:ext cx="825500" cy="33909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64ADC7-D8E3-314F-A84D-CEE5DA157A0D}"/>
              </a:ext>
            </a:extLst>
          </p:cNvPr>
          <p:cNvCxnSpPr>
            <a:cxnSpLocks/>
          </p:cNvCxnSpPr>
          <p:nvPr/>
        </p:nvCxnSpPr>
        <p:spPr>
          <a:xfrm flipH="1">
            <a:off x="7658100" y="1816100"/>
            <a:ext cx="1063076" cy="97790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7806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11DCC1-76FE-0746-AECD-83C567F95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38" y="1283566"/>
            <a:ext cx="8440738" cy="521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D8B109-2DE9-0F45-BFF3-8252002E63D6}"/>
              </a:ext>
            </a:extLst>
          </p:cNvPr>
          <p:cNvSpPr txBox="1"/>
          <p:nvPr/>
        </p:nvSpPr>
        <p:spPr>
          <a:xfrm>
            <a:off x="8721176" y="1586468"/>
            <a:ext cx="33692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Best Recent Perf:</a:t>
            </a:r>
          </a:p>
          <a:p>
            <a:r>
              <a:rPr lang="en-US" sz="2400" dirty="0">
                <a:solidFill>
                  <a:srgbClr val="6D9EEB"/>
                </a:solidFill>
              </a:rPr>
              <a:t>Model 2</a:t>
            </a:r>
          </a:p>
          <a:p>
            <a:endParaRPr lang="en-US" sz="2400" dirty="0">
              <a:solidFill>
                <a:srgbClr val="6D9EEB"/>
              </a:solidFill>
            </a:endParaRPr>
          </a:p>
          <a:p>
            <a:r>
              <a:rPr lang="en-US" sz="2400" dirty="0">
                <a:solidFill>
                  <a:srgbClr val="00B050"/>
                </a:solidFill>
              </a:rPr>
              <a:t>Regret:</a:t>
            </a:r>
          </a:p>
          <a:p>
            <a:r>
              <a:rPr lang="en-US" sz="2400" dirty="0">
                <a:solidFill>
                  <a:srgbClr val="0B5394"/>
                </a:solidFill>
              </a:rPr>
              <a:t>0.73</a:t>
            </a:r>
            <a:r>
              <a:rPr lang="en-US" sz="2400" dirty="0">
                <a:solidFill>
                  <a:srgbClr val="6D9EEB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–</a:t>
            </a:r>
            <a:r>
              <a:rPr lang="en-US" sz="2400" dirty="0">
                <a:solidFill>
                  <a:srgbClr val="6D9EEB"/>
                </a:solidFill>
              </a:rPr>
              <a:t> 0.61 </a:t>
            </a:r>
            <a:r>
              <a:rPr lang="en-US" sz="2400" dirty="0">
                <a:solidFill>
                  <a:schemeClr val="tx1"/>
                </a:solidFill>
              </a:rPr>
              <a:t>=</a:t>
            </a:r>
            <a:r>
              <a:rPr lang="en-US" sz="2400" dirty="0">
                <a:solidFill>
                  <a:srgbClr val="00B050"/>
                </a:solidFill>
              </a:rPr>
              <a:t> 0.12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CA5140-C124-DB45-B663-5A83AA6385DF}"/>
              </a:ext>
            </a:extLst>
          </p:cNvPr>
          <p:cNvSpPr txBox="1"/>
          <p:nvPr/>
        </p:nvSpPr>
        <p:spPr>
          <a:xfrm>
            <a:off x="7632700" y="2674441"/>
            <a:ext cx="38183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600" dirty="0">
                <a:solidFill>
                  <a:srgbClr val="00B050"/>
                </a:solidFill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111725-FAC3-1F4C-A4CE-22C08C44D442}"/>
              </a:ext>
            </a:extLst>
          </p:cNvPr>
          <p:cNvCxnSpPr>
            <a:cxnSpLocks/>
          </p:cNvCxnSpPr>
          <p:nvPr/>
        </p:nvCxnSpPr>
        <p:spPr>
          <a:xfrm flipH="1">
            <a:off x="7963736" y="2895600"/>
            <a:ext cx="757440" cy="229751"/>
          </a:xfrm>
          <a:prstGeom prst="straightConnector1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7410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11DCC1-76FE-0746-AECD-83C567F95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38" y="1283566"/>
            <a:ext cx="8440738" cy="521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D8B109-2DE9-0F45-BFF3-8252002E63D6}"/>
              </a:ext>
            </a:extLst>
          </p:cNvPr>
          <p:cNvSpPr txBox="1"/>
          <p:nvPr/>
        </p:nvSpPr>
        <p:spPr>
          <a:xfrm>
            <a:off x="8721176" y="1586468"/>
            <a:ext cx="33692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Best Average Perf:</a:t>
            </a:r>
          </a:p>
          <a:p>
            <a:r>
              <a:rPr lang="en-US" sz="2400" dirty="0">
                <a:solidFill>
                  <a:srgbClr val="0B5394"/>
                </a:solidFill>
              </a:rPr>
              <a:t>Model 1</a:t>
            </a:r>
          </a:p>
          <a:p>
            <a:endParaRPr lang="en-US" sz="2400" dirty="0">
              <a:solidFill>
                <a:srgbClr val="6D9EEB"/>
              </a:solidFill>
            </a:endParaRPr>
          </a:p>
          <a:p>
            <a:r>
              <a:rPr lang="en-US" sz="2400" dirty="0">
                <a:solidFill>
                  <a:srgbClr val="00B050"/>
                </a:solidFill>
              </a:rPr>
              <a:t>Regret:</a:t>
            </a:r>
          </a:p>
          <a:p>
            <a:r>
              <a:rPr lang="en-US" sz="2400" dirty="0">
                <a:solidFill>
                  <a:srgbClr val="0B5394"/>
                </a:solidFill>
              </a:rPr>
              <a:t>0.73</a:t>
            </a:r>
            <a:r>
              <a:rPr lang="en-US" sz="2400" dirty="0">
                <a:solidFill>
                  <a:srgbClr val="6D9EEB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–</a:t>
            </a:r>
            <a:r>
              <a:rPr lang="en-US" sz="2400" dirty="0">
                <a:solidFill>
                  <a:srgbClr val="6D9EEB"/>
                </a:solidFill>
              </a:rPr>
              <a:t> </a:t>
            </a:r>
            <a:r>
              <a:rPr lang="en-US" sz="2400" dirty="0">
                <a:solidFill>
                  <a:srgbClr val="0B5394"/>
                </a:solidFill>
              </a:rPr>
              <a:t>0.73</a:t>
            </a:r>
            <a:r>
              <a:rPr lang="en-US" sz="2400" dirty="0">
                <a:solidFill>
                  <a:srgbClr val="6D9EEB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=</a:t>
            </a:r>
            <a:r>
              <a:rPr lang="en-US" sz="2400" dirty="0">
                <a:solidFill>
                  <a:srgbClr val="00B050"/>
                </a:solidFill>
              </a:rPr>
              <a:t> 0.00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CA5140-C124-DB45-B663-5A83AA6385DF}"/>
              </a:ext>
            </a:extLst>
          </p:cNvPr>
          <p:cNvSpPr txBox="1"/>
          <p:nvPr/>
        </p:nvSpPr>
        <p:spPr>
          <a:xfrm>
            <a:off x="7594600" y="2710597"/>
            <a:ext cx="264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111725-FAC3-1F4C-A4CE-22C08C44D442}"/>
              </a:ext>
            </a:extLst>
          </p:cNvPr>
          <p:cNvCxnSpPr>
            <a:cxnSpLocks/>
            <a:endCxn id="2" idx="3"/>
          </p:cNvCxnSpPr>
          <p:nvPr/>
        </p:nvCxnSpPr>
        <p:spPr>
          <a:xfrm flipH="1" flipV="1">
            <a:off x="7859416" y="2879874"/>
            <a:ext cx="861760" cy="15726"/>
          </a:xfrm>
          <a:prstGeom prst="straightConnector1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1223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11DCC1-76FE-0746-AECD-83C567F95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38" y="1283566"/>
            <a:ext cx="8440738" cy="521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D8B109-2DE9-0F45-BFF3-8252002E63D6}"/>
              </a:ext>
            </a:extLst>
          </p:cNvPr>
          <p:cNvSpPr txBox="1"/>
          <p:nvPr/>
        </p:nvSpPr>
        <p:spPr>
          <a:xfrm>
            <a:off x="8721176" y="1586468"/>
            <a:ext cx="33692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Lowest Variance: </a:t>
            </a:r>
            <a:r>
              <a:rPr lang="en-US" sz="2400" dirty="0">
                <a:solidFill>
                  <a:srgbClr val="FFC000"/>
                </a:solidFill>
              </a:rPr>
              <a:t>Model 3</a:t>
            </a:r>
          </a:p>
          <a:p>
            <a:endParaRPr lang="en-US" sz="2400" dirty="0">
              <a:solidFill>
                <a:srgbClr val="6D9EEB"/>
              </a:solidFill>
            </a:endParaRPr>
          </a:p>
          <a:p>
            <a:r>
              <a:rPr lang="en-US" sz="2400" dirty="0">
                <a:solidFill>
                  <a:srgbClr val="00B050"/>
                </a:solidFill>
              </a:rPr>
              <a:t>Regret:</a:t>
            </a:r>
          </a:p>
          <a:p>
            <a:r>
              <a:rPr lang="en-US" sz="2400" dirty="0">
                <a:solidFill>
                  <a:srgbClr val="0B5394"/>
                </a:solidFill>
              </a:rPr>
              <a:t>0.73</a:t>
            </a:r>
            <a:r>
              <a:rPr lang="en-US" sz="2400" dirty="0">
                <a:solidFill>
                  <a:srgbClr val="6D9EEB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–</a:t>
            </a:r>
            <a:r>
              <a:rPr lang="en-US" sz="2400" dirty="0">
                <a:solidFill>
                  <a:srgbClr val="6D9EEB"/>
                </a:solidFill>
              </a:rPr>
              <a:t> </a:t>
            </a:r>
            <a:r>
              <a:rPr lang="en-US" sz="2400" dirty="0">
                <a:solidFill>
                  <a:srgbClr val="FFC000"/>
                </a:solidFill>
              </a:rPr>
              <a:t>0.41</a:t>
            </a:r>
            <a:r>
              <a:rPr lang="en-US" sz="2400" dirty="0">
                <a:solidFill>
                  <a:srgbClr val="6D9EEB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=</a:t>
            </a:r>
            <a:r>
              <a:rPr lang="en-US" sz="2400" dirty="0">
                <a:solidFill>
                  <a:srgbClr val="00B050"/>
                </a:solidFill>
              </a:rPr>
              <a:t> 0.32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CA5140-C124-DB45-B663-5A83AA6385DF}"/>
              </a:ext>
            </a:extLst>
          </p:cNvPr>
          <p:cNvSpPr txBox="1"/>
          <p:nvPr/>
        </p:nvSpPr>
        <p:spPr>
          <a:xfrm>
            <a:off x="7594600" y="2503605"/>
            <a:ext cx="61266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dirty="0">
                <a:solidFill>
                  <a:srgbClr val="00B050"/>
                </a:solidFill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111725-FAC3-1F4C-A4CE-22C08C44D442}"/>
              </a:ext>
            </a:extLst>
          </p:cNvPr>
          <p:cNvCxnSpPr>
            <a:cxnSpLocks/>
          </p:cNvCxnSpPr>
          <p:nvPr/>
        </p:nvCxnSpPr>
        <p:spPr>
          <a:xfrm flipH="1">
            <a:off x="8143768" y="2946400"/>
            <a:ext cx="577408" cy="482600"/>
          </a:xfrm>
          <a:prstGeom prst="straightConnector1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3722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1BE125-A119-1A42-BFF2-698DC63BC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061718"/>
              </p:ext>
            </p:extLst>
          </p:nvPr>
        </p:nvGraphicFramePr>
        <p:xfrm>
          <a:off x="1600150" y="2331720"/>
          <a:ext cx="8991600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19476">
                  <a:extLst>
                    <a:ext uri="{9D8B030D-6E8A-4147-A177-3AD203B41FA5}">
                      <a16:colId xmlns:a16="http://schemas.microsoft.com/office/drawing/2014/main" val="2010259226"/>
                    </a:ext>
                  </a:extLst>
                </a:gridCol>
                <a:gridCol w="2974924">
                  <a:extLst>
                    <a:ext uri="{9D8B030D-6E8A-4147-A177-3AD203B41FA5}">
                      <a16:colId xmlns:a16="http://schemas.microsoft.com/office/drawing/2014/main" val="2648150637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3203189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Strategy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Best Model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Through 2016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Regret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in 2017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743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Best Recent Perf.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6D9EEB"/>
                          </a:solidFill>
                        </a:rPr>
                        <a:t>Model 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5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Best Average Perf.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B5394"/>
                          </a:solidFill>
                        </a:rPr>
                        <a:t>Model 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802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Lowest Variance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C000"/>
                          </a:solidFill>
                        </a:rPr>
                        <a:t>Model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0.32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181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8322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1BE125-A119-1A42-BFF2-698DC63BC3E2}"/>
              </a:ext>
            </a:extLst>
          </p:cNvPr>
          <p:cNvGraphicFramePr>
            <a:graphicFrameLocks noGrp="1"/>
          </p:cNvGraphicFramePr>
          <p:nvPr/>
        </p:nvGraphicFramePr>
        <p:xfrm>
          <a:off x="1600150" y="2331720"/>
          <a:ext cx="8991600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19476">
                  <a:extLst>
                    <a:ext uri="{9D8B030D-6E8A-4147-A177-3AD203B41FA5}">
                      <a16:colId xmlns:a16="http://schemas.microsoft.com/office/drawing/2014/main" val="2010259226"/>
                    </a:ext>
                  </a:extLst>
                </a:gridCol>
                <a:gridCol w="2974924">
                  <a:extLst>
                    <a:ext uri="{9D8B030D-6E8A-4147-A177-3AD203B41FA5}">
                      <a16:colId xmlns:a16="http://schemas.microsoft.com/office/drawing/2014/main" val="2648150637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3203189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Strategy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Best Model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Through 2016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Regret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in 2017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743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Best Recent Perf.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6D9EEB"/>
                          </a:solidFill>
                        </a:rPr>
                        <a:t>Model 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5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Best Average Perf.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B5394"/>
                          </a:solidFill>
                        </a:rPr>
                        <a:t>Model 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802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Lowest Variance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C000"/>
                          </a:solidFill>
                        </a:rPr>
                        <a:t>Model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0.32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18187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168EF40-2DAE-8E43-ADA7-4AEF8BC68293}"/>
              </a:ext>
            </a:extLst>
          </p:cNvPr>
          <p:cNvSpPr/>
          <p:nvPr/>
        </p:nvSpPr>
        <p:spPr>
          <a:xfrm>
            <a:off x="1498600" y="3594100"/>
            <a:ext cx="8547100" cy="4699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7391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sz="4400" dirty="0"/>
              <a:t>Questions about model selection strategies?</a:t>
            </a:r>
          </a:p>
        </p:txBody>
      </p:sp>
    </p:spTree>
    <p:extLst>
      <p:ext uri="{BB962C8B-B14F-4D97-AF65-F5344CB8AC3E}">
        <p14:creationId xmlns:p14="http://schemas.microsoft.com/office/powerpoint/2010/main" val="13606681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1BE125-A119-1A42-BFF2-698DC63BC3E2}"/>
              </a:ext>
            </a:extLst>
          </p:cNvPr>
          <p:cNvGraphicFramePr>
            <a:graphicFrameLocks noGrp="1"/>
          </p:cNvGraphicFramePr>
          <p:nvPr/>
        </p:nvGraphicFramePr>
        <p:xfrm>
          <a:off x="1600150" y="2331720"/>
          <a:ext cx="8991600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19476">
                  <a:extLst>
                    <a:ext uri="{9D8B030D-6E8A-4147-A177-3AD203B41FA5}">
                      <a16:colId xmlns:a16="http://schemas.microsoft.com/office/drawing/2014/main" val="2010259226"/>
                    </a:ext>
                  </a:extLst>
                </a:gridCol>
                <a:gridCol w="2974924">
                  <a:extLst>
                    <a:ext uri="{9D8B030D-6E8A-4147-A177-3AD203B41FA5}">
                      <a16:colId xmlns:a16="http://schemas.microsoft.com/office/drawing/2014/main" val="2648150637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3203189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Strategy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Best Model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Through 2016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Regret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in 2017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743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Best Recent Perf.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6D9EEB"/>
                          </a:solidFill>
                        </a:rPr>
                        <a:t>Model 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5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Best Average Perf.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B5394"/>
                          </a:solidFill>
                        </a:rPr>
                        <a:t>Model 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802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Lowest Variance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C000"/>
                          </a:solidFill>
                        </a:rPr>
                        <a:t>Model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0.32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18187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168EF40-2DAE-8E43-ADA7-4AEF8BC68293}"/>
              </a:ext>
            </a:extLst>
          </p:cNvPr>
          <p:cNvSpPr/>
          <p:nvPr/>
        </p:nvSpPr>
        <p:spPr>
          <a:xfrm>
            <a:off x="1498600" y="3594100"/>
            <a:ext cx="8547100" cy="4699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8430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1BE125-A119-1A42-BFF2-698DC63BC3E2}"/>
              </a:ext>
            </a:extLst>
          </p:cNvPr>
          <p:cNvGraphicFramePr>
            <a:graphicFrameLocks noGrp="1"/>
          </p:cNvGraphicFramePr>
          <p:nvPr/>
        </p:nvGraphicFramePr>
        <p:xfrm>
          <a:off x="1600150" y="2331720"/>
          <a:ext cx="8991600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19476">
                  <a:extLst>
                    <a:ext uri="{9D8B030D-6E8A-4147-A177-3AD203B41FA5}">
                      <a16:colId xmlns:a16="http://schemas.microsoft.com/office/drawing/2014/main" val="2010259226"/>
                    </a:ext>
                  </a:extLst>
                </a:gridCol>
                <a:gridCol w="2974924">
                  <a:extLst>
                    <a:ext uri="{9D8B030D-6E8A-4147-A177-3AD203B41FA5}">
                      <a16:colId xmlns:a16="http://schemas.microsoft.com/office/drawing/2014/main" val="2648150637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3203189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Strategy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Best Model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Through 2016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Regret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in 2017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743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Best Recent Perf.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6D9EEB"/>
                          </a:solidFill>
                        </a:rPr>
                        <a:t>Model 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51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Best Average Perf.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B5394"/>
                          </a:solidFill>
                        </a:rPr>
                        <a:t>Model 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802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Lowest Variance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C000"/>
                          </a:solidFill>
                        </a:rPr>
                        <a:t>Model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0.32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18187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168EF40-2DAE-8E43-ADA7-4AEF8BC68293}"/>
              </a:ext>
            </a:extLst>
          </p:cNvPr>
          <p:cNvSpPr/>
          <p:nvPr/>
        </p:nvSpPr>
        <p:spPr>
          <a:xfrm>
            <a:off x="1498600" y="3594100"/>
            <a:ext cx="8547100" cy="4699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1BA4D0-EA57-AD48-9D91-58CBBD650CEE}"/>
              </a:ext>
            </a:extLst>
          </p:cNvPr>
          <p:cNvSpPr txBox="1"/>
          <p:nvPr/>
        </p:nvSpPr>
        <p:spPr>
          <a:xfrm>
            <a:off x="3367143" y="5265440"/>
            <a:ext cx="72699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Will “Best Average Performance” always work best?</a:t>
            </a:r>
          </a:p>
          <a:p>
            <a:r>
              <a:rPr lang="en-US" sz="2400" dirty="0">
                <a:solidFill>
                  <a:srgbClr val="FF0000"/>
                </a:solidFill>
              </a:rPr>
              <a:t>How should we evaluate this?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FB8DA8D-7C4F-144E-80E1-CA0F09D703C7}"/>
              </a:ext>
            </a:extLst>
          </p:cNvPr>
          <p:cNvCxnSpPr/>
          <p:nvPr/>
        </p:nvCxnSpPr>
        <p:spPr>
          <a:xfrm flipH="1" flipV="1">
            <a:off x="4303059" y="3861995"/>
            <a:ext cx="720762" cy="140344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005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338CC3-6BEE-A749-BCD5-ABD29A667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500" y="1244600"/>
            <a:ext cx="923290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8904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" dirty="0"/>
              <a:t>Model Selection</a:t>
            </a:r>
            <a:endParaRPr sz="40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F52808-3577-AE47-8BC1-F03230A05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435" y="1579418"/>
            <a:ext cx="4984865" cy="4895850"/>
          </a:xfrm>
          <a:prstGeom prst="rect">
            <a:avLst/>
          </a:prstGeom>
        </p:spPr>
      </p:pic>
      <p:sp>
        <p:nvSpPr>
          <p:cNvPr id="7" name="Google Shape;456;p43">
            <a:extLst>
              <a:ext uri="{FF2B5EF4-FFF2-40B4-BE49-F238E27FC236}">
                <a16:creationId xmlns:a16="http://schemas.microsoft.com/office/drawing/2014/main" id="{B4064D34-B361-0E4D-8737-66CD434AB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260768"/>
            <a:ext cx="6375835" cy="5174672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indent="-474121">
              <a:buSzPts val="2000"/>
            </a:pPr>
            <a:r>
              <a:rPr lang="en" sz="2667" dirty="0"/>
              <a:t>May not be obvious which strategy / model specification is “best”</a:t>
            </a:r>
            <a:br>
              <a:rPr lang="en" sz="2667" dirty="0"/>
            </a:br>
            <a:endParaRPr lang="en" sz="2667" dirty="0"/>
          </a:p>
          <a:p>
            <a:pPr indent="-474121">
              <a:buSzPts val="2000"/>
            </a:pPr>
            <a:r>
              <a:rPr lang="en-US" sz="2667" dirty="0"/>
              <a:t>Among good candidates, may be instructive to ask how similar or different the lists each strategy would produce are</a:t>
            </a:r>
            <a:br>
              <a:rPr lang="en-US" sz="2667" dirty="0"/>
            </a:br>
            <a:endParaRPr lang="en-US" sz="2667" dirty="0"/>
          </a:p>
          <a:p>
            <a:pPr indent="-474121">
              <a:buSzPts val="2000"/>
            </a:pPr>
            <a:r>
              <a:rPr lang="en-US" sz="2667" dirty="0"/>
              <a:t>May ultimately want to deploy (or at least test) a strategy that combines across several specifications</a:t>
            </a:r>
            <a:endParaRPr sz="2667" dirty="0"/>
          </a:p>
        </p:txBody>
      </p:sp>
    </p:spTree>
    <p:extLst>
      <p:ext uri="{BB962C8B-B14F-4D97-AF65-F5344CB8AC3E}">
        <p14:creationId xmlns:p14="http://schemas.microsoft.com/office/powerpoint/2010/main" val="11686412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A2D05C-B033-144A-904B-D55140F7B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 in Triage: Audition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60CBE0-43C0-2C4D-B578-A912A6DE3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167"/>
            <a:ext cx="12192000" cy="16780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4AE225-ED57-624E-9357-C2DAC1E68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767" y="3324530"/>
            <a:ext cx="6189233" cy="3318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8E8688-318D-F441-85F8-1E3740BFA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52381"/>
            <a:ext cx="5821178" cy="316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4917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A2D05C-B033-144A-904B-D55140F7B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 in Triage: Audition</a:t>
            </a:r>
          </a:p>
        </p:txBody>
      </p:sp>
      <p:sp>
        <p:nvSpPr>
          <p:cNvPr id="7" name="Google Shape;456;p43">
            <a:extLst>
              <a:ext uri="{FF2B5EF4-FFF2-40B4-BE49-F238E27FC236}">
                <a16:creationId xmlns:a16="http://schemas.microsoft.com/office/drawing/2014/main" id="{4A247A43-EBAA-5D44-8186-22B440A838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536632"/>
            <a:ext cx="11360700" cy="47879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indent="0">
              <a:buSzPts val="2000"/>
              <a:buNone/>
            </a:pPr>
            <a:endParaRPr lang="en-US" sz="2667" dirty="0">
              <a:solidFill>
                <a:srgbClr val="595959"/>
              </a:solidFill>
            </a:endParaRPr>
          </a:p>
          <a:p>
            <a:pPr marL="0" indent="0">
              <a:buSzPts val="2000"/>
              <a:buNone/>
            </a:pPr>
            <a:r>
              <a:rPr lang="en-US" sz="2667" dirty="0">
                <a:solidFill>
                  <a:srgbClr val="595959"/>
                </a:solidFill>
              </a:rPr>
              <a:t>Audition Notebook</a:t>
            </a:r>
            <a:r>
              <a:rPr lang="en-US" sz="2667" dirty="0"/>
              <a:t>:</a:t>
            </a:r>
          </a:p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sz="2667" dirty="0">
                <a:solidFill>
                  <a:srgbClr val="80000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https://github.com/dssg/triage/blob/master/src/triage/component/audition/Audition_Tutorial.ipynb</a:t>
            </a:r>
            <a:endParaRPr lang="en-US" sz="2667" dirty="0">
              <a:solidFill>
                <a:srgbClr val="800002"/>
              </a:solidFill>
            </a:endParaRPr>
          </a:p>
          <a:p>
            <a:pPr marL="0" indent="0">
              <a:spcBef>
                <a:spcPts val="0"/>
              </a:spcBef>
              <a:buSzPts val="2000"/>
              <a:buNone/>
            </a:pPr>
            <a:endParaRPr lang="en-US" sz="2667" dirty="0">
              <a:solidFill>
                <a:srgbClr val="800002"/>
              </a:solidFill>
            </a:endParaRPr>
          </a:p>
          <a:p>
            <a:pPr marL="0" indent="0">
              <a:spcBef>
                <a:spcPts val="0"/>
              </a:spcBef>
              <a:buSzPts val="2000"/>
              <a:buNone/>
            </a:pPr>
            <a:r>
              <a:rPr lang="en-US" sz="2667" dirty="0">
                <a:solidFill>
                  <a:srgbClr val="595959"/>
                </a:solidFill>
              </a:rPr>
              <a:t>Also see the </a:t>
            </a:r>
            <a:r>
              <a:rPr lang="en-US" sz="2667" dirty="0">
                <a:solidFill>
                  <a:srgbClr val="8A000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 Selection</a:t>
            </a:r>
            <a:r>
              <a:rPr lang="en-US" sz="2667" dirty="0">
                <a:solidFill>
                  <a:srgbClr val="595959"/>
                </a:solidFill>
              </a:rPr>
              <a:t> section of the </a:t>
            </a:r>
            <a:r>
              <a:rPr lang="en-US" sz="2667" dirty="0" err="1">
                <a:solidFill>
                  <a:srgbClr val="595959"/>
                </a:solidFill>
              </a:rPr>
              <a:t>colab</a:t>
            </a:r>
            <a:r>
              <a:rPr lang="en-US" sz="2667" dirty="0">
                <a:solidFill>
                  <a:srgbClr val="595959"/>
                </a:solidFill>
              </a:rPr>
              <a:t> tutorial</a:t>
            </a:r>
          </a:p>
        </p:txBody>
      </p:sp>
    </p:spTree>
    <p:extLst>
      <p:ext uri="{BB962C8B-B14F-4D97-AF65-F5344CB8AC3E}">
        <p14:creationId xmlns:p14="http://schemas.microsoft.com/office/powerpoint/2010/main" val="13686044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/>
              <a:t>Coming up next week:</a:t>
            </a:r>
          </a:p>
          <a:p>
            <a:r>
              <a:rPr lang="en-US" dirty="0"/>
              <a:t>Monday: Update 6 (on Canvas): ML Results over time</a:t>
            </a:r>
          </a:p>
          <a:p>
            <a:r>
              <a:rPr lang="en-US" dirty="0"/>
              <a:t>Tuesday: Feedback Form</a:t>
            </a:r>
          </a:p>
        </p:txBody>
      </p:sp>
    </p:spTree>
    <p:extLst>
      <p:ext uri="{BB962C8B-B14F-4D97-AF65-F5344CB8AC3E}">
        <p14:creationId xmlns:p14="http://schemas.microsoft.com/office/powerpoint/2010/main" val="370171311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11717</TotalTime>
  <Words>991</Words>
  <Application>Microsoft Macintosh PowerPoint</Application>
  <PresentationFormat>Widescreen</PresentationFormat>
  <Paragraphs>279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Roboto</vt:lpstr>
      <vt:lpstr>Simple Light</vt:lpstr>
      <vt:lpstr>PowerPoint Presentation</vt:lpstr>
      <vt:lpstr>Reminders</vt:lpstr>
      <vt:lpstr>Plan for the week</vt:lpstr>
      <vt:lpstr>PowerPoint Presentation</vt:lpstr>
      <vt:lpstr>PowerPoint Presentation</vt:lpstr>
      <vt:lpstr>Why do we need to do model selection?</vt:lpstr>
      <vt:lpstr>PowerPoint Presentation</vt:lpstr>
      <vt:lpstr>Reminder: The PR-k graph</vt:lpstr>
      <vt:lpstr>Reminder: Temporal Validation</vt:lpstr>
      <vt:lpstr>PowerPoint Presentation</vt:lpstr>
      <vt:lpstr>The wonderful for loop</vt:lpstr>
      <vt:lpstr>Results</vt:lpstr>
      <vt:lpstr>Analyzing the results</vt:lpstr>
      <vt:lpstr>Analyzing the results</vt:lpstr>
      <vt:lpstr>Analyzing the results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Model Selection</vt:lpstr>
      <vt:lpstr>PowerPoint Presentation</vt:lpstr>
      <vt:lpstr>Model Selection</vt:lpstr>
      <vt:lpstr>Model Selection</vt:lpstr>
      <vt:lpstr>Model Selection</vt:lpstr>
      <vt:lpstr>Model Selection</vt:lpstr>
      <vt:lpstr>Model Selection in Triage: Audition</vt:lpstr>
      <vt:lpstr>Model Selection in Triage: Audition</vt:lpstr>
      <vt:lpstr>Reminders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89</cp:revision>
  <dcterms:created xsi:type="dcterms:W3CDTF">2020-01-14T19:43:43Z</dcterms:created>
  <dcterms:modified xsi:type="dcterms:W3CDTF">2025-10-31T14:43:14Z</dcterms:modified>
</cp:coreProperties>
</file>